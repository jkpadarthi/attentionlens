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8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690954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AttentionLens is an interactive debugging and explainability framework for vision models — with an automated bias-screening layer. Today I will present M1: the unified schema and the ResNet-50 dual-view extractor, with real extraction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Eight sections — problem, design, dataset, preprocessing, features, EDA, demo, and next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gaps: fragmentation (no shared schema between attention and attribution, CNN and ViT) and discovery (bias found manually). AttentionLens solves both with one abstraction plus automated screening verdicts — the novelty anchor is the combination, not a new XAI method.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core architectural decision: we never conflate the two views. Native maps capture the mechanism; class-conditioned maps capture decision evidence. Both land in the same LayerMap dataclass so downstream metrics and screening treat them identically.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review 1 the dataset section shows a real ImageNet sample flowing through the real pipeline — honest scope. The bias-screening datasets come in the validation milestone: a synthetic planted-bias set (proves the screener catches what we know) plus ObjectNet (proves it catches real-world distribution shift).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 measured numbers: the raw image averages R .388 G .431 B .368; after ImageNet normalization the tensor channels are −.421 / −.110 / −.170 with stds 1.40 / 1.32 / 1.50. The round-trip denormalizer guarantees overlays align with the original pixels.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schema is the contract. Any extractor — CNN or ViT — emits LayerMaps; every downstream consumer (metrics, screening, UI) reads the same shape. M1 ships with ModelInspection as the container.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probe points chosen deliberately: the last conv of each bottleneck block, spanning 256→2048 channels and texture→semantics. Both views derive from identical probe points, so cross-view comparison is apples-to-apples.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 row: Grad-CAM (class-conditioned, evidence). Bottom row: native mean-channel activation (mechanism). Left to right: layer1→4. Note how Grad-CAM concentrates and moves to the dog; native maps stay diffuse until deep layers. This is real extraction data — no cherry-picking.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Native maps are near-uniform (high entropy — a little everywhere); Grad-CAM maps are sharply peaked (low entropy — evidence is localized). The concentration curves make the contrast visible: Grad-CAM reaches ~100% cumulative energy in a small pixel fraction at early layers; native maps spread energy far more evenly.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Pearson r between native and Grad-CAM per block: 0.00, undefined, 0.41, 0.48. The layer-2 zero-map is honest data — a degenerate explanation surfaced by the tool itself, which is exactly the failure mode an explainability debugger should expose. This motivates the intervention experiments in the roadmap.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demo artifacts: all eight maps are real output files from experiments/out/. Prediction Samoyed matches the true label. The pipeline is committed (first commit, M1 complete) and the working tree is clean.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M1 is committed and clean. Next: the ViT extractor (M2) so CNN and ViT become comparable under one schema, then metrics, screening with validation, and an interactive UI. The layer-2 zero-map observation is logged as an open item — a guard for degenerate explanations is planned.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you — happy to take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4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0"/>
            <a:ext cx="3383280" cy="6858000"/>
          </a:xfrm>
          <a:prstGeom prst="rect">
            <a:avLst/>
          </a:prstGeom>
          <a:solidFill>
            <a:srgbClr val="1B1B3A"/>
          </a:solidFill>
          <a:ln/>
        </p:spPr>
      </p:sp>
      <p:sp>
        <p:nvSpPr>
          <p:cNvPr id="3" name="Shape 1"/>
          <p:cNvSpPr/>
          <p:nvPr/>
        </p:nvSpPr>
        <p:spPr>
          <a:xfrm>
            <a:off x="9326880" y="2103120"/>
            <a:ext cx="2286000" cy="2286000"/>
          </a:xfrm>
          <a:prstGeom prst="ellipse">
            <a:avLst/>
          </a:prstGeom>
          <a:solidFill>
            <a:srgbClr val="2E2A72"/>
          </a:solidFill>
          <a:ln w="38100">
            <a:solidFill>
              <a:srgbClr val="7CE0E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195560" y="2971800"/>
            <a:ext cx="548640" cy="548640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2880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AttentionLens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841248" y="301752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7CE0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Explainability &amp; Automated Bias-Screening for Vision Models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41248" y="512064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9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Review 1  ·  B.Tech CSE (AI &amp; ML), VIT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41248" y="557784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Jaswanth Krishna </a:t>
            </a:r>
            <a:r>
              <a:rPr lang="en-US" sz="15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Padarthi</a:t>
            </a: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Kartheek Yadav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90472"/>
            <a:ext cx="1088136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E3E4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155448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783080" y="15544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Motivation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669280" y="155448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vision models need a debugger, not just explanations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2148840"/>
            <a:ext cx="1088136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E3E4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212848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783080" y="221284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&amp; Architecture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669280" y="2212848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dual-view LayerMap schema (CNN ⇄ ViT)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2807208"/>
            <a:ext cx="1088136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E3E4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2871216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783080" y="2871216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669280" y="2871216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ImageNet demo sample — provenance &amp; representation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3465576"/>
            <a:ext cx="1088136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E3E4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3529584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783080" y="3529584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Results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669280" y="3529584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Resize → normalize → tensor, with measured stats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4123944"/>
            <a:ext cx="1088136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E3E4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4187952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783080" y="418795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669280" y="4187952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activations + Grad-CAM, per-block, normalized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40080" y="4782312"/>
            <a:ext cx="1088136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E3E4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8680" y="484632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783080" y="48463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Visualizations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5669280" y="484632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Montage, distributions, concentration, correlations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40080" y="5440680"/>
            <a:ext cx="1088136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E3E4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68680" y="5504688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783080" y="550468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— M1 Gate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5669280" y="5504688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ResNet-50 run on a real image (Samoyed)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40080" y="6099048"/>
            <a:ext cx="1088136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E3E4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68680" y="6163056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783080" y="6163056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Next Steps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5669280" y="6163056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Findings, honest failures, M2 ViT roadmap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&amp; Motivation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0515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Explanations exist — but they don't talk to each other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39496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3E4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8288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E2A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field is fragmented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4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maps (ViT) answer 'what does the model look at' — but they are class-agnostic.</a:t>
            </a:r>
            <a:endParaRPr lang="en-US" sz="1350" dirty="0"/>
          </a:p>
          <a:p>
            <a:pPr marL="342900" indent="-342900">
              <a:lnSpc>
                <a:spcPts val="14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 maps (Grad-CAM) answer 'what drove this decision' — class-specific.</a:t>
            </a:r>
            <a:endParaRPr lang="en-US" sz="1350" dirty="0"/>
          </a:p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1350" dirty="0">
                <a:solidFill>
                  <a:srgbClr val="1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shared schema: comparing two architectures or two views today means writing bespoke glue.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17920" y="1645920"/>
            <a:ext cx="539496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3E4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18288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E2A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Bias goes unnoticed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492240" y="237744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4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Spurious correlations (backgrounds, textures, artifacts) silently inflate accuracy.</a:t>
            </a:r>
            <a:endParaRPr lang="en-US" sz="1350" dirty="0"/>
          </a:p>
          <a:p>
            <a:pPr marL="342900" indent="-342900">
              <a:lnSpc>
                <a:spcPts val="14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them today is manual, ad-hoc, and rarely automated end-to-end.</a:t>
            </a:r>
            <a:endParaRPr lang="en-US" sz="1350" dirty="0"/>
          </a:p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1350" dirty="0">
                <a:solidFill>
                  <a:srgbClr val="1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 need a verdict — not another heatmap to eyeball.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4297680"/>
            <a:ext cx="10972800" cy="1920240"/>
          </a:xfrm>
          <a:prstGeom prst="roundRect">
            <a:avLst>
              <a:gd name="adj" fmla="val 5714"/>
            </a:avLst>
          </a:prstGeom>
          <a:solidFill>
            <a:srgbClr val="E6F7F4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44805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6B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framework, two jobs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14400" y="4983480"/>
            <a:ext cx="10424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F3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A unified CNN ⇄ ViT abstraction — every layer yields a standard LayerMap (native attention + class-conditioned relevance).  ② An automated bias-screening layer — attention-quality metrics and intervention experiments that produce a verdict, in the tradition of SHAP / Captum as a deployable tool.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— the Dual-View LayerMap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0515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layer, two views, one schema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965960" cy="1051560"/>
          </a:xfrm>
          <a:prstGeom prst="roundRect">
            <a:avLst>
              <a:gd name="adj" fmla="val 8696"/>
            </a:avLst>
          </a:prstGeom>
          <a:solidFill>
            <a:srgbClr val="00C9A7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96596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2395728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F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224×224 RGB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633472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090672" y="1828800"/>
            <a:ext cx="1965960" cy="1051560"/>
          </a:xfrm>
          <a:prstGeom prst="roundRect">
            <a:avLst>
              <a:gd name="adj" fmla="val 8696"/>
            </a:avLst>
          </a:prstGeom>
          <a:solidFill>
            <a:srgbClr val="2E2A72"/>
          </a:solidFill>
          <a:ln/>
        </p:spPr>
      </p:sp>
      <p:sp>
        <p:nvSpPr>
          <p:cNvPr id="9" name="Text 7"/>
          <p:cNvSpPr/>
          <p:nvPr/>
        </p:nvSpPr>
        <p:spPr>
          <a:xfrm>
            <a:off x="3090672" y="196596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090672" y="2395728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F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ResNet-50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084064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541264" y="1828800"/>
            <a:ext cx="1965960" cy="1051560"/>
          </a:xfrm>
          <a:prstGeom prst="roundRect">
            <a:avLst>
              <a:gd name="adj" fmla="val 8696"/>
            </a:avLst>
          </a:prstGeom>
          <a:solidFill>
            <a:srgbClr val="D9534F"/>
          </a:solidFill>
          <a:ln/>
        </p:spPr>
      </p:sp>
      <p:sp>
        <p:nvSpPr>
          <p:cNvPr id="13" name="Text 11"/>
          <p:cNvSpPr/>
          <p:nvPr/>
        </p:nvSpPr>
        <p:spPr>
          <a:xfrm>
            <a:off x="5541264" y="196596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LayerMap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541264" y="2395728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F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+ class-cond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534656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7991856" y="1828800"/>
            <a:ext cx="1965960" cy="1051560"/>
          </a:xfrm>
          <a:prstGeom prst="roundRect">
            <a:avLst>
              <a:gd name="adj" fmla="val 8696"/>
            </a:avLst>
          </a:prstGeom>
          <a:solidFill>
            <a:srgbClr val="2E2A72"/>
          </a:solidFill>
          <a:ln/>
        </p:spPr>
      </p:sp>
      <p:sp>
        <p:nvSpPr>
          <p:cNvPr id="17" name="Text 15"/>
          <p:cNvSpPr/>
          <p:nvPr/>
        </p:nvSpPr>
        <p:spPr>
          <a:xfrm>
            <a:off x="7991856" y="196596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991856" y="2395728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F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entropy · locality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9985248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10442448" y="1828800"/>
            <a:ext cx="1965960" cy="1051560"/>
          </a:xfrm>
          <a:prstGeom prst="roundRect">
            <a:avLst>
              <a:gd name="adj" fmla="val 8696"/>
            </a:avLst>
          </a:prstGeom>
          <a:solidFill>
            <a:srgbClr val="006B59"/>
          </a:solidFill>
          <a:ln/>
        </p:spPr>
      </p:sp>
      <p:sp>
        <p:nvSpPr>
          <p:cNvPr id="21" name="Text 19"/>
          <p:cNvSpPr/>
          <p:nvPr/>
        </p:nvSpPr>
        <p:spPr>
          <a:xfrm>
            <a:off x="10442448" y="196596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0442448" y="2395728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F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screening report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40080" y="3291840"/>
            <a:ext cx="5440680" cy="24688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3E4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345643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2A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Native view — what the model attends to (mechanism)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14400" y="3977640"/>
            <a:ext cx="4983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400"/>
              </a:lnSpc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over channels of each block's last conv activation</a:t>
            </a:r>
            <a:endParaRPr lang="en-US" sz="1350" dirty="0"/>
          </a:p>
          <a:p>
            <a:pPr marL="342900" indent="-342900">
              <a:lnSpc>
                <a:spcPts val="1400"/>
              </a:lnSpc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Upsampled to input resolution (bilinear)</a:t>
            </a:r>
            <a:endParaRPr lang="en-US" sz="1350" dirty="0"/>
          </a:p>
          <a:p>
            <a:pPr marL="342900" indent="-342900">
              <a:lnSpc>
                <a:spcPts val="1400"/>
              </a:lnSpc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 to [0, 1]</a:t>
            </a:r>
            <a:endParaRPr lang="en-US" sz="1350" dirty="0"/>
          </a:p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1350" dirty="0">
                <a:solidFill>
                  <a:srgbClr val="1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Class-agnostic: shows where the model looks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6217920" y="3291840"/>
            <a:ext cx="5440680" cy="24688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3E4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92240" y="345643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2A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Class-conditioned view — why the model decided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492240" y="3977640"/>
            <a:ext cx="4983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400"/>
              </a:lnSpc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Grad-CAM on the same conv, for the predicted class</a:t>
            </a:r>
            <a:endParaRPr lang="en-US" sz="1350" dirty="0"/>
          </a:p>
          <a:p>
            <a:pPr marL="342900" indent="-342900">
              <a:lnSpc>
                <a:spcPts val="1400"/>
              </a:lnSpc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 → upsample → normalize to [0, 1]</a:t>
            </a:r>
            <a:endParaRPr lang="en-US" sz="1350" dirty="0"/>
          </a:p>
          <a:p>
            <a:pPr marL="342900" indent="-342900">
              <a:lnSpc>
                <a:spcPts val="1400"/>
              </a:lnSpc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for this specific decision</a:t>
            </a:r>
            <a:endParaRPr lang="en-US" sz="1350" dirty="0"/>
          </a:p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1350" dirty="0">
                <a:solidFill>
                  <a:srgbClr val="1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LayerMap contract — comparable by construction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0515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ImageNet provenance, real pipeline ingestion</a:t>
            </a:r>
            <a:endParaRPr lang="en-US" sz="1500" dirty="0"/>
          </a:p>
        </p:txBody>
      </p:sp>
      <p:pic>
        <p:nvPicPr>
          <p:cNvPr id="4" name="Image 0" descr="/home/Bunny/Projects/AttentionLens/experiments/sample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0080" y="1783080"/>
            <a:ext cx="4023360" cy="30175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4800600"/>
            <a:ext cx="4023360" cy="548640"/>
          </a:xfrm>
          <a:prstGeom prst="roundRect">
            <a:avLst>
              <a:gd name="adj" fmla="val 13333"/>
            </a:avLst>
          </a:prstGeom>
          <a:solidFill>
            <a:srgbClr val="2E2A72"/>
          </a:solidFill>
          <a:ln/>
        </p:spPr>
      </p:sp>
      <p:sp>
        <p:nvSpPr>
          <p:cNvPr id="6" name="Text 3"/>
          <p:cNvSpPr/>
          <p:nvPr/>
        </p:nvSpPr>
        <p:spPr>
          <a:xfrm>
            <a:off x="640080" y="49377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sample.jpg — Samoyed (ImageNet)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5029200" y="18288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498080" y="18288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ImageNet (demo sample)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5029200" y="22860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label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7498080" y="22860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Samoyed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5029200" y="27432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size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7498080" y="27432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1546 × 1213 px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5029200" y="32004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input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7498080" y="32004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224 × 224 RGB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5029200" y="36576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7498080" y="36576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LayerMaps (4 blocks × 2 views)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5029200" y="41148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runs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7498080" y="41148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on Arjun (M1); GPU/Jenga planned (M2+)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5029200" y="4800600"/>
            <a:ext cx="6492240" cy="1005840"/>
          </a:xfrm>
          <a:prstGeom prst="roundRect">
            <a:avLst>
              <a:gd name="adj" fmla="val 9091"/>
            </a:avLst>
          </a:prstGeom>
          <a:solidFill>
            <a:srgbClr val="E6F7F4"/>
          </a:solidFill>
          <a:ln/>
        </p:spPr>
      </p:sp>
      <p:sp>
        <p:nvSpPr>
          <p:cNvPr id="20" name="Text 17"/>
          <p:cNvSpPr/>
          <p:nvPr/>
        </p:nvSpPr>
        <p:spPr>
          <a:xfrm>
            <a:off x="5303520" y="4956048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3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Review-1 scope: a single curated sample exercises the full pipeline end-to-end. Screening-scale corpora (planted-bias CUB, ObjectNet) are scheduled in the validation milestone.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Preprocessing Results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0515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Resize → /255 → ImageNet normalize → tensor (measured on Arjun)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8288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6D8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7373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RGB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2468880" y="1737360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761488" y="1600200"/>
            <a:ext cx="18288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6D8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61488" y="17373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resize 224×224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590288" y="1737360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882896" y="1600200"/>
            <a:ext cx="18288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6D8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82896" y="17373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÷255 → [0,1]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711696" y="1737360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004304" y="1600200"/>
            <a:ext cx="18288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6D8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04304" y="17373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−mean ÷std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833104" y="1737360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125712" y="1600200"/>
            <a:ext cx="1828800" cy="731520"/>
          </a:xfrm>
          <a:prstGeom prst="roundRect">
            <a:avLst>
              <a:gd name="adj" fmla="val 10000"/>
            </a:avLst>
          </a:prstGeom>
          <a:solidFill>
            <a:srgbClr val="2E2A72"/>
          </a:solidFill>
          <a:ln w="12700">
            <a:solidFill>
              <a:srgbClr val="D6D8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25712" y="17373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[1,3,224,224] fp32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31520" y="269748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2A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Raw pixel stats (0–1, before normalize)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31520" y="3154680"/>
            <a:ext cx="15544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3E4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32004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31520" y="349300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0.388 ± 0.320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468880" y="3154680"/>
            <a:ext cx="15544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3E4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468880" y="32004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468880" y="349300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0.431 ± 0.295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206240" y="3154680"/>
            <a:ext cx="15544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3E4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06240" y="32004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206240" y="349300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0.368 ± 0.337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72000" y="269748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2A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Normalized tensor stats (after −mean ÷std)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572000" y="3154680"/>
            <a:ext cx="15544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3E4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0" y="32004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572000" y="349300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−0.421 ± 1.398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309360" y="3154680"/>
            <a:ext cx="15544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3E4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09360" y="32004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309360" y="349300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−0.110 ± 1.316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8046720" y="3154680"/>
            <a:ext cx="15544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3E4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046720" y="32004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046720" y="349300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−0.170 ± 1.498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731520" y="4297680"/>
            <a:ext cx="10607040" cy="1554480"/>
          </a:xfrm>
          <a:prstGeom prst="roundRect">
            <a:avLst>
              <a:gd name="adj" fmla="val 7059"/>
            </a:avLst>
          </a:prstGeom>
          <a:solidFill>
            <a:srgbClr val="E6F7F4"/>
          </a:solidFill>
          <a:ln/>
        </p:spPr>
      </p:sp>
      <p:sp>
        <p:nvSpPr>
          <p:cNvPr id="39" name="Text 37"/>
          <p:cNvSpPr/>
          <p:nvPr/>
        </p:nvSpPr>
        <p:spPr>
          <a:xfrm>
            <a:off x="960120" y="4434840"/>
            <a:ext cx="101498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4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3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point: preprocessing is a lossless, reversible step — tensor_to_image() inverts it exactly for visualization overlay.</a:t>
            </a:r>
            <a:endParaRPr lang="en-US" sz="1300" dirty="0"/>
          </a:p>
          <a:p>
            <a:pPr marL="342900" indent="-342900">
              <a:lnSpc>
                <a:spcPts val="14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3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Facts: input [1,3,224,224], dtype float32, on-device; stats above measured on Arjun, python 3.12, torch 2.13 CPU.</a:t>
            </a:r>
            <a:endParaRPr lang="en-US" sz="1300" dirty="0"/>
          </a:p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1300" dirty="0">
                <a:solidFill>
                  <a:srgbClr val="1F3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Tests: test_preprocess.py covers round-trip equivalence (hermetic — no downloads).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Engineering I — the LayerMap contract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0515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dataclass rules all extractors, metrics, screening, UI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22960" y="132588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108960" y="128016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846320" y="128016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16916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E2A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layer_name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108960" y="16916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84632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"layer4.2.conv3" / "block11" / "attn_head_3"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22960" y="216712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E2A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arch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108960" y="216712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846320" y="216712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"cnn" | "vit"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22960" y="2642616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E2A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view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108960" y="2642616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846320" y="2642616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"native" | "class_conditioned"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22960" y="3118104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E2A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model_class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108960" y="3118104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846320" y="3118104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used for conditioning (argmax for native)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22960" y="359359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E2A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3108960" y="359359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np.ndarray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846320" y="359359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H×W float32, normalized [0,1], input resolution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22960" y="40690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E2A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head_or_channel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3108960" y="40690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| None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846320" y="40690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per-head / per-channel breakdown (future)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822960" y="454456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E2A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metadata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3108960" y="454456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846320" y="454456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method, reduction, entropy, locality — extensible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822960" y="5303520"/>
            <a:ext cx="10515600" cy="822960"/>
          </a:xfrm>
          <a:prstGeom prst="roundRect">
            <a:avLst>
              <a:gd name="adj" fmla="val 11111"/>
            </a:avLst>
          </a:prstGeom>
          <a:solidFill>
            <a:srgbClr val="E6F7F4"/>
          </a:solidFill>
          <a:ln/>
        </p:spPr>
      </p:sp>
      <p:sp>
        <p:nvSpPr>
          <p:cNvPr id="29" name="Text 27"/>
          <p:cNvSpPr/>
          <p:nvPr/>
        </p:nvSpPr>
        <p:spPr>
          <a:xfrm>
            <a:off x="1051560" y="544068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3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ModelInspection bundles one (model, image) pair: model_id, image_id, true/pred label, LayerMaps, intervention_results. Verified by test_schema.py (7 tests green on Arjun).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Engineering II — extraction methods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0515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Probing the last conv of each ResNet bottleneck block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22960" y="16459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2A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RESNET_BLOCK_LAYERS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2057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"layer1.2.conv3" · "layer2.3.conv3" · "layer3.5.conv3" · "layer4.2.conv3"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40080" y="2743200"/>
            <a:ext cx="26517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3E4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85292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2A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layer1.2.conv3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32004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 ch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35204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texture/edges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29000" y="2743200"/>
            <a:ext cx="26517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3E4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29000" y="285292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2A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layer2.3.conv3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29000" y="32004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 ch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29000" y="35204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patterns/parts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2743200"/>
            <a:ext cx="26517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3E4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0" y="285292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2A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layer3.5.conv3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17920" y="32004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1024 ch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17920" y="35204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parts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006840" y="2743200"/>
            <a:ext cx="26517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3E4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006840" y="285292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2A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layer4.2.conv3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006840" y="32004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2048 ch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006840" y="35204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object-level semantics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0080" y="4434840"/>
            <a:ext cx="544068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E4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45720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2A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Native (mechanism)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14400" y="4956048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hook → activations[B,C,H,W] → mean(dim=1) → bilinear upsample → min-max normalize. Cost: one forward pass.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217920" y="4434840"/>
            <a:ext cx="544068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E4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92240" y="45720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2A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Class-conditioned (evidence)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492240" y="4956048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Captum LayerGradCam on the same conv, target = predicted class → ReLU → upsample → normalize. Cost: one attribution per layer.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 — dual-view montage (live output)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0515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ResNet-50 on sample.jpg — predicted: Samoyed ✓</a:t>
            </a:r>
            <a:endParaRPr lang="en-US" sz="1500" dirty="0"/>
          </a:p>
        </p:txBody>
      </p:sp>
      <p:pic>
        <p:nvPicPr>
          <p:cNvPr id="4" name="Image 0" descr="/home/Bunny/Projects/AttentionLens/experiments/eda/eda_montag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2920" y="1554480"/>
            <a:ext cx="1120140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 — value distributions &amp; spatial concentration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0515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two views can't be swapped</a:t>
            </a:r>
            <a:endParaRPr lang="en-US" sz="1500" dirty="0"/>
          </a:p>
        </p:txBody>
      </p:sp>
      <p:pic>
        <p:nvPicPr>
          <p:cNvPr id="4" name="Image 0" descr="/home/Bunny/Projects/AttentionLens/experiments/eda/eda_histogram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2920" y="1600200"/>
            <a:ext cx="11155680" cy="2331720"/>
          </a:xfrm>
          <a:prstGeom prst="rect">
            <a:avLst/>
          </a:prstGeom>
        </p:spPr>
      </p:pic>
      <p:pic>
        <p:nvPicPr>
          <p:cNvPr id="5" name="Image 1" descr="/home/Bunny/Projects/AttentionLens/experiments/eda/eda_concentration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02920" y="3977640"/>
            <a:ext cx="11155680" cy="23317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 — cross-view correlation (the key finding)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0515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 and evidence diverge early, converge deep</a:t>
            </a:r>
            <a:endParaRPr lang="en-US" sz="1500" dirty="0"/>
          </a:p>
        </p:txBody>
      </p:sp>
      <p:pic>
        <p:nvPicPr>
          <p:cNvPr id="4" name="Image 0" descr="/home/Bunny/Projects/AttentionLens/experiments/eda/eda_correlation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2920" y="1691640"/>
            <a:ext cx="10058400" cy="23317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4160520"/>
            <a:ext cx="265176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3E4F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42519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E2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 · r = 0.00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749808" y="4663440"/>
            <a:ext cx="24323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dirty="0">
                <a:solidFill>
                  <a:srgbClr val="1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and Grad-CAM are decorrelated — the model looks broadly, but class evidence is tiny and sharp.</a:t>
            </a:r>
            <a:endParaRPr lang="en-US" sz="1020" dirty="0"/>
          </a:p>
        </p:txBody>
      </p:sp>
      <p:sp>
        <p:nvSpPr>
          <p:cNvPr id="8" name="Shape 5"/>
          <p:cNvSpPr/>
          <p:nvPr/>
        </p:nvSpPr>
        <p:spPr>
          <a:xfrm>
            <a:off x="3429000" y="4160520"/>
            <a:ext cx="265176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3E4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429000" y="42519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E2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 · undefined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3538728" y="4663440"/>
            <a:ext cx="24323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dirty="0">
                <a:solidFill>
                  <a:srgbClr val="1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Grad-CAM collapsed to an all-zero map for this image (ReLU'd gradients vanished) — a real, surfaced failure.</a:t>
            </a:r>
            <a:endParaRPr lang="en-US" sz="1020" dirty="0"/>
          </a:p>
        </p:txBody>
      </p:sp>
      <p:sp>
        <p:nvSpPr>
          <p:cNvPr id="11" name="Shape 8"/>
          <p:cNvSpPr/>
          <p:nvPr/>
        </p:nvSpPr>
        <p:spPr>
          <a:xfrm>
            <a:off x="6217920" y="4160520"/>
            <a:ext cx="265176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3E4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217920" y="42519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E2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 · r = 0.41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6327648" y="4663440"/>
            <a:ext cx="24323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dirty="0">
                <a:solidFill>
                  <a:srgbClr val="1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 starts aligning with evidence as receptive fields widen.</a:t>
            </a:r>
            <a:endParaRPr lang="en-US" sz="1020" dirty="0"/>
          </a:p>
        </p:txBody>
      </p:sp>
      <p:sp>
        <p:nvSpPr>
          <p:cNvPr id="14" name="Shape 11"/>
          <p:cNvSpPr/>
          <p:nvPr/>
        </p:nvSpPr>
        <p:spPr>
          <a:xfrm>
            <a:off x="9006840" y="4160520"/>
            <a:ext cx="265176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3E4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006840" y="42519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E2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4 · r = 0.48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9116568" y="4663440"/>
            <a:ext cx="24323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dirty="0">
                <a:solidFill>
                  <a:srgbClr val="1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features: where the model looks is where the decision lives.</a:t>
            </a:r>
            <a:endParaRPr lang="en-US" sz="10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4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 — M1 gate on Arjun</a:t>
            </a:r>
            <a:endParaRPr lang="en-US" sz="3000" dirty="0"/>
          </a:p>
        </p:txBody>
      </p:sp>
      <p:pic>
        <p:nvPicPr>
          <p:cNvPr id="3" name="Image 0" descr="/home/Bunny/Projects/AttentionLens/experiments/out/layer1.2.conv3_class_condition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2920" y="1371600"/>
            <a:ext cx="2697480" cy="23774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370332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B9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 · Grad-CAM</a:t>
            </a:r>
            <a:endParaRPr lang="en-US" sz="1050" dirty="0"/>
          </a:p>
        </p:txBody>
      </p:sp>
      <p:pic>
        <p:nvPicPr>
          <p:cNvPr id="5" name="Image 1" descr="/home/Bunny/Projects/AttentionLens/experiments/out/layer1.2.conv3_native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291840" y="1371600"/>
            <a:ext cx="2697480" cy="237744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3291840" y="370332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B9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 · native</a:t>
            </a:r>
            <a:endParaRPr lang="en-US" sz="1050" dirty="0"/>
          </a:p>
        </p:txBody>
      </p:sp>
      <p:pic>
        <p:nvPicPr>
          <p:cNvPr id="7" name="Image 2" descr="/home/Bunny/Projects/AttentionLens/experiments/out/layer2.3.conv3_class_condition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080760" y="1371600"/>
            <a:ext cx="2697480" cy="237744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080760" y="370332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B9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 · Grad-CAM</a:t>
            </a:r>
            <a:endParaRPr lang="en-US" sz="1050" dirty="0"/>
          </a:p>
        </p:txBody>
      </p:sp>
      <p:pic>
        <p:nvPicPr>
          <p:cNvPr id="9" name="Image 3" descr="/home/Bunny/Projects/AttentionLens/experiments/out/layer2.3.conv3_native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869680" y="1371600"/>
            <a:ext cx="2697480" cy="237744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8869680" y="370332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B9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 · native</a:t>
            </a:r>
            <a:endParaRPr lang="en-US" sz="1050" dirty="0"/>
          </a:p>
        </p:txBody>
      </p:sp>
      <p:pic>
        <p:nvPicPr>
          <p:cNvPr id="11" name="Image 4" descr="/home/Bunny/Projects/AttentionLens/experiments/out/layer3.5.conv3_class_condition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502920" y="4160520"/>
            <a:ext cx="2697480" cy="237744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502920" y="649224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B9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B3 · Grad-CAM</a:t>
            </a:r>
            <a:endParaRPr lang="en-US" sz="1050" dirty="0"/>
          </a:p>
        </p:txBody>
      </p:sp>
      <p:pic>
        <p:nvPicPr>
          <p:cNvPr id="13" name="Image 5" descr="/home/Bunny/Projects/AttentionLens/experiments/out/layer3.5.conv3_native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3291840" y="4160520"/>
            <a:ext cx="2697480" cy="2377440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3291840" y="649224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B9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B3 · native</a:t>
            </a:r>
            <a:endParaRPr lang="en-US" sz="1050" dirty="0"/>
          </a:p>
        </p:txBody>
      </p:sp>
      <p:pic>
        <p:nvPicPr>
          <p:cNvPr id="15" name="Image 6" descr="/home/Bunny/Projects/AttentionLens/experiments/out/layer4.2.conv3_class_condition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6080760" y="4160520"/>
            <a:ext cx="2697480" cy="2377440"/>
          </a:xfrm>
          <a:prstGeom prst="rect">
            <a:avLst/>
          </a:prstGeom>
        </p:spPr>
      </p:pic>
      <p:sp>
        <p:nvSpPr>
          <p:cNvPr id="16" name="Text 7"/>
          <p:cNvSpPr/>
          <p:nvPr/>
        </p:nvSpPr>
        <p:spPr>
          <a:xfrm>
            <a:off x="6080760" y="649224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B9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B4 · Grad-CAM</a:t>
            </a:r>
            <a:endParaRPr lang="en-US" sz="1050" dirty="0"/>
          </a:p>
        </p:txBody>
      </p:sp>
      <p:pic>
        <p:nvPicPr>
          <p:cNvPr id="17" name="Image 7" descr="/home/Bunny/Projects/AttentionLens/experiments/out/layer4.2.conv3_native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8869680" y="4160520"/>
            <a:ext cx="2697480" cy="2377440"/>
          </a:xfrm>
          <a:prstGeom prst="rect">
            <a:avLst/>
          </a:prstGeom>
        </p:spPr>
      </p:pic>
      <p:sp>
        <p:nvSpPr>
          <p:cNvPr id="18" name="Text 8"/>
          <p:cNvSpPr/>
          <p:nvPr/>
        </p:nvSpPr>
        <p:spPr>
          <a:xfrm>
            <a:off x="8869680" y="649224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B9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B4 · native</a:t>
            </a:r>
            <a:endParaRPr lang="en-US" sz="1050" dirty="0"/>
          </a:p>
        </p:txBody>
      </p:sp>
      <p:sp>
        <p:nvSpPr>
          <p:cNvPr id="19" name="Text 9"/>
          <p:cNvSpPr/>
          <p:nvPr/>
        </p:nvSpPr>
        <p:spPr>
          <a:xfrm>
            <a:off x="640080" y="63093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forward pass + 4 Grad-CAM attributions · predicted Samoyed (correct) · CPU, torch 2.13 · commit 96c50b6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&amp; Next Steps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0515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 delivered; M2 opens the ViT frontier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394960" cy="30175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3E4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8288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E2A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Delivered (M1)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14400" y="2331720"/>
            <a:ext cx="4983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4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LayerMap / ModelInspection schema — tested (7 green)</a:t>
            </a:r>
            <a:endParaRPr lang="en-US" sz="1300" dirty="0"/>
          </a:p>
          <a:p>
            <a:pPr marL="342900" indent="-342900">
              <a:lnSpc>
                <a:spcPts val="14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ResNet-50 dual-view extractor — native + Grad-CAM, 4 blocks</a:t>
            </a:r>
            <a:endParaRPr lang="en-US" sz="1300" dirty="0"/>
          </a:p>
          <a:p>
            <a:pPr marL="342900" indent="-342900">
              <a:lnSpc>
                <a:spcPts val="14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with exact round-trip visualization</a:t>
            </a:r>
            <a:endParaRPr lang="en-US" sz="1300" dirty="0"/>
          </a:p>
          <a:p>
            <a:pPr marL="342900" indent="-342900">
              <a:lnSpc>
                <a:spcPts val="14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demo: Samoyed, 8 maps, correct prediction</a:t>
            </a:r>
            <a:endParaRPr lang="en-US" sz="1300" dirty="0"/>
          </a:p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1300" dirty="0">
                <a:solidFill>
                  <a:srgbClr val="1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Hermetic test suite — runs without downloads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17920" y="1691640"/>
            <a:ext cx="5394960" cy="30175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3E4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18288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E2A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92240" y="2331720"/>
            <a:ext cx="4983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4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M2: ViT extractor — attention maps through the same LayerMap</a:t>
            </a:r>
            <a:endParaRPr lang="en-US" sz="1300" dirty="0"/>
          </a:p>
          <a:p>
            <a:pPr marL="342900" indent="-342900">
              <a:lnSpc>
                <a:spcPts val="14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M3: attention-quality metrics (entropy, locality, faithfulness)</a:t>
            </a:r>
            <a:endParaRPr lang="en-US" sz="1300" dirty="0"/>
          </a:p>
          <a:p>
            <a:pPr marL="342900" indent="-342900">
              <a:lnSpc>
                <a:spcPts val="14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M4: screening pipeline + planted-bias &amp; ObjectNet validation</a:t>
            </a:r>
            <a:endParaRPr lang="en-US" sz="1300" dirty="0"/>
          </a:p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1300" dirty="0">
                <a:solidFill>
                  <a:srgbClr val="1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M5: interactive UI (Gradio) + intervention experiments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4937760"/>
            <a:ext cx="10972800" cy="1051560"/>
          </a:xfrm>
          <a:prstGeom prst="roundRect">
            <a:avLst>
              <a:gd name="adj" fmla="val 10435"/>
            </a:avLst>
          </a:prstGeom>
          <a:solidFill>
            <a:srgbClr val="2E2A72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512064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F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open items: zero-map degeneracy at layer 2 needs a stability guard; GPU/device portability is code-ready, not yet exercised at scale.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14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4206240"/>
            <a:ext cx="2011680" cy="2011680"/>
          </a:xfrm>
          <a:prstGeom prst="ellipse">
            <a:avLst/>
          </a:prstGeom>
          <a:solidFill>
            <a:srgbClr val="2E2A72"/>
          </a:solidFill>
          <a:ln w="38100">
            <a:solidFill>
              <a:srgbClr val="7CE0E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561320" y="4937760"/>
            <a:ext cx="457200" cy="457200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3774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41248" y="33832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7CE0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41248" y="6035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9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AttentionLens · Review 1 · Jaswanth Krishna Padarthi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1878</Words>
  <Application>Microsoft Office PowerPoint</Application>
  <PresentationFormat>Widescreen</PresentationFormat>
  <Paragraphs>227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Cambria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AttentionLens — Review 1</dc:title>
  <dc:subject>PptxGenJS Presentation</dc:subject>
  <dc:creator>Jaswanth Krishna Padarthi</dc:creator>
  <cp:lastModifiedBy>Kartheek Yadav</cp:lastModifiedBy>
  <cp:revision>2</cp:revision>
  <dcterms:created xsi:type="dcterms:W3CDTF">2026-08-18T16:29:05Z</dcterms:created>
  <dcterms:modified xsi:type="dcterms:W3CDTF">2026-08-18T18:13:53Z</dcterms:modified>
</cp:coreProperties>
</file>