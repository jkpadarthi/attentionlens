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whole-pipeline companion to the M1 gate deck. The M1 gate deck proves one milestone; this deck shows where every milestone fits, what each stage emits, and why the loop closes on a verdict rather than a heatmap.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sections. The spine of the talk is slide 5 — the 6-stage pipeline. Everything else expands one of those stages or frames why the stages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gaps: fragmentation (no shared schema between attention and attribution, CNN and ViT) and discovery (bias found manually). AttentionLens solves both with one abstraction plus automated screening verdicts — the novelty anchor is the combination, not a new XAI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architectural decision: never conflate the two views. Native maps capture the mechanism; class-conditioned maps capture decision evidence. Both land in the same LayerMap dataclass so downstream metrics and screening treat them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project. Every milestone plugs into one of these six stages. Stages 1–3 are done in M1 (verified end-to-end on the Samoyed). Stages 4–6 are the forward path of the roadmap. The loop arrow is what turns heatmaps into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is boring on purpose. It's a contract: any image, any size, into a normalized [1,3,224,224] float32 tensor on the device — and back. No information loss, no surprises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return the same shape contract: (label_str, class_idx). That label becomes the conditioning class for every Grad-CAM / class-weighted-rollout / token-attr call. One bug surfaced and fixed in M1: ImageNet weights.meta is a dict on this torchvision — use meta.get('categories'), not getattr.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probe points chosen deliberately: the last conv of each bottleneck block, spanning 256→2048 channels and texture→semantics. Both views derive from the same probe points, so cross-view comparison is apples-to-apples. The layer-2 zero-map on the Samoyed is honest data — a degenerate explanation surfaced by the tool itself, which is exactly the failure mode an explainability debugger should expose.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is where 'looks like' becomes 'is'. Each metric has a measurement protocol: object bbox overlap, keypoint proximity, entropy of the map, and prediction delta under masking. Without ground truth, these would be vibes — that's why the dataset choice is locked in (DECISIONS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closes the causal arrow. Heatmaps are correlative; interventions are causal. The M4 gate is the falsification test for the whole framework: if masking the bird's head does not flip the prediction, then no heatmap on earth was showing real evidence — and the tool reports that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is what turns the tool from 'visualizer' into 'debugger'. Verdicts are not free-form text — each is a typed object with a confidence and evidence links back to the LayerMaps that triggered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milestone ends with a verification step — nothing is done until it's proven. The M1 gate was a real image end-to-end. The M2 gate is 'same schema, dual-view complete for ViT-B/16'. The M7/M8 gates are the two validation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experiments are the falsification tests. M7 is 'can we find what we put there' (sanity). M8 is 'can we find what's actually there' (the real test). Together they prove the tool is science, not just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is the credibility slide. A reviewer who hears only novelty will be skeptical; a reviewer who hears only limits will be unimpressed. Both, side by side, with the same weight, is the honest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 on any of the six stages, the dual-view schema, or the validation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2B"/>
        </a:solidFill>
      </p:bgPr>
    </p:bg>
    <p:spTree>
      <p:nvGrpSpPr>
        <p:cNvPr id="1" name=""/>
        <p:cNvGrpSpPr/>
        <p:nvPr/>
      </p:nvGrpSpPr>
      <p:grpSpPr>
        <a:xfrm>
          <a:off x="0" y="0"/>
          <a:ext cx="0" cy="0"/>
          <a:chOff x="0" y="0"/>
          <a:chExt cx="0" cy="0"/>
        </a:xfrm>
      </p:grpSpPr>
      <p:sp>
        <p:nvSpPr>
          <p:cNvPr id="2" name="Shape 0"/>
          <p:cNvSpPr/>
          <p:nvPr/>
        </p:nvSpPr>
        <p:spPr>
          <a:xfrm>
            <a:off x="8778240" y="0"/>
            <a:ext cx="3383280" cy="6858000"/>
          </a:xfrm>
          <a:prstGeom prst="rect">
            <a:avLst/>
          </a:prstGeom>
          <a:solidFill>
            <a:srgbClr val="1B1B3A"/>
          </a:solidFill>
          <a:ln/>
        </p:spPr>
      </p:sp>
      <p:sp>
        <p:nvSpPr>
          <p:cNvPr id="3" name="Shape 1"/>
          <p:cNvSpPr/>
          <p:nvPr/>
        </p:nvSpPr>
        <p:spPr>
          <a:xfrm>
            <a:off x="9326880" y="2103120"/>
            <a:ext cx="2286000" cy="2286000"/>
          </a:xfrm>
          <a:prstGeom prst="ellipse">
            <a:avLst/>
          </a:prstGeom>
          <a:solidFill>
            <a:srgbClr val="2E2A72"/>
          </a:solidFill>
          <a:ln w="38100">
            <a:solidFill>
              <a:srgbClr val="7CE0E3"/>
            </a:solidFill>
            <a:prstDash val="solid"/>
          </a:ln>
        </p:spPr>
      </p:sp>
      <p:sp>
        <p:nvSpPr>
          <p:cNvPr id="4" name="Shape 2"/>
          <p:cNvSpPr/>
          <p:nvPr/>
        </p:nvSpPr>
        <p:spPr>
          <a:xfrm>
            <a:off x="10195560" y="2971800"/>
            <a:ext cx="548640" cy="548640"/>
          </a:xfrm>
          <a:prstGeom prst="ellipse">
            <a:avLst/>
          </a:prstGeom>
          <a:solidFill>
            <a:srgbClr val="00C9A7"/>
          </a:solidFill>
          <a:ln/>
        </p:spPr>
      </p:sp>
      <p:sp>
        <p:nvSpPr>
          <p:cNvPr id="5" name="Text 3"/>
          <p:cNvSpPr/>
          <p:nvPr/>
        </p:nvSpPr>
        <p:spPr>
          <a:xfrm>
            <a:off x="822960" y="1554480"/>
            <a:ext cx="768096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AttentionLens</a:t>
            </a:r>
            <a:endParaRPr lang="en-US" sz="5400" dirty="0"/>
          </a:p>
        </p:txBody>
      </p:sp>
      <p:sp>
        <p:nvSpPr>
          <p:cNvPr id="6" name="Text 4"/>
          <p:cNvSpPr/>
          <p:nvPr/>
        </p:nvSpPr>
        <p:spPr>
          <a:xfrm>
            <a:off x="841248" y="2743200"/>
            <a:ext cx="7498080" cy="914400"/>
          </a:xfrm>
          <a:prstGeom prst="rect">
            <a:avLst/>
          </a:prstGeom>
          <a:noFill/>
          <a:ln/>
        </p:spPr>
        <p:txBody>
          <a:bodyPr wrap="square" lIns="0" tIns="0" rIns="0" bIns="0" rtlCol="0" anchor="ctr"/>
          <a:lstStyle/>
          <a:p>
            <a:pPr indent="0" marL="0">
              <a:buNone/>
            </a:pPr>
            <a:r>
              <a:rPr lang="en-US" sz="1900" dirty="0">
                <a:solidFill>
                  <a:srgbClr val="7CE0E3"/>
                </a:solidFill>
                <a:latin typeface="Calibri" pitchFamily="34" charset="0"/>
                <a:ea typeface="Calibri" pitchFamily="34" charset="-122"/>
                <a:cs typeface="Calibri" pitchFamily="34" charset="-120"/>
              </a:rPr>
              <a:t>The Whole Pipeline — from image to verdict</a:t>
            </a:r>
            <a:endParaRPr lang="en-US" sz="1900" dirty="0"/>
          </a:p>
        </p:txBody>
      </p:sp>
      <p:sp>
        <p:nvSpPr>
          <p:cNvPr id="7" name="Text 5"/>
          <p:cNvSpPr/>
          <p:nvPr/>
        </p:nvSpPr>
        <p:spPr>
          <a:xfrm>
            <a:off x="841248" y="4937760"/>
            <a:ext cx="7498080" cy="457200"/>
          </a:xfrm>
          <a:prstGeom prst="rect">
            <a:avLst/>
          </a:prstGeom>
          <a:noFill/>
          <a:ln/>
        </p:spPr>
        <p:txBody>
          <a:bodyPr wrap="square" lIns="0" tIns="0" rIns="0" bIns="0" rtlCol="0" anchor="ctr"/>
          <a:lstStyle/>
          <a:p>
            <a:pPr indent="0" marL="0">
              <a:buNone/>
            </a:pPr>
            <a:r>
              <a:rPr lang="en-US" sz="1500" dirty="0">
                <a:solidFill>
                  <a:srgbClr val="B9BCE0"/>
                </a:solidFill>
                <a:latin typeface="Calibri" pitchFamily="34" charset="0"/>
                <a:ea typeface="Calibri" pitchFamily="34" charset="-122"/>
                <a:cs typeface="Calibri" pitchFamily="34" charset="-120"/>
              </a:rPr>
              <a:t>Project Review 1  ·  B.Tech CSE (AI &amp; ML), VIT</a:t>
            </a:r>
            <a:endParaRPr lang="en-US" sz="1500" dirty="0"/>
          </a:p>
        </p:txBody>
      </p:sp>
      <p:sp>
        <p:nvSpPr>
          <p:cNvPr id="8" name="Text 6"/>
          <p:cNvSpPr/>
          <p:nvPr/>
        </p:nvSpPr>
        <p:spPr>
          <a:xfrm>
            <a:off x="841248" y="5394960"/>
            <a:ext cx="7498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Jaswanth Krishna Padarthi</a:t>
            </a:r>
            <a:endParaRPr lang="en-US" sz="1500" dirty="0"/>
          </a:p>
        </p:txBody>
      </p:sp>
      <p:sp>
        <p:nvSpPr>
          <p:cNvPr id="9" name="Text 7"/>
          <p:cNvSpPr/>
          <p:nvPr/>
        </p:nvSpPr>
        <p:spPr>
          <a:xfrm>
            <a:off x="841248" y="5943600"/>
            <a:ext cx="7498080" cy="457200"/>
          </a:xfrm>
          <a:prstGeom prst="rect">
            <a:avLst/>
          </a:prstGeom>
          <a:noFill/>
          <a:ln/>
        </p:spPr>
        <p:txBody>
          <a:bodyPr wrap="square" lIns="0" tIns="0" rIns="0" bIns="0" rtlCol="0" anchor="ctr"/>
          <a:lstStyle/>
          <a:p>
            <a:pPr indent="0" marL="0">
              <a:buNone/>
            </a:pPr>
            <a:r>
              <a:rPr lang="en-US" sz="1200" dirty="0">
                <a:solidFill>
                  <a:srgbClr val="00C9A7"/>
                </a:solidFill>
                <a:latin typeface="Calibri" pitchFamily="34" charset="0"/>
                <a:ea typeface="Calibri" pitchFamily="34" charset="-122"/>
                <a:cs typeface="Calibri" pitchFamily="34" charset="-120"/>
              </a:rPr>
              <a:t>M1 delivered · M2–M8 roadmapped · 15 slides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Agenda</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From a raw image to a bias verdict — the road map</a:t>
            </a:r>
            <a:endParaRPr lang="en-US" sz="1500" dirty="0"/>
          </a:p>
        </p:txBody>
      </p:sp>
      <p:sp>
        <p:nvSpPr>
          <p:cNvPr id="4" name="Shape 2"/>
          <p:cNvSpPr/>
          <p:nvPr/>
        </p:nvSpPr>
        <p:spPr>
          <a:xfrm>
            <a:off x="640080" y="1463040"/>
            <a:ext cx="10881360" cy="548640"/>
          </a:xfrm>
          <a:prstGeom prst="roundRect">
            <a:avLst>
              <a:gd name="adj" fmla="val 16667"/>
            </a:avLst>
          </a:prstGeom>
          <a:solidFill>
            <a:srgbClr val="FFFFFF"/>
          </a:solidFill>
          <a:ln w="12700">
            <a:solidFill>
              <a:srgbClr val="E3E4F0"/>
            </a:solidFill>
            <a:prstDash val="solid"/>
          </a:ln>
        </p:spPr>
      </p:sp>
      <p:sp>
        <p:nvSpPr>
          <p:cNvPr id="5" name="Text 3"/>
          <p:cNvSpPr/>
          <p:nvPr/>
        </p:nvSpPr>
        <p:spPr>
          <a:xfrm>
            <a:off x="868680" y="150876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01</a:t>
            </a:r>
            <a:endParaRPr lang="en-US" sz="1800" dirty="0"/>
          </a:p>
        </p:txBody>
      </p:sp>
      <p:sp>
        <p:nvSpPr>
          <p:cNvPr id="6" name="Text 4"/>
          <p:cNvSpPr/>
          <p:nvPr/>
        </p:nvSpPr>
        <p:spPr>
          <a:xfrm>
            <a:off x="1783080" y="150876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Problem &amp; Motivation</a:t>
            </a:r>
            <a:endParaRPr lang="en-US" sz="1500" dirty="0"/>
          </a:p>
        </p:txBody>
      </p:sp>
      <p:sp>
        <p:nvSpPr>
          <p:cNvPr id="7" name="Text 5"/>
          <p:cNvSpPr/>
          <p:nvPr/>
        </p:nvSpPr>
        <p:spPr>
          <a:xfrm>
            <a:off x="5669280" y="150876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Why vision models need a debugger, not just explanations</a:t>
            </a:r>
            <a:endParaRPr lang="en-US" sz="1250" dirty="0"/>
          </a:p>
        </p:txBody>
      </p:sp>
      <p:sp>
        <p:nvSpPr>
          <p:cNvPr id="8" name="Shape 6"/>
          <p:cNvSpPr/>
          <p:nvPr/>
        </p:nvSpPr>
        <p:spPr>
          <a:xfrm>
            <a:off x="640080" y="2103120"/>
            <a:ext cx="10881360" cy="548640"/>
          </a:xfrm>
          <a:prstGeom prst="roundRect">
            <a:avLst>
              <a:gd name="adj" fmla="val 16667"/>
            </a:avLst>
          </a:prstGeom>
          <a:solidFill>
            <a:srgbClr val="FFFFFF"/>
          </a:solidFill>
          <a:ln w="12700">
            <a:solidFill>
              <a:srgbClr val="E3E4F0"/>
            </a:solidFill>
            <a:prstDash val="solid"/>
          </a:ln>
        </p:spPr>
      </p:sp>
      <p:sp>
        <p:nvSpPr>
          <p:cNvPr id="9" name="Text 7"/>
          <p:cNvSpPr/>
          <p:nvPr/>
        </p:nvSpPr>
        <p:spPr>
          <a:xfrm>
            <a:off x="868680" y="214884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02</a:t>
            </a:r>
            <a:endParaRPr lang="en-US" sz="1800" dirty="0"/>
          </a:p>
        </p:txBody>
      </p:sp>
      <p:sp>
        <p:nvSpPr>
          <p:cNvPr id="10" name="Text 8"/>
          <p:cNvSpPr/>
          <p:nvPr/>
        </p:nvSpPr>
        <p:spPr>
          <a:xfrm>
            <a:off x="1783080" y="214884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Design — Dual-View Schema</a:t>
            </a:r>
            <a:endParaRPr lang="en-US" sz="1500" dirty="0"/>
          </a:p>
        </p:txBody>
      </p:sp>
      <p:sp>
        <p:nvSpPr>
          <p:cNvPr id="11" name="Text 9"/>
          <p:cNvSpPr/>
          <p:nvPr/>
        </p:nvSpPr>
        <p:spPr>
          <a:xfrm>
            <a:off x="5669280" y="214884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One LayerMap contract, two views, CNN ⇄ ViT</a:t>
            </a:r>
            <a:endParaRPr lang="en-US" sz="1250" dirty="0"/>
          </a:p>
        </p:txBody>
      </p:sp>
      <p:sp>
        <p:nvSpPr>
          <p:cNvPr id="12" name="Shape 10"/>
          <p:cNvSpPr/>
          <p:nvPr/>
        </p:nvSpPr>
        <p:spPr>
          <a:xfrm>
            <a:off x="640080" y="2743200"/>
            <a:ext cx="10881360" cy="548640"/>
          </a:xfrm>
          <a:prstGeom prst="roundRect">
            <a:avLst>
              <a:gd name="adj" fmla="val 16667"/>
            </a:avLst>
          </a:prstGeom>
          <a:solidFill>
            <a:srgbClr val="FFFFFF"/>
          </a:solidFill>
          <a:ln w="12700">
            <a:solidFill>
              <a:srgbClr val="E3E4F0"/>
            </a:solidFill>
            <a:prstDash val="solid"/>
          </a:ln>
        </p:spPr>
      </p:sp>
      <p:sp>
        <p:nvSpPr>
          <p:cNvPr id="13" name="Text 11"/>
          <p:cNvSpPr/>
          <p:nvPr/>
        </p:nvSpPr>
        <p:spPr>
          <a:xfrm>
            <a:off x="868680" y="278892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03</a:t>
            </a:r>
            <a:endParaRPr lang="en-US" sz="1800" dirty="0"/>
          </a:p>
        </p:txBody>
      </p:sp>
      <p:sp>
        <p:nvSpPr>
          <p:cNvPr id="14" name="Text 12"/>
          <p:cNvSpPr/>
          <p:nvPr/>
        </p:nvSpPr>
        <p:spPr>
          <a:xfrm>
            <a:off x="1783080" y="278892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The Pipeline — 6 Stages</a:t>
            </a:r>
            <a:endParaRPr lang="en-US" sz="1500" dirty="0"/>
          </a:p>
        </p:txBody>
      </p:sp>
      <p:sp>
        <p:nvSpPr>
          <p:cNvPr id="15" name="Text 13"/>
          <p:cNvSpPr/>
          <p:nvPr/>
        </p:nvSpPr>
        <p:spPr>
          <a:xfrm>
            <a:off x="5669280" y="278892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Preprocess → Infer → Extract → Metrics → Intervene → Screen</a:t>
            </a:r>
            <a:endParaRPr lang="en-US" sz="1250" dirty="0"/>
          </a:p>
        </p:txBody>
      </p:sp>
      <p:sp>
        <p:nvSpPr>
          <p:cNvPr id="16" name="Shape 14"/>
          <p:cNvSpPr/>
          <p:nvPr/>
        </p:nvSpPr>
        <p:spPr>
          <a:xfrm>
            <a:off x="640080" y="3383280"/>
            <a:ext cx="10881360" cy="548640"/>
          </a:xfrm>
          <a:prstGeom prst="roundRect">
            <a:avLst>
              <a:gd name="adj" fmla="val 16667"/>
            </a:avLst>
          </a:prstGeom>
          <a:solidFill>
            <a:srgbClr val="FFFFFF"/>
          </a:solidFill>
          <a:ln w="12700">
            <a:solidFill>
              <a:srgbClr val="E3E4F0"/>
            </a:solidFill>
            <a:prstDash val="solid"/>
          </a:ln>
        </p:spPr>
      </p:sp>
      <p:sp>
        <p:nvSpPr>
          <p:cNvPr id="17" name="Text 15"/>
          <p:cNvSpPr/>
          <p:nvPr/>
        </p:nvSpPr>
        <p:spPr>
          <a:xfrm>
            <a:off x="868680" y="342900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04</a:t>
            </a:r>
            <a:endParaRPr lang="en-US" sz="1800" dirty="0"/>
          </a:p>
        </p:txBody>
      </p:sp>
      <p:sp>
        <p:nvSpPr>
          <p:cNvPr id="18" name="Text 16"/>
          <p:cNvSpPr/>
          <p:nvPr/>
        </p:nvSpPr>
        <p:spPr>
          <a:xfrm>
            <a:off x="1783080" y="342900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Stage-by-Stage Detail</a:t>
            </a:r>
            <a:endParaRPr lang="en-US" sz="1500" dirty="0"/>
          </a:p>
        </p:txBody>
      </p:sp>
      <p:sp>
        <p:nvSpPr>
          <p:cNvPr id="19" name="Text 17"/>
          <p:cNvSpPr/>
          <p:nvPr/>
        </p:nvSpPr>
        <p:spPr>
          <a:xfrm>
            <a:off x="5669280" y="342900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What each stage emits and what it costs</a:t>
            </a:r>
            <a:endParaRPr lang="en-US" sz="1250" dirty="0"/>
          </a:p>
        </p:txBody>
      </p:sp>
      <p:sp>
        <p:nvSpPr>
          <p:cNvPr id="20" name="Shape 18"/>
          <p:cNvSpPr/>
          <p:nvPr/>
        </p:nvSpPr>
        <p:spPr>
          <a:xfrm>
            <a:off x="640080" y="4023360"/>
            <a:ext cx="10881360" cy="548640"/>
          </a:xfrm>
          <a:prstGeom prst="roundRect">
            <a:avLst>
              <a:gd name="adj" fmla="val 16667"/>
            </a:avLst>
          </a:prstGeom>
          <a:solidFill>
            <a:srgbClr val="FFFFFF"/>
          </a:solidFill>
          <a:ln w="12700">
            <a:solidFill>
              <a:srgbClr val="E3E4F0"/>
            </a:solidFill>
            <a:prstDash val="solid"/>
          </a:ln>
        </p:spPr>
      </p:sp>
      <p:sp>
        <p:nvSpPr>
          <p:cNvPr id="21" name="Text 19"/>
          <p:cNvSpPr/>
          <p:nvPr/>
        </p:nvSpPr>
        <p:spPr>
          <a:xfrm>
            <a:off x="868680" y="406908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05</a:t>
            </a:r>
            <a:endParaRPr lang="en-US" sz="1800" dirty="0"/>
          </a:p>
        </p:txBody>
      </p:sp>
      <p:sp>
        <p:nvSpPr>
          <p:cNvPr id="22" name="Text 20"/>
          <p:cNvSpPr/>
          <p:nvPr/>
        </p:nvSpPr>
        <p:spPr>
          <a:xfrm>
            <a:off x="1783080" y="406908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Milestones M1–M8</a:t>
            </a:r>
            <a:endParaRPr lang="en-US" sz="1500" dirty="0"/>
          </a:p>
        </p:txBody>
      </p:sp>
      <p:sp>
        <p:nvSpPr>
          <p:cNvPr id="23" name="Text 21"/>
          <p:cNvSpPr/>
          <p:nvPr/>
        </p:nvSpPr>
        <p:spPr>
          <a:xfrm>
            <a:off x="5669280" y="406908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What's delivered, what's next, and why</a:t>
            </a:r>
            <a:endParaRPr lang="en-US" sz="1250" dirty="0"/>
          </a:p>
        </p:txBody>
      </p:sp>
      <p:sp>
        <p:nvSpPr>
          <p:cNvPr id="24" name="Shape 22"/>
          <p:cNvSpPr/>
          <p:nvPr/>
        </p:nvSpPr>
        <p:spPr>
          <a:xfrm>
            <a:off x="640080" y="4663440"/>
            <a:ext cx="10881360" cy="548640"/>
          </a:xfrm>
          <a:prstGeom prst="roundRect">
            <a:avLst>
              <a:gd name="adj" fmla="val 16667"/>
            </a:avLst>
          </a:prstGeom>
          <a:solidFill>
            <a:srgbClr val="FFFFFF"/>
          </a:solidFill>
          <a:ln w="12700">
            <a:solidFill>
              <a:srgbClr val="E3E4F0"/>
            </a:solidFill>
            <a:prstDash val="solid"/>
          </a:ln>
        </p:spPr>
      </p:sp>
      <p:sp>
        <p:nvSpPr>
          <p:cNvPr id="25" name="Text 23"/>
          <p:cNvSpPr/>
          <p:nvPr/>
        </p:nvSpPr>
        <p:spPr>
          <a:xfrm>
            <a:off x="868680" y="470916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06</a:t>
            </a:r>
            <a:endParaRPr lang="en-US" sz="1800" dirty="0"/>
          </a:p>
        </p:txBody>
      </p:sp>
      <p:sp>
        <p:nvSpPr>
          <p:cNvPr id="26" name="Text 24"/>
          <p:cNvSpPr/>
          <p:nvPr/>
        </p:nvSpPr>
        <p:spPr>
          <a:xfrm>
            <a:off x="1783080" y="470916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Validation Experiments</a:t>
            </a:r>
            <a:endParaRPr lang="en-US" sz="1500" dirty="0"/>
          </a:p>
        </p:txBody>
      </p:sp>
      <p:sp>
        <p:nvSpPr>
          <p:cNvPr id="27" name="Text 25"/>
          <p:cNvSpPr/>
          <p:nvPr/>
        </p:nvSpPr>
        <p:spPr>
          <a:xfrm>
            <a:off x="5669280" y="470916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Planted-bias (M7) + ObjectNet (M8) — both required</a:t>
            </a:r>
            <a:endParaRPr lang="en-US" sz="1250" dirty="0"/>
          </a:p>
        </p:txBody>
      </p:sp>
      <p:sp>
        <p:nvSpPr>
          <p:cNvPr id="28" name="Shape 26"/>
          <p:cNvSpPr/>
          <p:nvPr/>
        </p:nvSpPr>
        <p:spPr>
          <a:xfrm>
            <a:off x="640080" y="5303520"/>
            <a:ext cx="10881360" cy="548640"/>
          </a:xfrm>
          <a:prstGeom prst="roundRect">
            <a:avLst>
              <a:gd name="adj" fmla="val 16667"/>
            </a:avLst>
          </a:prstGeom>
          <a:solidFill>
            <a:srgbClr val="FFFFFF"/>
          </a:solidFill>
          <a:ln w="12700">
            <a:solidFill>
              <a:srgbClr val="E3E4F0"/>
            </a:solidFill>
            <a:prstDash val="solid"/>
          </a:ln>
        </p:spPr>
      </p:sp>
      <p:sp>
        <p:nvSpPr>
          <p:cNvPr id="29" name="Text 27"/>
          <p:cNvSpPr/>
          <p:nvPr/>
        </p:nvSpPr>
        <p:spPr>
          <a:xfrm>
            <a:off x="868680" y="534924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07</a:t>
            </a:r>
            <a:endParaRPr lang="en-US" sz="1800" dirty="0"/>
          </a:p>
        </p:txBody>
      </p:sp>
      <p:sp>
        <p:nvSpPr>
          <p:cNvPr id="30" name="Text 28"/>
          <p:cNvSpPr/>
          <p:nvPr/>
        </p:nvSpPr>
        <p:spPr>
          <a:xfrm>
            <a:off x="1783080" y="534924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Novelty &amp; Honest Limits</a:t>
            </a:r>
            <a:endParaRPr lang="en-US" sz="1500" dirty="0"/>
          </a:p>
        </p:txBody>
      </p:sp>
      <p:sp>
        <p:nvSpPr>
          <p:cNvPr id="31" name="Text 29"/>
          <p:cNvSpPr/>
          <p:nvPr/>
        </p:nvSpPr>
        <p:spPr>
          <a:xfrm>
            <a:off x="5669280" y="534924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Tool-not-method · dual-view · auto-screening · known failures</a:t>
            </a:r>
            <a:endParaRPr lang="en-US" sz="1250" dirty="0"/>
          </a:p>
        </p:txBody>
      </p:sp>
      <p:sp>
        <p:nvSpPr>
          <p:cNvPr id="32" name="Shape 30"/>
          <p:cNvSpPr/>
          <p:nvPr/>
        </p:nvSpPr>
        <p:spPr>
          <a:xfrm>
            <a:off x="640080" y="5943600"/>
            <a:ext cx="10881360" cy="548640"/>
          </a:xfrm>
          <a:prstGeom prst="roundRect">
            <a:avLst>
              <a:gd name="adj" fmla="val 16667"/>
            </a:avLst>
          </a:prstGeom>
          <a:solidFill>
            <a:srgbClr val="FFFFFF"/>
          </a:solidFill>
          <a:ln w="12700">
            <a:solidFill>
              <a:srgbClr val="E3E4F0"/>
            </a:solidFill>
            <a:prstDash val="solid"/>
          </a:ln>
        </p:spPr>
      </p:sp>
      <p:sp>
        <p:nvSpPr>
          <p:cNvPr id="33" name="Text 31"/>
          <p:cNvSpPr/>
          <p:nvPr/>
        </p:nvSpPr>
        <p:spPr>
          <a:xfrm>
            <a:off x="868680" y="5989320"/>
            <a:ext cx="822960" cy="457200"/>
          </a:xfrm>
          <a:prstGeom prst="rect">
            <a:avLst/>
          </a:prstGeom>
          <a:noFill/>
          <a:ln/>
        </p:spPr>
        <p:txBody>
          <a:bodyPr wrap="square" lIns="0" tIns="0" rIns="0" bIns="0" rtlCol="0" anchor="ctr"/>
          <a:lstStyle/>
          <a:p>
            <a:pPr indent="0" marL="0">
              <a:buNone/>
            </a:pPr>
            <a:r>
              <a:rPr lang="en-US" sz="1800" b="1" dirty="0">
                <a:solidFill>
                  <a:srgbClr val="00C9A7"/>
                </a:solidFill>
                <a:latin typeface="Calibri" pitchFamily="34" charset="0"/>
                <a:ea typeface="Calibri" pitchFamily="34" charset="-122"/>
                <a:cs typeface="Calibri" pitchFamily="34" charset="-120"/>
              </a:rPr>
              <a:t>08</a:t>
            </a:r>
            <a:endParaRPr lang="en-US" sz="1800" dirty="0"/>
          </a:p>
        </p:txBody>
      </p:sp>
      <p:sp>
        <p:nvSpPr>
          <p:cNvPr id="34" name="Text 32"/>
          <p:cNvSpPr/>
          <p:nvPr/>
        </p:nvSpPr>
        <p:spPr>
          <a:xfrm>
            <a:off x="1783080" y="5989320"/>
            <a:ext cx="3749040" cy="457200"/>
          </a:xfrm>
          <a:prstGeom prst="rect">
            <a:avLst/>
          </a:prstGeom>
          <a:noFill/>
          <a:ln/>
        </p:spPr>
        <p:txBody>
          <a:bodyPr wrap="square" lIns="0" tIns="0" rIns="0" bIns="0" rtlCol="0" anchor="ctr"/>
          <a:lstStyle/>
          <a:p>
            <a:pPr indent="0" marL="0">
              <a:buNone/>
            </a:pPr>
            <a:r>
              <a:rPr lang="en-US" sz="1500" b="1" dirty="0">
                <a:solidFill>
                  <a:srgbClr val="1F2340"/>
                </a:solidFill>
                <a:latin typeface="Calibri" pitchFamily="34" charset="0"/>
                <a:ea typeface="Calibri" pitchFamily="34" charset="-122"/>
                <a:cs typeface="Calibri" pitchFamily="34" charset="-120"/>
              </a:rPr>
              <a:t>Next Steps</a:t>
            </a:r>
            <a:endParaRPr lang="en-US" sz="1500" dirty="0"/>
          </a:p>
        </p:txBody>
      </p:sp>
      <p:sp>
        <p:nvSpPr>
          <p:cNvPr id="35" name="Text 33"/>
          <p:cNvSpPr/>
          <p:nvPr/>
        </p:nvSpPr>
        <p:spPr>
          <a:xfrm>
            <a:off x="5669280" y="5989320"/>
            <a:ext cx="5669280" cy="457200"/>
          </a:xfrm>
          <a:prstGeom prst="rect">
            <a:avLst/>
          </a:prstGeom>
          <a:noFill/>
          <a:ln/>
        </p:spPr>
        <p:txBody>
          <a:bodyPr wrap="square" lIns="0" tIns="0" rIns="0" bIns="0" rtlCol="0" anchor="ctr"/>
          <a:lstStyle/>
          <a:p>
            <a:pPr indent="0" marL="0">
              <a:buNone/>
            </a:pPr>
            <a:r>
              <a:rPr lang="en-US" sz="1250" dirty="0">
                <a:solidFill>
                  <a:srgbClr val="5A5F7A"/>
                </a:solidFill>
                <a:latin typeface="Calibri" pitchFamily="34" charset="0"/>
                <a:ea typeface="Calibri" pitchFamily="34" charset="-122"/>
                <a:cs typeface="Calibri" pitchFamily="34" charset="-120"/>
              </a:rPr>
              <a:t>M2 ViT extractor — the next gate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Problem &amp; Motivation</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Explanations exist — but they don't talk to each other</a:t>
            </a:r>
            <a:endParaRPr lang="en-US" sz="1500" dirty="0"/>
          </a:p>
        </p:txBody>
      </p:sp>
      <p:sp>
        <p:nvSpPr>
          <p:cNvPr id="4" name="Shape 2"/>
          <p:cNvSpPr/>
          <p:nvPr/>
        </p:nvSpPr>
        <p:spPr>
          <a:xfrm>
            <a:off x="640080" y="1645920"/>
            <a:ext cx="5394960" cy="2468880"/>
          </a:xfrm>
          <a:prstGeom prst="roundRect">
            <a:avLst>
              <a:gd name="adj" fmla="val 4444"/>
            </a:avLst>
          </a:prstGeom>
          <a:solidFill>
            <a:srgbClr val="FFFFFF"/>
          </a:solidFill>
          <a:ln w="12700">
            <a:solidFill>
              <a:srgbClr val="E3E4F0"/>
            </a:solidFill>
            <a:prstDash val="solid"/>
          </a:ln>
        </p:spPr>
      </p:sp>
      <p:sp>
        <p:nvSpPr>
          <p:cNvPr id="5" name="Text 3"/>
          <p:cNvSpPr/>
          <p:nvPr/>
        </p:nvSpPr>
        <p:spPr>
          <a:xfrm>
            <a:off x="914400" y="1828800"/>
            <a:ext cx="4846320" cy="457200"/>
          </a:xfrm>
          <a:prstGeom prst="rect">
            <a:avLst/>
          </a:prstGeom>
          <a:noFill/>
          <a:ln/>
        </p:spPr>
        <p:txBody>
          <a:bodyPr wrap="square" lIns="0" tIns="0" rIns="0" bIns="0" rtlCol="0" anchor="ctr"/>
          <a:lstStyle/>
          <a:p>
            <a:pPr indent="0" marL="0">
              <a:buNone/>
            </a:pPr>
            <a:r>
              <a:rPr lang="en-US" sz="1900" b="1" dirty="0">
                <a:solidFill>
                  <a:srgbClr val="2E2A72"/>
                </a:solidFill>
                <a:latin typeface="Cambria" pitchFamily="34" charset="0"/>
                <a:ea typeface="Cambria" pitchFamily="34" charset="-122"/>
                <a:cs typeface="Cambria" pitchFamily="34" charset="-120"/>
              </a:rPr>
              <a:t>The field is fragmented</a:t>
            </a:r>
            <a:endParaRPr lang="en-US" sz="1900" dirty="0"/>
          </a:p>
        </p:txBody>
      </p:sp>
      <p:sp>
        <p:nvSpPr>
          <p:cNvPr id="6" name="Text 4"/>
          <p:cNvSpPr/>
          <p:nvPr/>
        </p:nvSpPr>
        <p:spPr>
          <a:xfrm>
            <a:off x="914400" y="2377440"/>
            <a:ext cx="4937760" cy="164592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Attention maps (ViT) answer 'what does the model look at' — but they are class-agnostic.</a:t>
            </a:r>
            <a:endParaRPr lang="en-US" sz="1350" dirty="0"/>
          </a:p>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Attribution maps (Grad-CAM) answer 'what drove this decision' — class-specific.</a:t>
            </a:r>
            <a:endParaRPr lang="en-US" sz="1350" dirty="0"/>
          </a:p>
          <a:p>
            <a:pPr marL="342900" indent="-342900">
              <a:lnSpc>
                <a:spcPts val="1400"/>
              </a:lnSpc>
              <a:buSzPct val="100000"/>
              <a:buChar char="•"/>
            </a:pPr>
            <a:r>
              <a:rPr lang="en-US" sz="1350" dirty="0">
                <a:solidFill>
                  <a:srgbClr val="1F2340"/>
                </a:solidFill>
                <a:latin typeface="Calibri" pitchFamily="34" charset="0"/>
                <a:ea typeface="Calibri" pitchFamily="34" charset="-122"/>
                <a:cs typeface="Calibri" pitchFamily="34" charset="-120"/>
              </a:rPr>
              <a:t>No shared schema: comparing two architectures or two views today means bespoke glue.</a:t>
            </a:r>
            <a:endParaRPr lang="en-US" sz="1350" dirty="0"/>
          </a:p>
        </p:txBody>
      </p:sp>
      <p:sp>
        <p:nvSpPr>
          <p:cNvPr id="7" name="Shape 5"/>
          <p:cNvSpPr/>
          <p:nvPr/>
        </p:nvSpPr>
        <p:spPr>
          <a:xfrm>
            <a:off x="6217920" y="1645920"/>
            <a:ext cx="5394960" cy="2468880"/>
          </a:xfrm>
          <a:prstGeom prst="roundRect">
            <a:avLst>
              <a:gd name="adj" fmla="val 4444"/>
            </a:avLst>
          </a:prstGeom>
          <a:solidFill>
            <a:srgbClr val="FFFFFF"/>
          </a:solidFill>
          <a:ln w="12700">
            <a:solidFill>
              <a:srgbClr val="E3E4F0"/>
            </a:solidFill>
            <a:prstDash val="solid"/>
          </a:ln>
        </p:spPr>
      </p:sp>
      <p:sp>
        <p:nvSpPr>
          <p:cNvPr id="8" name="Text 6"/>
          <p:cNvSpPr/>
          <p:nvPr/>
        </p:nvSpPr>
        <p:spPr>
          <a:xfrm>
            <a:off x="6492240" y="1828800"/>
            <a:ext cx="4846320" cy="457200"/>
          </a:xfrm>
          <a:prstGeom prst="rect">
            <a:avLst/>
          </a:prstGeom>
          <a:noFill/>
          <a:ln/>
        </p:spPr>
        <p:txBody>
          <a:bodyPr wrap="square" lIns="0" tIns="0" rIns="0" bIns="0" rtlCol="0" anchor="ctr"/>
          <a:lstStyle/>
          <a:p>
            <a:pPr indent="0" marL="0">
              <a:buNone/>
            </a:pPr>
            <a:r>
              <a:rPr lang="en-US" sz="1900" b="1" dirty="0">
                <a:solidFill>
                  <a:srgbClr val="2E2A72"/>
                </a:solidFill>
                <a:latin typeface="Cambria" pitchFamily="34" charset="0"/>
                <a:ea typeface="Cambria" pitchFamily="34" charset="-122"/>
                <a:cs typeface="Cambria" pitchFamily="34" charset="-120"/>
              </a:rPr>
              <a:t>Bias goes unnoticed</a:t>
            </a:r>
            <a:endParaRPr lang="en-US" sz="1900" dirty="0"/>
          </a:p>
        </p:txBody>
      </p:sp>
      <p:sp>
        <p:nvSpPr>
          <p:cNvPr id="9" name="Text 7"/>
          <p:cNvSpPr/>
          <p:nvPr/>
        </p:nvSpPr>
        <p:spPr>
          <a:xfrm>
            <a:off x="6492240" y="2377440"/>
            <a:ext cx="4937760" cy="164592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Spurious correlations (backgrounds, textures, artifacts) silently inflate accuracy.</a:t>
            </a:r>
            <a:endParaRPr lang="en-US" sz="1350" dirty="0"/>
          </a:p>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Finding them today is manual, ad-hoc, and rarely automated end-to-end.</a:t>
            </a:r>
            <a:endParaRPr lang="en-US" sz="1350" dirty="0"/>
          </a:p>
          <a:p>
            <a:pPr marL="342900" indent="-342900">
              <a:lnSpc>
                <a:spcPts val="1400"/>
              </a:lnSpc>
              <a:buSzPct val="100000"/>
              <a:buChar char="•"/>
            </a:pPr>
            <a:r>
              <a:rPr lang="en-US" sz="1350" dirty="0">
                <a:solidFill>
                  <a:srgbClr val="1F2340"/>
                </a:solidFill>
                <a:latin typeface="Calibri" pitchFamily="34" charset="0"/>
                <a:ea typeface="Calibri" pitchFamily="34" charset="-122"/>
                <a:cs typeface="Calibri" pitchFamily="34" charset="-120"/>
              </a:rPr>
              <a:t>Engineers need a verdict — not another heatmap to eyeball.</a:t>
            </a:r>
            <a:endParaRPr lang="en-US" sz="1350" dirty="0"/>
          </a:p>
        </p:txBody>
      </p:sp>
      <p:sp>
        <p:nvSpPr>
          <p:cNvPr id="10" name="Shape 8"/>
          <p:cNvSpPr/>
          <p:nvPr/>
        </p:nvSpPr>
        <p:spPr>
          <a:xfrm>
            <a:off x="640080" y="4389120"/>
            <a:ext cx="10972800" cy="1737360"/>
          </a:xfrm>
          <a:prstGeom prst="roundRect">
            <a:avLst>
              <a:gd name="adj" fmla="val 6316"/>
            </a:avLst>
          </a:prstGeom>
          <a:solidFill>
            <a:srgbClr val="E6F7F4"/>
          </a:solidFill>
          <a:ln/>
        </p:spPr>
      </p:sp>
      <p:sp>
        <p:nvSpPr>
          <p:cNvPr id="11" name="Text 9"/>
          <p:cNvSpPr/>
          <p:nvPr/>
        </p:nvSpPr>
        <p:spPr>
          <a:xfrm>
            <a:off x="914400" y="4572000"/>
            <a:ext cx="3657600" cy="457200"/>
          </a:xfrm>
          <a:prstGeom prst="rect">
            <a:avLst/>
          </a:prstGeom>
          <a:noFill/>
          <a:ln/>
        </p:spPr>
        <p:txBody>
          <a:bodyPr wrap="square" lIns="0" tIns="0" rIns="0" bIns="0" rtlCol="0" anchor="ctr"/>
          <a:lstStyle/>
          <a:p>
            <a:pPr indent="0" marL="0">
              <a:buNone/>
            </a:pPr>
            <a:r>
              <a:rPr lang="en-US" sz="1800" b="1" dirty="0">
                <a:solidFill>
                  <a:srgbClr val="006B59"/>
                </a:solidFill>
                <a:latin typeface="Cambria" pitchFamily="34" charset="0"/>
                <a:ea typeface="Cambria" pitchFamily="34" charset="-122"/>
                <a:cs typeface="Cambria" pitchFamily="34" charset="-120"/>
              </a:rPr>
              <a:t>One framework, two jobs</a:t>
            </a:r>
            <a:endParaRPr lang="en-US" sz="1800" dirty="0"/>
          </a:p>
        </p:txBody>
      </p:sp>
      <p:sp>
        <p:nvSpPr>
          <p:cNvPr id="12" name="Text 10"/>
          <p:cNvSpPr/>
          <p:nvPr/>
        </p:nvSpPr>
        <p:spPr>
          <a:xfrm>
            <a:off x="914400" y="5074920"/>
            <a:ext cx="10424160" cy="960120"/>
          </a:xfrm>
          <a:prstGeom prst="rect">
            <a:avLst/>
          </a:prstGeom>
          <a:noFill/>
          <a:ln/>
        </p:spPr>
        <p:txBody>
          <a:bodyPr wrap="square" lIns="0" tIns="0" rIns="0" bIns="0" rtlCol="0" anchor="ctr"/>
          <a:lstStyle/>
          <a:p>
            <a:pPr indent="0" marL="0">
              <a:buNone/>
            </a:pPr>
            <a:r>
              <a:rPr lang="en-US" sz="1400" dirty="0">
                <a:solidFill>
                  <a:srgbClr val="1F3D36"/>
                </a:solidFill>
                <a:latin typeface="Calibri" pitchFamily="34" charset="0"/>
                <a:ea typeface="Calibri" pitchFamily="34" charset="-122"/>
                <a:cs typeface="Calibri" pitchFamily="34" charset="-120"/>
              </a:rPr>
              <a:t>① A unified CNN ⇄ ViT abstraction — every layer yields a standard LayerMap (native attention + class-conditioned relevance).   ② An automated bias-screening layer — attention-quality metrics and intervention experiments that produce a verdict, in the tradition of SHAP / Captum as a deployable tool.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Design — the Dual-View LayerMap</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Every layer, two views, one schema</a:t>
            </a:r>
            <a:endParaRPr lang="en-US" sz="1500" dirty="0"/>
          </a:p>
        </p:txBody>
      </p:sp>
      <p:sp>
        <p:nvSpPr>
          <p:cNvPr id="4" name="Shape 2"/>
          <p:cNvSpPr/>
          <p:nvPr/>
        </p:nvSpPr>
        <p:spPr>
          <a:xfrm>
            <a:off x="640080" y="1691640"/>
            <a:ext cx="5440680" cy="2468880"/>
          </a:xfrm>
          <a:prstGeom prst="roundRect">
            <a:avLst>
              <a:gd name="adj" fmla="val 4444"/>
            </a:avLst>
          </a:prstGeom>
          <a:solidFill>
            <a:srgbClr val="FFFFFF"/>
          </a:solidFill>
          <a:ln w="12700">
            <a:solidFill>
              <a:srgbClr val="E3E4F0"/>
            </a:solidFill>
            <a:prstDash val="solid"/>
          </a:ln>
        </p:spPr>
      </p:sp>
      <p:sp>
        <p:nvSpPr>
          <p:cNvPr id="5" name="Text 3"/>
          <p:cNvSpPr/>
          <p:nvPr/>
        </p:nvSpPr>
        <p:spPr>
          <a:xfrm>
            <a:off x="914400" y="1828800"/>
            <a:ext cx="4846320" cy="457200"/>
          </a:xfrm>
          <a:prstGeom prst="rect">
            <a:avLst/>
          </a:prstGeom>
          <a:noFill/>
          <a:ln/>
        </p:spPr>
        <p:txBody>
          <a:bodyPr wrap="square" lIns="0" tIns="0" rIns="0" bIns="0" rtlCol="0" anchor="ctr"/>
          <a:lstStyle/>
          <a:p>
            <a:pPr indent="0" marL="0">
              <a:buNone/>
            </a:pPr>
            <a:r>
              <a:rPr lang="en-US" sz="1700" b="1" dirty="0">
                <a:solidFill>
                  <a:srgbClr val="2E2A72"/>
                </a:solidFill>
                <a:latin typeface="Cambria" pitchFamily="34" charset="0"/>
                <a:ea typeface="Cambria" pitchFamily="34" charset="-122"/>
                <a:cs typeface="Cambria" pitchFamily="34" charset="-120"/>
              </a:rPr>
              <a:t>Native view — what the model attends to</a:t>
            </a:r>
            <a:endParaRPr lang="en-US" sz="1700" dirty="0"/>
          </a:p>
        </p:txBody>
      </p:sp>
      <p:sp>
        <p:nvSpPr>
          <p:cNvPr id="6" name="Text 4"/>
          <p:cNvSpPr/>
          <p:nvPr/>
        </p:nvSpPr>
        <p:spPr>
          <a:xfrm>
            <a:off x="914400" y="2377440"/>
            <a:ext cx="4937760" cy="173736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Mechanism's own signal (CNN channel-mean, ViT attention rollout)</a:t>
            </a:r>
            <a:endParaRPr lang="en-US" sz="1350" dirty="0"/>
          </a:p>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Class-agnostic — broad by design, high entropy</a:t>
            </a:r>
            <a:endParaRPr lang="en-US" sz="1350" dirty="0"/>
          </a:p>
          <a:p>
            <a:pPr marL="342900" indent="-342900">
              <a:lnSpc>
                <a:spcPts val="1400"/>
              </a:lnSpc>
              <a:buSzPct val="100000"/>
              <a:buChar char="•"/>
            </a:pPr>
            <a:r>
              <a:rPr lang="en-US" sz="1350" dirty="0">
                <a:solidFill>
                  <a:srgbClr val="1F2340"/>
                </a:solidFill>
                <a:latin typeface="Calibri" pitchFamily="34" charset="0"/>
                <a:ea typeface="Calibri" pitchFamily="34" charset="-122"/>
                <a:cs typeface="Calibri" pitchFamily="34" charset="-120"/>
              </a:rPr>
              <a:t>Answers 'where does the mechanism focus?'</a:t>
            </a:r>
            <a:endParaRPr lang="en-US" sz="1350" dirty="0"/>
          </a:p>
        </p:txBody>
      </p:sp>
      <p:sp>
        <p:nvSpPr>
          <p:cNvPr id="7" name="Shape 5"/>
          <p:cNvSpPr/>
          <p:nvPr/>
        </p:nvSpPr>
        <p:spPr>
          <a:xfrm>
            <a:off x="6217920" y="1691640"/>
            <a:ext cx="5440680" cy="2468880"/>
          </a:xfrm>
          <a:prstGeom prst="roundRect">
            <a:avLst>
              <a:gd name="adj" fmla="val 4444"/>
            </a:avLst>
          </a:prstGeom>
          <a:solidFill>
            <a:srgbClr val="FFFFFF"/>
          </a:solidFill>
          <a:ln w="12700">
            <a:solidFill>
              <a:srgbClr val="E3E4F0"/>
            </a:solidFill>
            <a:prstDash val="solid"/>
          </a:ln>
        </p:spPr>
      </p:sp>
      <p:sp>
        <p:nvSpPr>
          <p:cNvPr id="8" name="Text 6"/>
          <p:cNvSpPr/>
          <p:nvPr/>
        </p:nvSpPr>
        <p:spPr>
          <a:xfrm>
            <a:off x="6492240" y="1828800"/>
            <a:ext cx="4846320" cy="457200"/>
          </a:xfrm>
          <a:prstGeom prst="rect">
            <a:avLst/>
          </a:prstGeom>
          <a:noFill/>
          <a:ln/>
        </p:spPr>
        <p:txBody>
          <a:bodyPr wrap="square" lIns="0" tIns="0" rIns="0" bIns="0" rtlCol="0" anchor="ctr"/>
          <a:lstStyle/>
          <a:p>
            <a:pPr indent="0" marL="0">
              <a:buNone/>
            </a:pPr>
            <a:r>
              <a:rPr lang="en-US" sz="1700" b="1" dirty="0">
                <a:solidFill>
                  <a:srgbClr val="2E2A72"/>
                </a:solidFill>
                <a:latin typeface="Cambria" pitchFamily="34" charset="0"/>
                <a:ea typeface="Cambria" pitchFamily="34" charset="-122"/>
                <a:cs typeface="Cambria" pitchFamily="34" charset="-120"/>
              </a:rPr>
              <a:t>Class-conditioned view — why the model decided</a:t>
            </a:r>
            <a:endParaRPr lang="en-US" sz="1700" dirty="0"/>
          </a:p>
        </p:txBody>
      </p:sp>
      <p:sp>
        <p:nvSpPr>
          <p:cNvPr id="9" name="Text 7"/>
          <p:cNvSpPr/>
          <p:nvPr/>
        </p:nvSpPr>
        <p:spPr>
          <a:xfrm>
            <a:off x="6492240" y="2377440"/>
            <a:ext cx="4937760" cy="173736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Decision evidence (Captum LayerGradCam; class-weighted rollout / LRP / token attr for ViT)</a:t>
            </a:r>
            <a:endParaRPr lang="en-US" sz="1350" dirty="0"/>
          </a:p>
          <a:p>
            <a:pPr marL="342900" indent="-342900">
              <a:lnSpc>
                <a:spcPts val="1400"/>
              </a:lnSpc>
              <a:spcAft>
                <a:spcPts val="600"/>
              </a:spcAft>
              <a:buSzPct val="100000"/>
              <a:buChar char="•"/>
            </a:pPr>
            <a:r>
              <a:rPr lang="en-US" sz="1350" dirty="0">
                <a:solidFill>
                  <a:srgbClr val="1F2340"/>
                </a:solidFill>
                <a:latin typeface="Calibri" pitchFamily="34" charset="0"/>
                <a:ea typeface="Calibri" pitchFamily="34" charset="-122"/>
                <a:cs typeface="Calibri" pitchFamily="34" charset="-120"/>
              </a:rPr>
              <a:t>Class-specific — sharp, ReLU'd, evidence for one class</a:t>
            </a:r>
            <a:endParaRPr lang="en-US" sz="1350" dirty="0"/>
          </a:p>
          <a:p>
            <a:pPr marL="342900" indent="-342900">
              <a:lnSpc>
                <a:spcPts val="1400"/>
              </a:lnSpc>
              <a:buSzPct val="100000"/>
              <a:buChar char="•"/>
            </a:pPr>
            <a:r>
              <a:rPr lang="en-US" sz="1350" dirty="0">
                <a:solidFill>
                  <a:srgbClr val="1F2340"/>
                </a:solidFill>
                <a:latin typeface="Calibri" pitchFamily="34" charset="0"/>
                <a:ea typeface="Calibri" pitchFamily="34" charset="-122"/>
                <a:cs typeface="Calibri" pitchFamily="34" charset="-120"/>
              </a:rPr>
              <a:t>Screening verdicts always rest on this view (the comparable one)</a:t>
            </a:r>
            <a:endParaRPr lang="en-US" sz="1350" dirty="0"/>
          </a:p>
        </p:txBody>
      </p:sp>
      <p:sp>
        <p:nvSpPr>
          <p:cNvPr id="10" name="Shape 8"/>
          <p:cNvSpPr/>
          <p:nvPr/>
        </p:nvSpPr>
        <p:spPr>
          <a:xfrm>
            <a:off x="640080" y="4389120"/>
            <a:ext cx="10972800" cy="1737360"/>
          </a:xfrm>
          <a:prstGeom prst="roundRect">
            <a:avLst>
              <a:gd name="adj" fmla="val 6316"/>
            </a:avLst>
          </a:prstGeom>
          <a:solidFill>
            <a:srgbClr val="E6F7F4"/>
          </a:solidFill>
          <a:ln/>
        </p:spPr>
      </p:sp>
      <p:sp>
        <p:nvSpPr>
          <p:cNvPr id="11" name="Text 9"/>
          <p:cNvSpPr/>
          <p:nvPr/>
        </p:nvSpPr>
        <p:spPr>
          <a:xfrm>
            <a:off x="914400" y="4526280"/>
            <a:ext cx="10424160" cy="457200"/>
          </a:xfrm>
          <a:prstGeom prst="rect">
            <a:avLst/>
          </a:prstGeom>
          <a:noFill/>
          <a:ln/>
        </p:spPr>
        <p:txBody>
          <a:bodyPr wrap="square" lIns="0" tIns="0" rIns="0" bIns="0" rtlCol="0" anchor="ctr"/>
          <a:lstStyle/>
          <a:p>
            <a:pPr indent="0" marL="0">
              <a:buNone/>
            </a:pPr>
            <a:r>
              <a:rPr lang="en-US" sz="1700" b="1" dirty="0">
                <a:solidFill>
                  <a:srgbClr val="006B59"/>
                </a:solidFill>
                <a:latin typeface="Cambria" pitchFamily="34" charset="0"/>
                <a:ea typeface="Cambria" pitchFamily="34" charset="-122"/>
                <a:cs typeface="Cambria" pitchFamily="34" charset="-120"/>
              </a:rPr>
              <a:t>Why two views?  Naive comparison is meaningless.</a:t>
            </a:r>
            <a:endParaRPr lang="en-US" sz="1700" dirty="0"/>
          </a:p>
        </p:txBody>
      </p:sp>
      <p:sp>
        <p:nvSpPr>
          <p:cNvPr id="12" name="Text 10"/>
          <p:cNvSpPr/>
          <p:nvPr/>
        </p:nvSpPr>
        <p:spPr>
          <a:xfrm>
            <a:off x="914400" y="5029200"/>
            <a:ext cx="10424160" cy="1051560"/>
          </a:xfrm>
          <a:prstGeom prst="rect">
            <a:avLst/>
          </a:prstGeom>
          <a:noFill/>
          <a:ln/>
        </p:spPr>
        <p:txBody>
          <a:bodyPr wrap="square" lIns="0" tIns="0" rIns="0" bIns="0" rtlCol="0" anchor="ctr"/>
          <a:lstStyle/>
          <a:p>
            <a:pPr indent="0" marL="0">
              <a:buNone/>
            </a:pPr>
            <a:r>
              <a:rPr lang="en-US" sz="1400" dirty="0">
                <a:solidFill>
                  <a:srgbClr val="1F3D36"/>
                </a:solidFill>
                <a:latin typeface="Calibri" pitchFamily="34" charset="0"/>
                <a:ea typeface="Calibri" pitchFamily="34" charset="-122"/>
                <a:cs typeface="Calibri" pitchFamily="34" charset="-120"/>
              </a:rPr>
              <a:t>ViT attention and Grad-CAM are not the same kind of thing — the first is class-agnostic info flow, the second is class-specific decision evidence. Putting both behind one LayerMap dataclass makes CNN � ViT comparison honest by construction. Verified by tests/test_schema.py on Arjun.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The Pipeline — six stages, one loop</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Each stage emits; the loop closes on a verdict</a:t>
            </a:r>
            <a:endParaRPr lang="en-US" sz="1500" dirty="0"/>
          </a:p>
        </p:txBody>
      </p:sp>
      <p:sp>
        <p:nvSpPr>
          <p:cNvPr id="4" name="Shape 2"/>
          <p:cNvSpPr/>
          <p:nvPr/>
        </p:nvSpPr>
        <p:spPr>
          <a:xfrm>
            <a:off x="411480" y="1828800"/>
            <a:ext cx="1828800" cy="1280160"/>
          </a:xfrm>
          <a:prstGeom prst="roundRect">
            <a:avLst>
              <a:gd name="adj" fmla="val 7143"/>
            </a:avLst>
          </a:prstGeom>
          <a:solidFill>
            <a:srgbClr val="7CE0E3"/>
          </a:solidFill>
          <a:ln/>
        </p:spPr>
      </p:sp>
      <p:sp>
        <p:nvSpPr>
          <p:cNvPr id="5" name="Text 3"/>
          <p:cNvSpPr/>
          <p:nvPr/>
        </p:nvSpPr>
        <p:spPr>
          <a:xfrm>
            <a:off x="411480" y="192024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STAGE 1</a:t>
            </a:r>
            <a:endParaRPr lang="en-US" sz="1000" dirty="0"/>
          </a:p>
        </p:txBody>
      </p:sp>
      <p:sp>
        <p:nvSpPr>
          <p:cNvPr id="6" name="Text 4"/>
          <p:cNvSpPr/>
          <p:nvPr/>
        </p:nvSpPr>
        <p:spPr>
          <a:xfrm>
            <a:off x="411480"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Image</a:t>
            </a:r>
            <a:endParaRPr lang="en-US" sz="1700" dirty="0"/>
          </a:p>
        </p:txBody>
      </p:sp>
      <p:sp>
        <p:nvSpPr>
          <p:cNvPr id="7" name="Text 5"/>
          <p:cNvSpPr/>
          <p:nvPr/>
        </p:nvSpPr>
        <p:spPr>
          <a:xfrm>
            <a:off x="411480" y="2670048"/>
            <a:ext cx="18288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224×224 RGB</a:t>
            </a:r>
            <a:endParaRPr lang="en-US" sz="1000" dirty="0"/>
          </a:p>
        </p:txBody>
      </p:sp>
      <p:sp>
        <p:nvSpPr>
          <p:cNvPr id="8" name="Text 6"/>
          <p:cNvSpPr/>
          <p:nvPr/>
        </p:nvSpPr>
        <p:spPr>
          <a:xfrm>
            <a:off x="2244852" y="2331720"/>
            <a:ext cx="146304"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414016" y="1828800"/>
            <a:ext cx="1828800" cy="1280160"/>
          </a:xfrm>
          <a:prstGeom prst="roundRect">
            <a:avLst>
              <a:gd name="adj" fmla="val 7143"/>
            </a:avLst>
          </a:prstGeom>
          <a:solidFill>
            <a:srgbClr val="00C9A7"/>
          </a:solidFill>
          <a:ln/>
        </p:spPr>
      </p:sp>
      <p:sp>
        <p:nvSpPr>
          <p:cNvPr id="10" name="Text 8"/>
          <p:cNvSpPr/>
          <p:nvPr/>
        </p:nvSpPr>
        <p:spPr>
          <a:xfrm>
            <a:off x="2414016" y="192024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STAGE 2</a:t>
            </a:r>
            <a:endParaRPr lang="en-US" sz="1000" dirty="0"/>
          </a:p>
        </p:txBody>
      </p:sp>
      <p:sp>
        <p:nvSpPr>
          <p:cNvPr id="11" name="Text 9"/>
          <p:cNvSpPr/>
          <p:nvPr/>
        </p:nvSpPr>
        <p:spPr>
          <a:xfrm>
            <a:off x="2414016"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Inference</a:t>
            </a:r>
            <a:endParaRPr lang="en-US" sz="1700" dirty="0"/>
          </a:p>
        </p:txBody>
      </p:sp>
      <p:sp>
        <p:nvSpPr>
          <p:cNvPr id="12" name="Text 10"/>
          <p:cNvSpPr/>
          <p:nvPr/>
        </p:nvSpPr>
        <p:spPr>
          <a:xfrm>
            <a:off x="2414016" y="2670048"/>
            <a:ext cx="18288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ResNet-50 · ViT-B/16</a:t>
            </a:r>
            <a:endParaRPr lang="en-US" sz="1000" dirty="0"/>
          </a:p>
        </p:txBody>
      </p:sp>
      <p:sp>
        <p:nvSpPr>
          <p:cNvPr id="13" name="Text 11"/>
          <p:cNvSpPr/>
          <p:nvPr/>
        </p:nvSpPr>
        <p:spPr>
          <a:xfrm>
            <a:off x="4247388" y="2331720"/>
            <a:ext cx="146304"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4416552" y="1828800"/>
            <a:ext cx="1828800" cy="1280160"/>
          </a:xfrm>
          <a:prstGeom prst="roundRect">
            <a:avLst>
              <a:gd name="adj" fmla="val 7143"/>
            </a:avLst>
          </a:prstGeom>
          <a:solidFill>
            <a:srgbClr val="D9534F"/>
          </a:solidFill>
          <a:ln/>
        </p:spPr>
      </p:sp>
      <p:sp>
        <p:nvSpPr>
          <p:cNvPr id="15" name="Text 13"/>
          <p:cNvSpPr/>
          <p:nvPr/>
        </p:nvSpPr>
        <p:spPr>
          <a:xfrm>
            <a:off x="4416552" y="192024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STAGE 3</a:t>
            </a:r>
            <a:endParaRPr lang="en-US" sz="1000" dirty="0"/>
          </a:p>
        </p:txBody>
      </p:sp>
      <p:sp>
        <p:nvSpPr>
          <p:cNvPr id="16" name="Text 14"/>
          <p:cNvSpPr/>
          <p:nvPr/>
        </p:nvSpPr>
        <p:spPr>
          <a:xfrm>
            <a:off x="4416552"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Dual-view</a:t>
            </a:r>
            <a:endParaRPr lang="en-US" sz="1700" dirty="0"/>
          </a:p>
        </p:txBody>
      </p:sp>
      <p:sp>
        <p:nvSpPr>
          <p:cNvPr id="17" name="Text 15"/>
          <p:cNvSpPr/>
          <p:nvPr/>
        </p:nvSpPr>
        <p:spPr>
          <a:xfrm>
            <a:off x="4416552" y="2670048"/>
            <a:ext cx="18288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native + class-cond</a:t>
            </a:r>
            <a:endParaRPr lang="en-US" sz="1000" dirty="0"/>
          </a:p>
        </p:txBody>
      </p:sp>
      <p:sp>
        <p:nvSpPr>
          <p:cNvPr id="18" name="Text 16"/>
          <p:cNvSpPr/>
          <p:nvPr/>
        </p:nvSpPr>
        <p:spPr>
          <a:xfrm>
            <a:off x="6249924" y="2331720"/>
            <a:ext cx="146304"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6419088" y="1828800"/>
            <a:ext cx="1828800" cy="1280160"/>
          </a:xfrm>
          <a:prstGeom prst="roundRect">
            <a:avLst>
              <a:gd name="adj" fmla="val 7143"/>
            </a:avLst>
          </a:prstGeom>
          <a:solidFill>
            <a:srgbClr val="2E2A72"/>
          </a:solidFill>
          <a:ln/>
        </p:spPr>
      </p:sp>
      <p:sp>
        <p:nvSpPr>
          <p:cNvPr id="20" name="Text 18"/>
          <p:cNvSpPr/>
          <p:nvPr/>
        </p:nvSpPr>
        <p:spPr>
          <a:xfrm>
            <a:off x="6419088" y="192024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STAGE 4</a:t>
            </a:r>
            <a:endParaRPr lang="en-US" sz="1000" dirty="0"/>
          </a:p>
        </p:txBody>
      </p:sp>
      <p:sp>
        <p:nvSpPr>
          <p:cNvPr id="21" name="Text 19"/>
          <p:cNvSpPr/>
          <p:nvPr/>
        </p:nvSpPr>
        <p:spPr>
          <a:xfrm>
            <a:off x="6419088"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Metrics</a:t>
            </a:r>
            <a:endParaRPr lang="en-US" sz="1700" dirty="0"/>
          </a:p>
        </p:txBody>
      </p:sp>
      <p:sp>
        <p:nvSpPr>
          <p:cNvPr id="22" name="Text 20"/>
          <p:cNvSpPr/>
          <p:nvPr/>
        </p:nvSpPr>
        <p:spPr>
          <a:xfrm>
            <a:off x="6419088" y="2670048"/>
            <a:ext cx="18288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entropy · locality ·</a:t>
            </a:r>
            <a:endParaRPr lang="en-US" sz="1000" dirty="0"/>
          </a:p>
        </p:txBody>
      </p:sp>
      <p:sp>
        <p:nvSpPr>
          <p:cNvPr id="23" name="Text 21"/>
          <p:cNvSpPr/>
          <p:nvPr/>
        </p:nvSpPr>
        <p:spPr>
          <a:xfrm>
            <a:off x="8252460" y="2331720"/>
            <a:ext cx="146304"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8421624" y="1828800"/>
            <a:ext cx="1828800" cy="1280160"/>
          </a:xfrm>
          <a:prstGeom prst="roundRect">
            <a:avLst>
              <a:gd name="adj" fmla="val 7143"/>
            </a:avLst>
          </a:prstGeom>
          <a:solidFill>
            <a:srgbClr val="5A5F7A"/>
          </a:solidFill>
          <a:ln/>
        </p:spPr>
      </p:sp>
      <p:sp>
        <p:nvSpPr>
          <p:cNvPr id="25" name="Text 23"/>
          <p:cNvSpPr/>
          <p:nvPr/>
        </p:nvSpPr>
        <p:spPr>
          <a:xfrm>
            <a:off x="8421624" y="192024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STAGE 5</a:t>
            </a:r>
            <a:endParaRPr lang="en-US" sz="1000" dirty="0"/>
          </a:p>
        </p:txBody>
      </p:sp>
      <p:sp>
        <p:nvSpPr>
          <p:cNvPr id="26" name="Text 24"/>
          <p:cNvSpPr/>
          <p:nvPr/>
        </p:nvSpPr>
        <p:spPr>
          <a:xfrm>
            <a:off x="8421624"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Intervention</a:t>
            </a:r>
            <a:endParaRPr lang="en-US" sz="1700" dirty="0"/>
          </a:p>
        </p:txBody>
      </p:sp>
      <p:sp>
        <p:nvSpPr>
          <p:cNvPr id="27" name="Text 25"/>
          <p:cNvSpPr/>
          <p:nvPr/>
        </p:nvSpPr>
        <p:spPr>
          <a:xfrm>
            <a:off x="8421624" y="2670048"/>
            <a:ext cx="18288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mask → re-run</a:t>
            </a:r>
            <a:endParaRPr lang="en-US" sz="1000" dirty="0"/>
          </a:p>
        </p:txBody>
      </p:sp>
      <p:sp>
        <p:nvSpPr>
          <p:cNvPr id="28" name="Text 26"/>
          <p:cNvSpPr/>
          <p:nvPr/>
        </p:nvSpPr>
        <p:spPr>
          <a:xfrm>
            <a:off x="10254996" y="2331720"/>
            <a:ext cx="146304"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10424160" y="1828800"/>
            <a:ext cx="1828800" cy="1280160"/>
          </a:xfrm>
          <a:prstGeom prst="roundRect">
            <a:avLst>
              <a:gd name="adj" fmla="val 7143"/>
            </a:avLst>
          </a:prstGeom>
          <a:solidFill>
            <a:srgbClr val="006B59"/>
          </a:solidFill>
          <a:ln/>
        </p:spPr>
      </p:sp>
      <p:sp>
        <p:nvSpPr>
          <p:cNvPr id="30" name="Text 28"/>
          <p:cNvSpPr/>
          <p:nvPr/>
        </p:nvSpPr>
        <p:spPr>
          <a:xfrm>
            <a:off x="10424160" y="1920240"/>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STAGE 6</a:t>
            </a:r>
            <a:endParaRPr lang="en-US" sz="1000" dirty="0"/>
          </a:p>
        </p:txBody>
      </p:sp>
      <p:sp>
        <p:nvSpPr>
          <p:cNvPr id="31" name="Text 29"/>
          <p:cNvSpPr/>
          <p:nvPr/>
        </p:nvSpPr>
        <p:spPr>
          <a:xfrm>
            <a:off x="10424160"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Verdict</a:t>
            </a:r>
            <a:endParaRPr lang="en-US" sz="1700" dirty="0"/>
          </a:p>
        </p:txBody>
      </p:sp>
      <p:sp>
        <p:nvSpPr>
          <p:cNvPr id="32" name="Text 30"/>
          <p:cNvSpPr/>
          <p:nvPr/>
        </p:nvSpPr>
        <p:spPr>
          <a:xfrm>
            <a:off x="10424160" y="2670048"/>
            <a:ext cx="182880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screening report</a:t>
            </a:r>
            <a:endParaRPr lang="en-US" sz="1000" dirty="0"/>
          </a:p>
        </p:txBody>
      </p:sp>
      <p:sp>
        <p:nvSpPr>
          <p:cNvPr id="33" name="Shape 31"/>
          <p:cNvSpPr/>
          <p:nvPr/>
        </p:nvSpPr>
        <p:spPr>
          <a:xfrm>
            <a:off x="640080" y="3383280"/>
            <a:ext cx="10972800" cy="502920"/>
          </a:xfrm>
          <a:prstGeom prst="roundRect">
            <a:avLst>
              <a:gd name="adj" fmla="val 14545"/>
            </a:avLst>
          </a:prstGeom>
          <a:solidFill>
            <a:srgbClr val="FFF6E6"/>
          </a:solidFill>
          <a:ln w="12700">
            <a:solidFill>
              <a:srgbClr val="E5C07B"/>
            </a:solidFill>
            <a:prstDash val="solid"/>
          </a:ln>
        </p:spPr>
      </p:sp>
      <p:sp>
        <p:nvSpPr>
          <p:cNvPr id="34" name="Text 32"/>
          <p:cNvSpPr/>
          <p:nvPr/>
        </p:nvSpPr>
        <p:spPr>
          <a:xfrm>
            <a:off x="777240" y="3456432"/>
            <a:ext cx="10698480" cy="365760"/>
          </a:xfrm>
          <a:prstGeom prst="rect">
            <a:avLst/>
          </a:prstGeom>
          <a:noFill/>
          <a:ln/>
        </p:spPr>
        <p:txBody>
          <a:bodyPr wrap="square" lIns="0" tIns="0" rIns="0" bIns="0" rtlCol="0" anchor="ctr"/>
          <a:lstStyle/>
          <a:p>
            <a:pPr indent="0" marL="0">
              <a:buNone/>
            </a:pPr>
            <a:r>
              <a:rPr lang="en-US" sz="1250" dirty="0">
                <a:solidFill>
                  <a:srgbClr val="6B4A12"/>
                </a:solidFill>
                <a:latin typeface="Calibri" pitchFamily="34" charset="0"/>
                <a:ea typeface="Calibri" pitchFamily="34" charset="-122"/>
                <a:cs typeface="Calibri" pitchFamily="34" charset="-120"/>
              </a:rPr>
              <a:t>Stage 5 (intervention) can re-enter Stage 3 with a masked image → evidence is causal, not correlative.</a:t>
            </a:r>
            <a:endParaRPr lang="en-US" sz="1250" dirty="0"/>
          </a:p>
        </p:txBody>
      </p:sp>
      <p:sp>
        <p:nvSpPr>
          <p:cNvPr id="35" name="Shape 33"/>
          <p:cNvSpPr/>
          <p:nvPr/>
        </p:nvSpPr>
        <p:spPr>
          <a:xfrm>
            <a:off x="640080" y="4069080"/>
            <a:ext cx="10972800" cy="411480"/>
          </a:xfrm>
          <a:prstGeom prst="roundRect">
            <a:avLst>
              <a:gd name="adj" fmla="val 13333"/>
            </a:avLst>
          </a:prstGeom>
          <a:solidFill>
            <a:srgbClr val="FFFFFF"/>
          </a:solidFill>
          <a:ln w="12700">
            <a:solidFill>
              <a:srgbClr val="E3E4F0"/>
            </a:solidFill>
            <a:prstDash val="solid"/>
          </a:ln>
        </p:spPr>
      </p:sp>
      <p:sp>
        <p:nvSpPr>
          <p:cNvPr id="36" name="Text 34"/>
          <p:cNvSpPr/>
          <p:nvPr/>
        </p:nvSpPr>
        <p:spPr>
          <a:xfrm>
            <a:off x="822960" y="4114800"/>
            <a:ext cx="1280160" cy="320040"/>
          </a:xfrm>
          <a:prstGeom prst="rect">
            <a:avLst/>
          </a:prstGeom>
          <a:noFill/>
          <a:ln/>
        </p:spPr>
        <p:txBody>
          <a:bodyPr wrap="square" lIns="0" tIns="0" rIns="0" bIns="0" rtlCol="0" anchor="ctr"/>
          <a:lstStyle/>
          <a:p>
            <a:pPr indent="0" marL="0">
              <a:buNone/>
            </a:pPr>
            <a:r>
              <a:rPr lang="en-US" sz="1150" b="1" dirty="0">
                <a:solidFill>
                  <a:srgbClr val="1F2340"/>
                </a:solidFill>
                <a:latin typeface="Calibri" pitchFamily="34" charset="0"/>
                <a:ea typeface="Calibri" pitchFamily="34" charset="-122"/>
                <a:cs typeface="Calibri" pitchFamily="34" charset="-120"/>
              </a:rPr>
              <a:t>Stage 1</a:t>
            </a:r>
            <a:endParaRPr lang="en-US" sz="1150" dirty="0"/>
          </a:p>
        </p:txBody>
      </p:sp>
      <p:sp>
        <p:nvSpPr>
          <p:cNvPr id="37" name="Text 35"/>
          <p:cNvSpPr/>
          <p:nvPr/>
        </p:nvSpPr>
        <p:spPr>
          <a:xfrm>
            <a:off x="2194560" y="4114800"/>
            <a:ext cx="9326880" cy="32004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Tensor [1,3,224,224] fp32 (reversible to pixels)</a:t>
            </a:r>
            <a:endParaRPr lang="en-US" sz="1200" dirty="0"/>
          </a:p>
        </p:txBody>
      </p:sp>
      <p:sp>
        <p:nvSpPr>
          <p:cNvPr id="38" name="Shape 36"/>
          <p:cNvSpPr/>
          <p:nvPr/>
        </p:nvSpPr>
        <p:spPr>
          <a:xfrm>
            <a:off x="640080" y="4526280"/>
            <a:ext cx="10972800" cy="411480"/>
          </a:xfrm>
          <a:prstGeom prst="roundRect">
            <a:avLst>
              <a:gd name="adj" fmla="val 13333"/>
            </a:avLst>
          </a:prstGeom>
          <a:solidFill>
            <a:srgbClr val="FFFFFF"/>
          </a:solidFill>
          <a:ln w="12700">
            <a:solidFill>
              <a:srgbClr val="E3E4F0"/>
            </a:solidFill>
            <a:prstDash val="solid"/>
          </a:ln>
        </p:spPr>
      </p:sp>
      <p:sp>
        <p:nvSpPr>
          <p:cNvPr id="39" name="Text 37"/>
          <p:cNvSpPr/>
          <p:nvPr/>
        </p:nvSpPr>
        <p:spPr>
          <a:xfrm>
            <a:off x="822960" y="4572000"/>
            <a:ext cx="1280160" cy="320040"/>
          </a:xfrm>
          <a:prstGeom prst="rect">
            <a:avLst/>
          </a:prstGeom>
          <a:noFill/>
          <a:ln/>
        </p:spPr>
        <p:txBody>
          <a:bodyPr wrap="square" lIns="0" tIns="0" rIns="0" bIns="0" rtlCol="0" anchor="ctr"/>
          <a:lstStyle/>
          <a:p>
            <a:pPr indent="0" marL="0">
              <a:buNone/>
            </a:pPr>
            <a:r>
              <a:rPr lang="en-US" sz="1150" b="1" dirty="0">
                <a:solidFill>
                  <a:srgbClr val="1F2340"/>
                </a:solidFill>
                <a:latin typeface="Calibri" pitchFamily="34" charset="0"/>
                <a:ea typeface="Calibri" pitchFamily="34" charset="-122"/>
                <a:cs typeface="Calibri" pitchFamily="34" charset="-120"/>
              </a:rPr>
              <a:t>Stage 2</a:t>
            </a:r>
            <a:endParaRPr lang="en-US" sz="1150" dirty="0"/>
          </a:p>
        </p:txBody>
      </p:sp>
      <p:sp>
        <p:nvSpPr>
          <p:cNvPr id="40" name="Text 38"/>
          <p:cNvSpPr/>
          <p:nvPr/>
        </p:nvSpPr>
        <p:spPr>
          <a:xfrm>
            <a:off x="2194560" y="4572000"/>
            <a:ext cx="9326880" cy="32004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(label, class_idx) — class for conditioning</a:t>
            </a:r>
            <a:endParaRPr lang="en-US" sz="1200" dirty="0"/>
          </a:p>
        </p:txBody>
      </p:sp>
      <p:sp>
        <p:nvSpPr>
          <p:cNvPr id="41" name="Shape 39"/>
          <p:cNvSpPr/>
          <p:nvPr/>
        </p:nvSpPr>
        <p:spPr>
          <a:xfrm>
            <a:off x="640080" y="4983480"/>
            <a:ext cx="10972800" cy="411480"/>
          </a:xfrm>
          <a:prstGeom prst="roundRect">
            <a:avLst>
              <a:gd name="adj" fmla="val 13333"/>
            </a:avLst>
          </a:prstGeom>
          <a:solidFill>
            <a:srgbClr val="FFFFFF"/>
          </a:solidFill>
          <a:ln w="12700">
            <a:solidFill>
              <a:srgbClr val="E3E4F0"/>
            </a:solidFill>
            <a:prstDash val="solid"/>
          </a:ln>
        </p:spPr>
      </p:sp>
      <p:sp>
        <p:nvSpPr>
          <p:cNvPr id="42" name="Text 40"/>
          <p:cNvSpPr/>
          <p:nvPr/>
        </p:nvSpPr>
        <p:spPr>
          <a:xfrm>
            <a:off x="822960" y="5029200"/>
            <a:ext cx="1280160" cy="320040"/>
          </a:xfrm>
          <a:prstGeom prst="rect">
            <a:avLst/>
          </a:prstGeom>
          <a:noFill/>
          <a:ln/>
        </p:spPr>
        <p:txBody>
          <a:bodyPr wrap="square" lIns="0" tIns="0" rIns="0" bIns="0" rtlCol="0" anchor="ctr"/>
          <a:lstStyle/>
          <a:p>
            <a:pPr indent="0" marL="0">
              <a:buNone/>
            </a:pPr>
            <a:r>
              <a:rPr lang="en-US" sz="1150" b="1" dirty="0">
                <a:solidFill>
                  <a:srgbClr val="1F2340"/>
                </a:solidFill>
                <a:latin typeface="Calibri" pitchFamily="34" charset="0"/>
                <a:ea typeface="Calibri" pitchFamily="34" charset="-122"/>
                <a:cs typeface="Calibri" pitchFamily="34" charset="-120"/>
              </a:rPr>
              <a:t>Stage 3</a:t>
            </a:r>
            <a:endParaRPr lang="en-US" sz="1150" dirty="0"/>
          </a:p>
        </p:txBody>
      </p:sp>
      <p:sp>
        <p:nvSpPr>
          <p:cNvPr id="43" name="Text 41"/>
          <p:cNvSpPr/>
          <p:nvPr/>
        </p:nvSpPr>
        <p:spPr>
          <a:xfrm>
            <a:off x="2194560" y="5029200"/>
            <a:ext cx="9326880" cy="32004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LayerMap × (N layers × 2 views) — the unified contract</a:t>
            </a:r>
            <a:endParaRPr lang="en-US" sz="1200" dirty="0"/>
          </a:p>
        </p:txBody>
      </p:sp>
      <p:sp>
        <p:nvSpPr>
          <p:cNvPr id="44" name="Shape 42"/>
          <p:cNvSpPr/>
          <p:nvPr/>
        </p:nvSpPr>
        <p:spPr>
          <a:xfrm>
            <a:off x="640080" y="5440680"/>
            <a:ext cx="10972800" cy="411480"/>
          </a:xfrm>
          <a:prstGeom prst="roundRect">
            <a:avLst>
              <a:gd name="adj" fmla="val 13333"/>
            </a:avLst>
          </a:prstGeom>
          <a:solidFill>
            <a:srgbClr val="FFFFFF"/>
          </a:solidFill>
          <a:ln w="12700">
            <a:solidFill>
              <a:srgbClr val="E3E4F0"/>
            </a:solidFill>
            <a:prstDash val="solid"/>
          </a:ln>
        </p:spPr>
      </p:sp>
      <p:sp>
        <p:nvSpPr>
          <p:cNvPr id="45" name="Text 43"/>
          <p:cNvSpPr/>
          <p:nvPr/>
        </p:nvSpPr>
        <p:spPr>
          <a:xfrm>
            <a:off x="822960" y="5486400"/>
            <a:ext cx="1280160" cy="320040"/>
          </a:xfrm>
          <a:prstGeom prst="rect">
            <a:avLst/>
          </a:prstGeom>
          <a:noFill/>
          <a:ln/>
        </p:spPr>
        <p:txBody>
          <a:bodyPr wrap="square" lIns="0" tIns="0" rIns="0" bIns="0" rtlCol="0" anchor="ctr"/>
          <a:lstStyle/>
          <a:p>
            <a:pPr indent="0" marL="0">
              <a:buNone/>
            </a:pPr>
            <a:r>
              <a:rPr lang="en-US" sz="1150" b="1" dirty="0">
                <a:solidFill>
                  <a:srgbClr val="1F2340"/>
                </a:solidFill>
                <a:latin typeface="Calibri" pitchFamily="34" charset="0"/>
                <a:ea typeface="Calibri" pitchFamily="34" charset="-122"/>
                <a:cs typeface="Calibri" pitchFamily="34" charset="-120"/>
              </a:rPr>
              <a:t>Stage 4</a:t>
            </a:r>
            <a:endParaRPr lang="en-US" sz="1150" dirty="0"/>
          </a:p>
        </p:txBody>
      </p:sp>
      <p:sp>
        <p:nvSpPr>
          <p:cNvPr id="46" name="Text 44"/>
          <p:cNvSpPr/>
          <p:nvPr/>
        </p:nvSpPr>
        <p:spPr>
          <a:xfrm>
            <a:off x="2194560" y="5486400"/>
            <a:ext cx="9326880" cy="32004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per-map metrics (object rel., entropy, part align., …)</a:t>
            </a:r>
            <a:endParaRPr lang="en-US" sz="1200" dirty="0"/>
          </a:p>
        </p:txBody>
      </p:sp>
      <p:sp>
        <p:nvSpPr>
          <p:cNvPr id="47" name="Shape 45"/>
          <p:cNvSpPr/>
          <p:nvPr/>
        </p:nvSpPr>
        <p:spPr>
          <a:xfrm>
            <a:off x="640080" y="5897880"/>
            <a:ext cx="10972800" cy="411480"/>
          </a:xfrm>
          <a:prstGeom prst="roundRect">
            <a:avLst>
              <a:gd name="adj" fmla="val 13333"/>
            </a:avLst>
          </a:prstGeom>
          <a:solidFill>
            <a:srgbClr val="FFFFFF"/>
          </a:solidFill>
          <a:ln w="12700">
            <a:solidFill>
              <a:srgbClr val="E3E4F0"/>
            </a:solidFill>
            <a:prstDash val="solid"/>
          </a:ln>
        </p:spPr>
      </p:sp>
      <p:sp>
        <p:nvSpPr>
          <p:cNvPr id="48" name="Text 46"/>
          <p:cNvSpPr/>
          <p:nvPr/>
        </p:nvSpPr>
        <p:spPr>
          <a:xfrm>
            <a:off x="822960" y="5943600"/>
            <a:ext cx="1280160" cy="320040"/>
          </a:xfrm>
          <a:prstGeom prst="rect">
            <a:avLst/>
          </a:prstGeom>
          <a:noFill/>
          <a:ln/>
        </p:spPr>
        <p:txBody>
          <a:bodyPr wrap="square" lIns="0" tIns="0" rIns="0" bIns="0" rtlCol="0" anchor="ctr"/>
          <a:lstStyle/>
          <a:p>
            <a:pPr indent="0" marL="0">
              <a:buNone/>
            </a:pPr>
            <a:r>
              <a:rPr lang="en-US" sz="1150" b="1" dirty="0">
                <a:solidFill>
                  <a:srgbClr val="1F2340"/>
                </a:solidFill>
                <a:latin typeface="Calibri" pitchFamily="34" charset="0"/>
                <a:ea typeface="Calibri" pitchFamily="34" charset="-122"/>
                <a:cs typeface="Calibri" pitchFamily="34" charset="-120"/>
              </a:rPr>
              <a:t>Stage 5</a:t>
            </a:r>
            <a:endParaRPr lang="en-US" sz="1150" dirty="0"/>
          </a:p>
        </p:txBody>
      </p:sp>
      <p:sp>
        <p:nvSpPr>
          <p:cNvPr id="49" name="Text 47"/>
          <p:cNvSpPr/>
          <p:nvPr/>
        </p:nvSpPr>
        <p:spPr>
          <a:xfrm>
            <a:off x="2194560" y="5943600"/>
            <a:ext cx="9326880" cy="32004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InterventionResult (region, pred_before, pred_after)</a:t>
            </a:r>
            <a:endParaRPr lang="en-US" sz="1200" dirty="0"/>
          </a:p>
        </p:txBody>
      </p:sp>
      <p:sp>
        <p:nvSpPr>
          <p:cNvPr id="50" name="Shape 48"/>
          <p:cNvSpPr/>
          <p:nvPr/>
        </p:nvSpPr>
        <p:spPr>
          <a:xfrm>
            <a:off x="640080" y="6355080"/>
            <a:ext cx="10972800" cy="411480"/>
          </a:xfrm>
          <a:prstGeom prst="roundRect">
            <a:avLst>
              <a:gd name="adj" fmla="val 13333"/>
            </a:avLst>
          </a:prstGeom>
          <a:solidFill>
            <a:srgbClr val="E6F7F4"/>
          </a:solidFill>
          <a:ln w="12700">
            <a:solidFill>
              <a:srgbClr val="E3E4F0"/>
            </a:solidFill>
            <a:prstDash val="solid"/>
          </a:ln>
        </p:spPr>
      </p:sp>
      <p:sp>
        <p:nvSpPr>
          <p:cNvPr id="51" name="Text 49"/>
          <p:cNvSpPr/>
          <p:nvPr/>
        </p:nvSpPr>
        <p:spPr>
          <a:xfrm>
            <a:off x="822960" y="6400800"/>
            <a:ext cx="1280160" cy="320040"/>
          </a:xfrm>
          <a:prstGeom prst="rect">
            <a:avLst/>
          </a:prstGeom>
          <a:noFill/>
          <a:ln/>
        </p:spPr>
        <p:txBody>
          <a:bodyPr wrap="square" lIns="0" tIns="0" rIns="0" bIns="0" rtlCol="0" anchor="ctr"/>
          <a:lstStyle/>
          <a:p>
            <a:pPr indent="0" marL="0">
              <a:buNone/>
            </a:pPr>
            <a:r>
              <a:rPr lang="en-US" sz="1150" b="1" dirty="0">
                <a:solidFill>
                  <a:srgbClr val="006B59"/>
                </a:solidFill>
                <a:latin typeface="Calibri" pitchFamily="34" charset="0"/>
                <a:ea typeface="Calibri" pitchFamily="34" charset="-122"/>
                <a:cs typeface="Calibri" pitchFamily="34" charset="-120"/>
              </a:rPr>
              <a:t>Stage 6</a:t>
            </a:r>
            <a:endParaRPr lang="en-US" sz="1150" dirty="0"/>
          </a:p>
        </p:txBody>
      </p:sp>
      <p:sp>
        <p:nvSpPr>
          <p:cNvPr id="52" name="Text 50"/>
          <p:cNvSpPr/>
          <p:nvPr/>
        </p:nvSpPr>
        <p:spPr>
          <a:xfrm>
            <a:off x="2194560" y="6400800"/>
            <a:ext cx="9326880" cy="32004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Verdict + evidence links + report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C"/>
        </a:solidFill>
      </p:bgPr>
    </p:bg>
    <p:spTree>
      <p:nvGrpSpPr>
        <p:cNvPr id="1" name=""/>
        <p:cNvGrpSpPr/>
        <p:nvPr/>
      </p:nvGrpSpPr>
      <p:grpSpPr>
        <a:xfrm>
          <a:off x="0" y="0"/>
          <a:ext cx="0" cy="0"/>
          <a:chOff x="0" y="0"/>
          <a:chExt cx="0" cy="0"/>
        </a:xfrm>
      </p:grpSpPr>
      <p:sp>
        <p:nvSpPr>
          <p:cNvPr id="2" name="Shape 0"/>
          <p:cNvSpPr/>
          <p:nvPr/>
        </p:nvSpPr>
        <p:spPr>
          <a:xfrm>
            <a:off x="566928" y="411480"/>
            <a:ext cx="457200" cy="457200"/>
          </a:xfrm>
          <a:prstGeom prst="ellipse">
            <a:avLst/>
          </a:prstGeom>
          <a:solidFill>
            <a:srgbClr val="00C9A7"/>
          </a:solidFill>
          <a:ln/>
        </p:spPr>
      </p:sp>
      <p:sp>
        <p:nvSpPr>
          <p:cNvPr id="3" name="Text 1"/>
          <p:cNvSpPr/>
          <p:nvPr/>
        </p:nvSpPr>
        <p:spPr>
          <a:xfrm>
            <a:off x="566928" y="411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ext 2"/>
          <p:cNvSpPr/>
          <p:nvPr/>
        </p:nvSpPr>
        <p:spPr>
          <a:xfrm>
            <a:off x="1097280" y="457200"/>
            <a:ext cx="7315200" cy="411480"/>
          </a:xfrm>
          <a:prstGeom prst="rect">
            <a:avLst/>
          </a:prstGeom>
          <a:noFill/>
          <a:ln/>
        </p:spPr>
        <p:txBody>
          <a:bodyPr wrap="square" lIns="0" tIns="0" rIns="0" bIns="0" rtlCol="0" anchor="ctr"/>
          <a:lstStyle/>
          <a:p>
            <a:pPr indent="0" marL="0">
              <a:buNone/>
            </a:pPr>
            <a:r>
              <a:rPr lang="en-US" sz="1200" b="1" dirty="0">
                <a:solidFill>
                  <a:srgbClr val="5A5F7A"/>
                </a:solidFill>
                <a:latin typeface="Calibri" pitchFamily="34" charset="0"/>
                <a:ea typeface="Calibri" pitchFamily="34" charset="-122"/>
                <a:cs typeface="Calibri" pitchFamily="34" charset="-120"/>
              </a:rPr>
              <a:t>Preprocessing</a:t>
            </a:r>
            <a:endParaRPr lang="en-US" sz="1200" dirty="0"/>
          </a:p>
        </p:txBody>
      </p:sp>
      <p:sp>
        <p:nvSpPr>
          <p:cNvPr id="5" name="Text 3"/>
          <p:cNvSpPr/>
          <p:nvPr/>
        </p:nvSpPr>
        <p:spPr>
          <a:xfrm>
            <a:off x="548640" y="914400"/>
            <a:ext cx="11064240" cy="640080"/>
          </a:xfrm>
          <a:prstGeom prst="rect">
            <a:avLst/>
          </a:prstGeom>
          <a:noFill/>
          <a:ln/>
        </p:spPr>
        <p:txBody>
          <a:bodyPr wrap="square" lIns="0" tIns="0" rIns="0" bIns="0" rtlCol="0" anchor="ctr"/>
          <a:lstStyle/>
          <a:p>
            <a:pPr indent="0" marL="0">
              <a:buNone/>
            </a:pPr>
            <a:r>
              <a:rPr lang="en-US" sz="2600" b="1" dirty="0">
                <a:solidFill>
                  <a:srgbClr val="1F2340"/>
                </a:solidFill>
                <a:latin typeface="Cambria" pitchFamily="34" charset="0"/>
                <a:ea typeface="Cambria" pitchFamily="34" charset="-122"/>
                <a:cs typeface="Cambria" pitchFamily="34" charset="-120"/>
              </a:rPr>
              <a:t>Stage 1 — Preprocessing</a:t>
            </a:r>
            <a:endParaRPr lang="en-US" sz="2600" dirty="0"/>
          </a:p>
        </p:txBody>
      </p:sp>
      <p:sp>
        <p:nvSpPr>
          <p:cNvPr id="6" name="Text 4"/>
          <p:cNvSpPr/>
          <p:nvPr/>
        </p:nvSpPr>
        <p:spPr>
          <a:xfrm>
            <a:off x="566928" y="1508760"/>
            <a:ext cx="10972800" cy="365760"/>
          </a:xfrm>
          <a:prstGeom prst="rect">
            <a:avLst/>
          </a:prstGeom>
          <a:noFill/>
          <a:ln/>
        </p:spPr>
        <p:txBody>
          <a:bodyPr wrap="square" lIns="0" tIns="0" rIns="0" bIns="0" rtlCol="0" anchor="ctr"/>
          <a:lstStyle/>
          <a:p>
            <a:pPr indent="0" marL="0">
              <a:buNone/>
            </a:pPr>
            <a:r>
              <a:rPr lang="en-US" sz="1300" dirty="0">
                <a:solidFill>
                  <a:srgbClr val="5A5F7A"/>
                </a:solidFill>
                <a:latin typeface="Calibri" pitchFamily="34" charset="0"/>
                <a:ea typeface="Calibri" pitchFamily="34" charset="-122"/>
                <a:cs typeface="Calibri" pitchFamily="34" charset="-120"/>
              </a:rPr>
              <a:t>Resize → /255 → ImageNet normalize → tensor.  Reversible for overlay.</a:t>
            </a:r>
            <a:endParaRPr lang="en-US" sz="1300" dirty="0"/>
          </a:p>
        </p:txBody>
      </p:sp>
      <p:sp>
        <p:nvSpPr>
          <p:cNvPr id="7" name="Shape 5"/>
          <p:cNvSpPr/>
          <p:nvPr/>
        </p:nvSpPr>
        <p:spPr>
          <a:xfrm>
            <a:off x="640080" y="2103120"/>
            <a:ext cx="1828800" cy="731520"/>
          </a:xfrm>
          <a:prstGeom prst="roundRect">
            <a:avLst>
              <a:gd name="adj" fmla="val 10000"/>
            </a:avLst>
          </a:prstGeom>
          <a:solidFill>
            <a:srgbClr val="FFFFFF"/>
          </a:solidFill>
          <a:ln w="12700">
            <a:solidFill>
              <a:srgbClr val="E3E4F0"/>
            </a:solidFill>
            <a:prstDash val="solid"/>
          </a:ln>
        </p:spPr>
      </p:sp>
      <p:sp>
        <p:nvSpPr>
          <p:cNvPr id="8" name="Text 6"/>
          <p:cNvSpPr/>
          <p:nvPr/>
        </p:nvSpPr>
        <p:spPr>
          <a:xfrm>
            <a:off x="640080" y="2240280"/>
            <a:ext cx="1828800" cy="457200"/>
          </a:xfrm>
          <a:prstGeom prst="rect">
            <a:avLst/>
          </a:prstGeom>
          <a:noFill/>
          <a:ln/>
        </p:spPr>
        <p:txBody>
          <a:bodyPr wrap="square" lIns="0" tIns="0" rIns="0" bIns="0" rtlCol="0" anchor="ctr"/>
          <a:lstStyle/>
          <a:p>
            <a:pPr algn="ctr" indent="0" marL="0">
              <a:buNone/>
            </a:pPr>
            <a:r>
              <a:rPr lang="en-US" sz="1150" b="1" dirty="0">
                <a:solidFill>
                  <a:srgbClr val="1F2340"/>
                </a:solidFill>
                <a:latin typeface="Calibri" pitchFamily="34" charset="0"/>
                <a:ea typeface="Calibri" pitchFamily="34" charset="-122"/>
                <a:cs typeface="Calibri" pitchFamily="34" charset="-120"/>
              </a:rPr>
              <a:t>load RGB</a:t>
            </a:r>
            <a:endParaRPr lang="en-US" sz="1150" dirty="0"/>
          </a:p>
        </p:txBody>
      </p:sp>
      <p:sp>
        <p:nvSpPr>
          <p:cNvPr id="9" name="Text 7"/>
          <p:cNvSpPr/>
          <p:nvPr/>
        </p:nvSpPr>
        <p:spPr>
          <a:xfrm>
            <a:off x="2468880" y="2240280"/>
            <a:ext cx="292608"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761488" y="2103120"/>
            <a:ext cx="1828800" cy="731520"/>
          </a:xfrm>
          <a:prstGeom prst="roundRect">
            <a:avLst>
              <a:gd name="adj" fmla="val 10000"/>
            </a:avLst>
          </a:prstGeom>
          <a:solidFill>
            <a:srgbClr val="FFFFFF"/>
          </a:solidFill>
          <a:ln w="12700">
            <a:solidFill>
              <a:srgbClr val="E3E4F0"/>
            </a:solidFill>
            <a:prstDash val="solid"/>
          </a:ln>
        </p:spPr>
      </p:sp>
      <p:sp>
        <p:nvSpPr>
          <p:cNvPr id="11" name="Text 9"/>
          <p:cNvSpPr/>
          <p:nvPr/>
        </p:nvSpPr>
        <p:spPr>
          <a:xfrm>
            <a:off x="2761488" y="2240280"/>
            <a:ext cx="1828800" cy="457200"/>
          </a:xfrm>
          <a:prstGeom prst="rect">
            <a:avLst/>
          </a:prstGeom>
          <a:noFill/>
          <a:ln/>
        </p:spPr>
        <p:txBody>
          <a:bodyPr wrap="square" lIns="0" tIns="0" rIns="0" bIns="0" rtlCol="0" anchor="ctr"/>
          <a:lstStyle/>
          <a:p>
            <a:pPr algn="ctr" indent="0" marL="0">
              <a:buNone/>
            </a:pPr>
            <a:r>
              <a:rPr lang="en-US" sz="1150" b="1" dirty="0">
                <a:solidFill>
                  <a:srgbClr val="1F2340"/>
                </a:solidFill>
                <a:latin typeface="Calibri" pitchFamily="34" charset="0"/>
                <a:ea typeface="Calibri" pitchFamily="34" charset="-122"/>
                <a:cs typeface="Calibri" pitchFamily="34" charset="-120"/>
              </a:rPr>
              <a:t>resize 224×224</a:t>
            </a:r>
            <a:endParaRPr lang="en-US" sz="1150" dirty="0"/>
          </a:p>
        </p:txBody>
      </p:sp>
      <p:sp>
        <p:nvSpPr>
          <p:cNvPr id="12" name="Text 10"/>
          <p:cNvSpPr/>
          <p:nvPr/>
        </p:nvSpPr>
        <p:spPr>
          <a:xfrm>
            <a:off x="4590288" y="2240280"/>
            <a:ext cx="292608"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882896" y="2103120"/>
            <a:ext cx="1828800" cy="731520"/>
          </a:xfrm>
          <a:prstGeom prst="roundRect">
            <a:avLst>
              <a:gd name="adj" fmla="val 10000"/>
            </a:avLst>
          </a:prstGeom>
          <a:solidFill>
            <a:srgbClr val="FFFFFF"/>
          </a:solidFill>
          <a:ln w="12700">
            <a:solidFill>
              <a:srgbClr val="E3E4F0"/>
            </a:solidFill>
            <a:prstDash val="solid"/>
          </a:ln>
        </p:spPr>
      </p:sp>
      <p:sp>
        <p:nvSpPr>
          <p:cNvPr id="14" name="Text 12"/>
          <p:cNvSpPr/>
          <p:nvPr/>
        </p:nvSpPr>
        <p:spPr>
          <a:xfrm>
            <a:off x="4882896" y="2240280"/>
            <a:ext cx="1828800" cy="457200"/>
          </a:xfrm>
          <a:prstGeom prst="rect">
            <a:avLst/>
          </a:prstGeom>
          <a:noFill/>
          <a:ln/>
        </p:spPr>
        <p:txBody>
          <a:bodyPr wrap="square" lIns="0" tIns="0" rIns="0" bIns="0" rtlCol="0" anchor="ctr"/>
          <a:lstStyle/>
          <a:p>
            <a:pPr algn="ctr" indent="0" marL="0">
              <a:buNone/>
            </a:pPr>
            <a:r>
              <a:rPr lang="en-US" sz="1150" b="1" dirty="0">
                <a:solidFill>
                  <a:srgbClr val="1F2340"/>
                </a:solidFill>
                <a:latin typeface="Calibri" pitchFamily="34" charset="0"/>
                <a:ea typeface="Calibri" pitchFamily="34" charset="-122"/>
                <a:cs typeface="Calibri" pitchFamily="34" charset="-120"/>
              </a:rPr>
              <a:t>÷255 → [0,1]</a:t>
            </a:r>
            <a:endParaRPr lang="en-US" sz="1150" dirty="0"/>
          </a:p>
        </p:txBody>
      </p:sp>
      <p:sp>
        <p:nvSpPr>
          <p:cNvPr id="15" name="Text 13"/>
          <p:cNvSpPr/>
          <p:nvPr/>
        </p:nvSpPr>
        <p:spPr>
          <a:xfrm>
            <a:off x="6711696" y="2240280"/>
            <a:ext cx="292608"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004304" y="2103120"/>
            <a:ext cx="1828800" cy="731520"/>
          </a:xfrm>
          <a:prstGeom prst="roundRect">
            <a:avLst>
              <a:gd name="adj" fmla="val 10000"/>
            </a:avLst>
          </a:prstGeom>
          <a:solidFill>
            <a:srgbClr val="FFFFFF"/>
          </a:solidFill>
          <a:ln w="12700">
            <a:solidFill>
              <a:srgbClr val="E3E4F0"/>
            </a:solidFill>
            <a:prstDash val="solid"/>
          </a:ln>
        </p:spPr>
      </p:sp>
      <p:sp>
        <p:nvSpPr>
          <p:cNvPr id="17" name="Text 15"/>
          <p:cNvSpPr/>
          <p:nvPr/>
        </p:nvSpPr>
        <p:spPr>
          <a:xfrm>
            <a:off x="7004304" y="2240280"/>
            <a:ext cx="1828800" cy="457200"/>
          </a:xfrm>
          <a:prstGeom prst="rect">
            <a:avLst/>
          </a:prstGeom>
          <a:noFill/>
          <a:ln/>
        </p:spPr>
        <p:txBody>
          <a:bodyPr wrap="square" lIns="0" tIns="0" rIns="0" bIns="0" rtlCol="0" anchor="ctr"/>
          <a:lstStyle/>
          <a:p>
            <a:pPr algn="ctr" indent="0" marL="0">
              <a:buNone/>
            </a:pPr>
            <a:r>
              <a:rPr lang="en-US" sz="1150" b="1" dirty="0">
                <a:solidFill>
                  <a:srgbClr val="1F2340"/>
                </a:solidFill>
                <a:latin typeface="Calibri" pitchFamily="34" charset="0"/>
                <a:ea typeface="Calibri" pitchFamily="34" charset="-122"/>
                <a:cs typeface="Calibri" pitchFamily="34" charset="-120"/>
              </a:rPr>
              <a:t>−mean ÷std</a:t>
            </a:r>
            <a:endParaRPr lang="en-US" sz="1150" dirty="0"/>
          </a:p>
        </p:txBody>
      </p:sp>
      <p:sp>
        <p:nvSpPr>
          <p:cNvPr id="18" name="Text 16"/>
          <p:cNvSpPr/>
          <p:nvPr/>
        </p:nvSpPr>
        <p:spPr>
          <a:xfrm>
            <a:off x="8833104" y="2240280"/>
            <a:ext cx="292608"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125712" y="2103120"/>
            <a:ext cx="1828800" cy="731520"/>
          </a:xfrm>
          <a:prstGeom prst="roundRect">
            <a:avLst>
              <a:gd name="adj" fmla="val 10000"/>
            </a:avLst>
          </a:prstGeom>
          <a:solidFill>
            <a:srgbClr val="2E2A72"/>
          </a:solidFill>
          <a:ln w="12700">
            <a:solidFill>
              <a:srgbClr val="E3E4F0"/>
            </a:solidFill>
            <a:prstDash val="solid"/>
          </a:ln>
        </p:spPr>
      </p:sp>
      <p:sp>
        <p:nvSpPr>
          <p:cNvPr id="20" name="Text 18"/>
          <p:cNvSpPr/>
          <p:nvPr/>
        </p:nvSpPr>
        <p:spPr>
          <a:xfrm>
            <a:off x="9125712" y="2240280"/>
            <a:ext cx="18288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[1,3,224,224] fp32</a:t>
            </a:r>
            <a:endParaRPr lang="en-US" sz="1150" dirty="0"/>
          </a:p>
        </p:txBody>
      </p:sp>
      <p:sp>
        <p:nvSpPr>
          <p:cNvPr id="21" name="Text 19"/>
          <p:cNvSpPr/>
          <p:nvPr/>
        </p:nvSpPr>
        <p:spPr>
          <a:xfrm>
            <a:off x="731520" y="3108960"/>
            <a:ext cx="4937760" cy="411480"/>
          </a:xfrm>
          <a:prstGeom prst="rect">
            <a:avLst/>
          </a:prstGeom>
          <a:noFill/>
          <a:ln/>
        </p:spPr>
        <p:txBody>
          <a:bodyPr wrap="square" lIns="0" tIns="0" rIns="0" bIns="0" rtlCol="0" anchor="ctr"/>
          <a:lstStyle/>
          <a:p>
            <a:pPr indent="0" marL="0">
              <a:buNone/>
            </a:pPr>
            <a:r>
              <a:rPr lang="en-US" sz="1500" b="1" dirty="0">
                <a:solidFill>
                  <a:srgbClr val="2E2A72"/>
                </a:solidFill>
                <a:latin typeface="Cambria" pitchFamily="34" charset="0"/>
                <a:ea typeface="Cambria" pitchFamily="34" charset="-122"/>
                <a:cs typeface="Cambria" pitchFamily="34" charset="-120"/>
              </a:rPr>
              <a:t>Raw pixel stats (0–1)</a:t>
            </a:r>
            <a:endParaRPr lang="en-US" sz="1500" dirty="0"/>
          </a:p>
        </p:txBody>
      </p:sp>
      <p:sp>
        <p:nvSpPr>
          <p:cNvPr id="22" name="Shape 20"/>
          <p:cNvSpPr/>
          <p:nvPr/>
        </p:nvSpPr>
        <p:spPr>
          <a:xfrm>
            <a:off x="731520" y="3520440"/>
            <a:ext cx="1554480" cy="731520"/>
          </a:xfrm>
          <a:prstGeom prst="roundRect">
            <a:avLst>
              <a:gd name="adj" fmla="val 10000"/>
            </a:avLst>
          </a:prstGeom>
          <a:solidFill>
            <a:srgbClr val="FFFFFF"/>
          </a:solidFill>
          <a:ln w="12700">
            <a:solidFill>
              <a:srgbClr val="E3E4F0"/>
            </a:solidFill>
            <a:prstDash val="solid"/>
          </a:ln>
        </p:spPr>
      </p:sp>
      <p:sp>
        <p:nvSpPr>
          <p:cNvPr id="23" name="Text 21"/>
          <p:cNvSpPr/>
          <p:nvPr/>
        </p:nvSpPr>
        <p:spPr>
          <a:xfrm>
            <a:off x="731520" y="3566160"/>
            <a:ext cx="1554480" cy="274320"/>
          </a:xfrm>
          <a:prstGeom prst="rect">
            <a:avLst/>
          </a:prstGeom>
          <a:noFill/>
          <a:ln/>
        </p:spPr>
        <p:txBody>
          <a:bodyPr wrap="square" lIns="0" tIns="0" rIns="0" bIns="0" rtlCol="0" anchor="ctr"/>
          <a:lstStyle/>
          <a:p>
            <a:pPr algn="ctr" indent="0" marL="0">
              <a:buNone/>
            </a:pPr>
            <a:r>
              <a:rPr lang="en-US" sz="1200" b="1" dirty="0">
                <a:solidFill>
                  <a:srgbClr val="5A5F7A"/>
                </a:solidFill>
                <a:latin typeface="Calibri" pitchFamily="34" charset="0"/>
                <a:ea typeface="Calibri" pitchFamily="34" charset="-122"/>
                <a:cs typeface="Calibri" pitchFamily="34" charset="-120"/>
              </a:rPr>
              <a:t>R</a:t>
            </a:r>
            <a:endParaRPr lang="en-US" sz="1200" dirty="0"/>
          </a:p>
        </p:txBody>
      </p:sp>
      <p:sp>
        <p:nvSpPr>
          <p:cNvPr id="24" name="Text 22"/>
          <p:cNvSpPr/>
          <p:nvPr/>
        </p:nvSpPr>
        <p:spPr>
          <a:xfrm>
            <a:off x="777240" y="3840480"/>
            <a:ext cx="1463040" cy="320040"/>
          </a:xfrm>
          <a:prstGeom prst="rect">
            <a:avLst/>
          </a:prstGeom>
          <a:noFill/>
          <a:ln/>
        </p:spPr>
        <p:txBody>
          <a:bodyPr wrap="square" lIns="0" tIns="0" rIns="0" bIns="0" rtlCol="0" anchor="ctr"/>
          <a:lstStyle/>
          <a:p>
            <a:pPr algn="ctr" indent="0" marL="0">
              <a:buNone/>
            </a:pPr>
            <a:r>
              <a:rPr lang="en-US" sz="900" b="1" dirty="0">
                <a:solidFill>
                  <a:srgbClr val="1F2340"/>
                </a:solidFill>
                <a:latin typeface="Calibri" pitchFamily="34" charset="0"/>
                <a:ea typeface="Calibri" pitchFamily="34" charset="-122"/>
                <a:cs typeface="Calibri" pitchFamily="34" charset="-120"/>
              </a:rPr>
              <a:t>0.388 ± 0.320</a:t>
            </a:r>
            <a:endParaRPr lang="en-US" sz="900" dirty="0"/>
          </a:p>
        </p:txBody>
      </p:sp>
      <p:sp>
        <p:nvSpPr>
          <p:cNvPr id="25" name="Shape 23"/>
          <p:cNvSpPr/>
          <p:nvPr/>
        </p:nvSpPr>
        <p:spPr>
          <a:xfrm>
            <a:off x="2468880" y="3520440"/>
            <a:ext cx="1554480" cy="731520"/>
          </a:xfrm>
          <a:prstGeom prst="roundRect">
            <a:avLst>
              <a:gd name="adj" fmla="val 10000"/>
            </a:avLst>
          </a:prstGeom>
          <a:solidFill>
            <a:srgbClr val="FFFFFF"/>
          </a:solidFill>
          <a:ln w="12700">
            <a:solidFill>
              <a:srgbClr val="E3E4F0"/>
            </a:solidFill>
            <a:prstDash val="solid"/>
          </a:ln>
        </p:spPr>
      </p:sp>
      <p:sp>
        <p:nvSpPr>
          <p:cNvPr id="26" name="Text 24"/>
          <p:cNvSpPr/>
          <p:nvPr/>
        </p:nvSpPr>
        <p:spPr>
          <a:xfrm>
            <a:off x="2468880" y="3566160"/>
            <a:ext cx="1554480" cy="274320"/>
          </a:xfrm>
          <a:prstGeom prst="rect">
            <a:avLst/>
          </a:prstGeom>
          <a:noFill/>
          <a:ln/>
        </p:spPr>
        <p:txBody>
          <a:bodyPr wrap="square" lIns="0" tIns="0" rIns="0" bIns="0" rtlCol="0" anchor="ctr"/>
          <a:lstStyle/>
          <a:p>
            <a:pPr algn="ctr" indent="0" marL="0">
              <a:buNone/>
            </a:pPr>
            <a:r>
              <a:rPr lang="en-US" sz="1200" b="1" dirty="0">
                <a:solidFill>
                  <a:srgbClr val="5A5F7A"/>
                </a:solidFill>
                <a:latin typeface="Calibri" pitchFamily="34" charset="0"/>
                <a:ea typeface="Calibri" pitchFamily="34" charset="-122"/>
                <a:cs typeface="Calibri" pitchFamily="34" charset="-120"/>
              </a:rPr>
              <a:t>G</a:t>
            </a:r>
            <a:endParaRPr lang="en-US" sz="1200" dirty="0"/>
          </a:p>
        </p:txBody>
      </p:sp>
      <p:sp>
        <p:nvSpPr>
          <p:cNvPr id="27" name="Text 25"/>
          <p:cNvSpPr/>
          <p:nvPr/>
        </p:nvSpPr>
        <p:spPr>
          <a:xfrm>
            <a:off x="2514600" y="3840480"/>
            <a:ext cx="1463040" cy="320040"/>
          </a:xfrm>
          <a:prstGeom prst="rect">
            <a:avLst/>
          </a:prstGeom>
          <a:noFill/>
          <a:ln/>
        </p:spPr>
        <p:txBody>
          <a:bodyPr wrap="square" lIns="0" tIns="0" rIns="0" bIns="0" rtlCol="0" anchor="ctr"/>
          <a:lstStyle/>
          <a:p>
            <a:pPr algn="ctr" indent="0" marL="0">
              <a:buNone/>
            </a:pPr>
            <a:r>
              <a:rPr lang="en-US" sz="900" b="1" dirty="0">
                <a:solidFill>
                  <a:srgbClr val="1F2340"/>
                </a:solidFill>
                <a:latin typeface="Calibri" pitchFamily="34" charset="0"/>
                <a:ea typeface="Calibri" pitchFamily="34" charset="-122"/>
                <a:cs typeface="Calibri" pitchFamily="34" charset="-120"/>
              </a:rPr>
              <a:t>0.431 ± 0.295</a:t>
            </a:r>
            <a:endParaRPr lang="en-US" sz="900" dirty="0"/>
          </a:p>
        </p:txBody>
      </p:sp>
      <p:sp>
        <p:nvSpPr>
          <p:cNvPr id="28" name="Shape 26"/>
          <p:cNvSpPr/>
          <p:nvPr/>
        </p:nvSpPr>
        <p:spPr>
          <a:xfrm>
            <a:off x="4206240" y="3520440"/>
            <a:ext cx="1554480" cy="731520"/>
          </a:xfrm>
          <a:prstGeom prst="roundRect">
            <a:avLst>
              <a:gd name="adj" fmla="val 10000"/>
            </a:avLst>
          </a:prstGeom>
          <a:solidFill>
            <a:srgbClr val="FFFFFF"/>
          </a:solidFill>
          <a:ln w="12700">
            <a:solidFill>
              <a:srgbClr val="E3E4F0"/>
            </a:solidFill>
            <a:prstDash val="solid"/>
          </a:ln>
        </p:spPr>
      </p:sp>
      <p:sp>
        <p:nvSpPr>
          <p:cNvPr id="29" name="Text 27"/>
          <p:cNvSpPr/>
          <p:nvPr/>
        </p:nvSpPr>
        <p:spPr>
          <a:xfrm>
            <a:off x="4206240" y="3566160"/>
            <a:ext cx="1554480" cy="274320"/>
          </a:xfrm>
          <a:prstGeom prst="rect">
            <a:avLst/>
          </a:prstGeom>
          <a:noFill/>
          <a:ln/>
        </p:spPr>
        <p:txBody>
          <a:bodyPr wrap="square" lIns="0" tIns="0" rIns="0" bIns="0" rtlCol="0" anchor="ctr"/>
          <a:lstStyle/>
          <a:p>
            <a:pPr algn="ctr" indent="0" marL="0">
              <a:buNone/>
            </a:pPr>
            <a:r>
              <a:rPr lang="en-US" sz="1200" b="1" dirty="0">
                <a:solidFill>
                  <a:srgbClr val="5A5F7A"/>
                </a:solidFill>
                <a:latin typeface="Calibri" pitchFamily="34" charset="0"/>
                <a:ea typeface="Calibri" pitchFamily="34" charset="-122"/>
                <a:cs typeface="Calibri" pitchFamily="34" charset="-120"/>
              </a:rPr>
              <a:t>B</a:t>
            </a:r>
            <a:endParaRPr lang="en-US" sz="1200" dirty="0"/>
          </a:p>
        </p:txBody>
      </p:sp>
      <p:sp>
        <p:nvSpPr>
          <p:cNvPr id="30" name="Text 28"/>
          <p:cNvSpPr/>
          <p:nvPr/>
        </p:nvSpPr>
        <p:spPr>
          <a:xfrm>
            <a:off x="4251960" y="3840480"/>
            <a:ext cx="1463040" cy="320040"/>
          </a:xfrm>
          <a:prstGeom prst="rect">
            <a:avLst/>
          </a:prstGeom>
          <a:noFill/>
          <a:ln/>
        </p:spPr>
        <p:txBody>
          <a:bodyPr wrap="square" lIns="0" tIns="0" rIns="0" bIns="0" rtlCol="0" anchor="ctr"/>
          <a:lstStyle/>
          <a:p>
            <a:pPr algn="ctr" indent="0" marL="0">
              <a:buNone/>
            </a:pPr>
            <a:r>
              <a:rPr lang="en-US" sz="900" b="1" dirty="0">
                <a:solidFill>
                  <a:srgbClr val="1F2340"/>
                </a:solidFill>
                <a:latin typeface="Calibri" pitchFamily="34" charset="0"/>
                <a:ea typeface="Calibri" pitchFamily="34" charset="-122"/>
                <a:cs typeface="Calibri" pitchFamily="34" charset="-120"/>
              </a:rPr>
              <a:t>0.368 ± 0.337</a:t>
            </a:r>
            <a:endParaRPr lang="en-US" sz="900" dirty="0"/>
          </a:p>
        </p:txBody>
      </p:sp>
      <p:sp>
        <p:nvSpPr>
          <p:cNvPr id="31" name="Text 29"/>
          <p:cNvSpPr/>
          <p:nvPr/>
        </p:nvSpPr>
        <p:spPr>
          <a:xfrm>
            <a:off x="4572000" y="3108960"/>
            <a:ext cx="5120640" cy="411480"/>
          </a:xfrm>
          <a:prstGeom prst="rect">
            <a:avLst/>
          </a:prstGeom>
          <a:noFill/>
          <a:ln/>
        </p:spPr>
        <p:txBody>
          <a:bodyPr wrap="square" lIns="0" tIns="0" rIns="0" bIns="0" rtlCol="0" anchor="ctr"/>
          <a:lstStyle/>
          <a:p>
            <a:pPr indent="0" marL="0">
              <a:buNone/>
            </a:pPr>
            <a:r>
              <a:rPr lang="en-US" sz="1500" b="1" dirty="0">
                <a:solidFill>
                  <a:srgbClr val="2E2A72"/>
                </a:solidFill>
                <a:latin typeface="Cambria" pitchFamily="34" charset="0"/>
                <a:ea typeface="Cambria" pitchFamily="34" charset="-122"/>
                <a:cs typeface="Cambria" pitchFamily="34" charset="-120"/>
              </a:rPr>
              <a:t>Normalized tensor stats</a:t>
            </a:r>
            <a:endParaRPr lang="en-US" sz="1500" dirty="0"/>
          </a:p>
        </p:txBody>
      </p:sp>
      <p:sp>
        <p:nvSpPr>
          <p:cNvPr id="32" name="Shape 30"/>
          <p:cNvSpPr/>
          <p:nvPr/>
        </p:nvSpPr>
        <p:spPr>
          <a:xfrm>
            <a:off x="4572000" y="3520440"/>
            <a:ext cx="1554480" cy="731520"/>
          </a:xfrm>
          <a:prstGeom prst="roundRect">
            <a:avLst>
              <a:gd name="adj" fmla="val 10000"/>
            </a:avLst>
          </a:prstGeom>
          <a:solidFill>
            <a:srgbClr val="FFFFFF"/>
          </a:solidFill>
          <a:ln w="12700">
            <a:solidFill>
              <a:srgbClr val="E3E4F0"/>
            </a:solidFill>
            <a:prstDash val="solid"/>
          </a:ln>
        </p:spPr>
      </p:sp>
      <p:sp>
        <p:nvSpPr>
          <p:cNvPr id="33" name="Text 31"/>
          <p:cNvSpPr/>
          <p:nvPr/>
        </p:nvSpPr>
        <p:spPr>
          <a:xfrm>
            <a:off x="4572000" y="3566160"/>
            <a:ext cx="1554480" cy="274320"/>
          </a:xfrm>
          <a:prstGeom prst="rect">
            <a:avLst/>
          </a:prstGeom>
          <a:noFill/>
          <a:ln/>
        </p:spPr>
        <p:txBody>
          <a:bodyPr wrap="square" lIns="0" tIns="0" rIns="0" bIns="0" rtlCol="0" anchor="ctr"/>
          <a:lstStyle/>
          <a:p>
            <a:pPr algn="ctr" indent="0" marL="0">
              <a:buNone/>
            </a:pPr>
            <a:r>
              <a:rPr lang="en-US" sz="1200" b="1" dirty="0">
                <a:solidFill>
                  <a:srgbClr val="5A5F7A"/>
                </a:solidFill>
                <a:latin typeface="Calibri" pitchFamily="34" charset="0"/>
                <a:ea typeface="Calibri" pitchFamily="34" charset="-122"/>
                <a:cs typeface="Calibri" pitchFamily="34" charset="-120"/>
              </a:rPr>
              <a:t>R</a:t>
            </a:r>
            <a:endParaRPr lang="en-US" sz="1200" dirty="0"/>
          </a:p>
        </p:txBody>
      </p:sp>
      <p:sp>
        <p:nvSpPr>
          <p:cNvPr id="34" name="Text 32"/>
          <p:cNvSpPr/>
          <p:nvPr/>
        </p:nvSpPr>
        <p:spPr>
          <a:xfrm>
            <a:off x="4617720" y="3840480"/>
            <a:ext cx="1463040" cy="320040"/>
          </a:xfrm>
          <a:prstGeom prst="rect">
            <a:avLst/>
          </a:prstGeom>
          <a:noFill/>
          <a:ln/>
        </p:spPr>
        <p:txBody>
          <a:bodyPr wrap="square" lIns="0" tIns="0" rIns="0" bIns="0" rtlCol="0" anchor="ctr"/>
          <a:lstStyle/>
          <a:p>
            <a:pPr algn="ctr" indent="0" marL="0">
              <a:buNone/>
            </a:pPr>
            <a:r>
              <a:rPr lang="en-US" sz="900" b="1" dirty="0">
                <a:solidFill>
                  <a:srgbClr val="1F2340"/>
                </a:solidFill>
                <a:latin typeface="Calibri" pitchFamily="34" charset="0"/>
                <a:ea typeface="Calibri" pitchFamily="34" charset="-122"/>
                <a:cs typeface="Calibri" pitchFamily="34" charset="-120"/>
              </a:rPr>
              <a:t>-0.421 ± 1.398</a:t>
            </a:r>
            <a:endParaRPr lang="en-US" sz="900" dirty="0"/>
          </a:p>
        </p:txBody>
      </p:sp>
      <p:sp>
        <p:nvSpPr>
          <p:cNvPr id="35" name="Shape 33"/>
          <p:cNvSpPr/>
          <p:nvPr/>
        </p:nvSpPr>
        <p:spPr>
          <a:xfrm>
            <a:off x="6309360" y="3520440"/>
            <a:ext cx="1554480" cy="731520"/>
          </a:xfrm>
          <a:prstGeom prst="roundRect">
            <a:avLst>
              <a:gd name="adj" fmla="val 10000"/>
            </a:avLst>
          </a:prstGeom>
          <a:solidFill>
            <a:srgbClr val="FFFFFF"/>
          </a:solidFill>
          <a:ln w="12700">
            <a:solidFill>
              <a:srgbClr val="E3E4F0"/>
            </a:solidFill>
            <a:prstDash val="solid"/>
          </a:ln>
        </p:spPr>
      </p:sp>
      <p:sp>
        <p:nvSpPr>
          <p:cNvPr id="36" name="Text 34"/>
          <p:cNvSpPr/>
          <p:nvPr/>
        </p:nvSpPr>
        <p:spPr>
          <a:xfrm>
            <a:off x="6309360" y="3566160"/>
            <a:ext cx="1554480" cy="274320"/>
          </a:xfrm>
          <a:prstGeom prst="rect">
            <a:avLst/>
          </a:prstGeom>
          <a:noFill/>
          <a:ln/>
        </p:spPr>
        <p:txBody>
          <a:bodyPr wrap="square" lIns="0" tIns="0" rIns="0" bIns="0" rtlCol="0" anchor="ctr"/>
          <a:lstStyle/>
          <a:p>
            <a:pPr algn="ctr" indent="0" marL="0">
              <a:buNone/>
            </a:pPr>
            <a:r>
              <a:rPr lang="en-US" sz="1200" b="1" dirty="0">
                <a:solidFill>
                  <a:srgbClr val="5A5F7A"/>
                </a:solidFill>
                <a:latin typeface="Calibri" pitchFamily="34" charset="0"/>
                <a:ea typeface="Calibri" pitchFamily="34" charset="-122"/>
                <a:cs typeface="Calibri" pitchFamily="34" charset="-120"/>
              </a:rPr>
              <a:t>G</a:t>
            </a:r>
            <a:endParaRPr lang="en-US" sz="1200" dirty="0"/>
          </a:p>
        </p:txBody>
      </p:sp>
      <p:sp>
        <p:nvSpPr>
          <p:cNvPr id="37" name="Text 35"/>
          <p:cNvSpPr/>
          <p:nvPr/>
        </p:nvSpPr>
        <p:spPr>
          <a:xfrm>
            <a:off x="6355080" y="3840480"/>
            <a:ext cx="1463040" cy="320040"/>
          </a:xfrm>
          <a:prstGeom prst="rect">
            <a:avLst/>
          </a:prstGeom>
          <a:noFill/>
          <a:ln/>
        </p:spPr>
        <p:txBody>
          <a:bodyPr wrap="square" lIns="0" tIns="0" rIns="0" bIns="0" rtlCol="0" anchor="ctr"/>
          <a:lstStyle/>
          <a:p>
            <a:pPr algn="ctr" indent="0" marL="0">
              <a:buNone/>
            </a:pPr>
            <a:r>
              <a:rPr lang="en-US" sz="900" b="1" dirty="0">
                <a:solidFill>
                  <a:srgbClr val="1F2340"/>
                </a:solidFill>
                <a:latin typeface="Calibri" pitchFamily="34" charset="0"/>
                <a:ea typeface="Calibri" pitchFamily="34" charset="-122"/>
                <a:cs typeface="Calibri" pitchFamily="34" charset="-120"/>
              </a:rPr>
              <a:t>-0.110 ± 1.316</a:t>
            </a:r>
            <a:endParaRPr lang="en-US" sz="900" dirty="0"/>
          </a:p>
        </p:txBody>
      </p:sp>
      <p:sp>
        <p:nvSpPr>
          <p:cNvPr id="38" name="Shape 36"/>
          <p:cNvSpPr/>
          <p:nvPr/>
        </p:nvSpPr>
        <p:spPr>
          <a:xfrm>
            <a:off x="8046720" y="3520440"/>
            <a:ext cx="1554480" cy="731520"/>
          </a:xfrm>
          <a:prstGeom prst="roundRect">
            <a:avLst>
              <a:gd name="adj" fmla="val 10000"/>
            </a:avLst>
          </a:prstGeom>
          <a:solidFill>
            <a:srgbClr val="FFFFFF"/>
          </a:solidFill>
          <a:ln w="12700">
            <a:solidFill>
              <a:srgbClr val="E3E4F0"/>
            </a:solidFill>
            <a:prstDash val="solid"/>
          </a:ln>
        </p:spPr>
      </p:sp>
      <p:sp>
        <p:nvSpPr>
          <p:cNvPr id="39" name="Text 37"/>
          <p:cNvSpPr/>
          <p:nvPr/>
        </p:nvSpPr>
        <p:spPr>
          <a:xfrm>
            <a:off x="8046720" y="3566160"/>
            <a:ext cx="1554480" cy="274320"/>
          </a:xfrm>
          <a:prstGeom prst="rect">
            <a:avLst/>
          </a:prstGeom>
          <a:noFill/>
          <a:ln/>
        </p:spPr>
        <p:txBody>
          <a:bodyPr wrap="square" lIns="0" tIns="0" rIns="0" bIns="0" rtlCol="0" anchor="ctr"/>
          <a:lstStyle/>
          <a:p>
            <a:pPr algn="ctr" indent="0" marL="0">
              <a:buNone/>
            </a:pPr>
            <a:r>
              <a:rPr lang="en-US" sz="1200" b="1" dirty="0">
                <a:solidFill>
                  <a:srgbClr val="5A5F7A"/>
                </a:solidFill>
                <a:latin typeface="Calibri" pitchFamily="34" charset="0"/>
                <a:ea typeface="Calibri" pitchFamily="34" charset="-122"/>
                <a:cs typeface="Calibri" pitchFamily="34" charset="-120"/>
              </a:rPr>
              <a:t>B</a:t>
            </a:r>
            <a:endParaRPr lang="en-US" sz="1200" dirty="0"/>
          </a:p>
        </p:txBody>
      </p:sp>
      <p:sp>
        <p:nvSpPr>
          <p:cNvPr id="40" name="Text 38"/>
          <p:cNvSpPr/>
          <p:nvPr/>
        </p:nvSpPr>
        <p:spPr>
          <a:xfrm>
            <a:off x="8092440" y="3840480"/>
            <a:ext cx="1463040" cy="320040"/>
          </a:xfrm>
          <a:prstGeom prst="rect">
            <a:avLst/>
          </a:prstGeom>
          <a:noFill/>
          <a:ln/>
        </p:spPr>
        <p:txBody>
          <a:bodyPr wrap="square" lIns="0" tIns="0" rIns="0" bIns="0" rtlCol="0" anchor="ctr"/>
          <a:lstStyle/>
          <a:p>
            <a:pPr algn="ctr" indent="0" marL="0">
              <a:buNone/>
            </a:pPr>
            <a:r>
              <a:rPr lang="en-US" sz="900" b="1" dirty="0">
                <a:solidFill>
                  <a:srgbClr val="1F2340"/>
                </a:solidFill>
                <a:latin typeface="Calibri" pitchFamily="34" charset="0"/>
                <a:ea typeface="Calibri" pitchFamily="34" charset="-122"/>
                <a:cs typeface="Calibri" pitchFamily="34" charset="-120"/>
              </a:rPr>
              <a:t>-0.170 ± 1.498</a:t>
            </a:r>
            <a:endParaRPr lang="en-US" sz="900" dirty="0"/>
          </a:p>
        </p:txBody>
      </p:sp>
      <p:sp>
        <p:nvSpPr>
          <p:cNvPr id="41" name="Shape 39"/>
          <p:cNvSpPr/>
          <p:nvPr/>
        </p:nvSpPr>
        <p:spPr>
          <a:xfrm>
            <a:off x="731520" y="4572000"/>
            <a:ext cx="10607040" cy="1554480"/>
          </a:xfrm>
          <a:prstGeom prst="roundRect">
            <a:avLst>
              <a:gd name="adj" fmla="val 7059"/>
            </a:avLst>
          </a:prstGeom>
          <a:solidFill>
            <a:srgbClr val="E6F7F4"/>
          </a:solidFill>
          <a:ln/>
        </p:spPr>
      </p:sp>
      <p:sp>
        <p:nvSpPr>
          <p:cNvPr id="42" name="Text 40"/>
          <p:cNvSpPr/>
          <p:nvPr/>
        </p:nvSpPr>
        <p:spPr>
          <a:xfrm>
            <a:off x="960120" y="4709160"/>
            <a:ext cx="10149840" cy="1325880"/>
          </a:xfrm>
          <a:prstGeom prst="rect">
            <a:avLst/>
          </a:prstGeom>
          <a:noFill/>
          <a:ln/>
        </p:spPr>
        <p:txBody>
          <a:bodyPr wrap="square" lIns="0" tIns="0" rIns="0" bIns="0" rtlCol="0" anchor="ctr"/>
          <a:lstStyle/>
          <a:p>
            <a:pPr marL="342900" indent="-342900">
              <a:lnSpc>
                <a:spcPts val="1400"/>
              </a:lnSpc>
              <a:spcAft>
                <a:spcPts val="400"/>
              </a:spcAft>
              <a:buSzPct val="100000"/>
              <a:buChar char="•"/>
            </a:pPr>
            <a:r>
              <a:rPr lang="en-US" sz="1250" dirty="0">
                <a:solidFill>
                  <a:srgbClr val="1F3D36"/>
                </a:solidFill>
                <a:latin typeface="Calibri" pitchFamily="34" charset="0"/>
                <a:ea typeface="Calibri" pitchFamily="34" charset="-122"/>
                <a:cs typeface="Calibri" pitchFamily="34" charset="-120"/>
              </a:rPr>
              <a:t>Design point: reversible — tensor_to_image() inverts every step exactly, so heatmaps overlay on real pixels.</a:t>
            </a:r>
            <a:endParaRPr lang="en-US" sz="1250" dirty="0"/>
          </a:p>
          <a:p>
            <a:pPr marL="342900" indent="-342900">
              <a:lnSpc>
                <a:spcPts val="1400"/>
              </a:lnSpc>
              <a:spcAft>
                <a:spcPts val="400"/>
              </a:spcAft>
              <a:buSzPct val="100000"/>
              <a:buChar char="•"/>
            </a:pPr>
            <a:r>
              <a:rPr lang="en-US" sz="1250" dirty="0">
                <a:solidFill>
                  <a:srgbClr val="1F3D36"/>
                </a:solidFill>
                <a:latin typeface="Calibri" pitchFamily="34" charset="0"/>
                <a:ea typeface="Calibri" pitchFamily="34" charset="-122"/>
                <a:cs typeface="Calibri" pitchFamily="34" charset="-120"/>
              </a:rPr>
              <a:t>Stats above measured on Arjun — Python 3.12.10, torch 2.13.0+cpu.</a:t>
            </a:r>
            <a:endParaRPr lang="en-US" sz="1250" dirty="0"/>
          </a:p>
          <a:p>
            <a:pPr marL="342900" indent="-342900">
              <a:lnSpc>
                <a:spcPts val="1400"/>
              </a:lnSpc>
              <a:buSzPct val="100000"/>
              <a:buChar char="•"/>
            </a:pPr>
            <a:r>
              <a:rPr lang="en-US" sz="1250" dirty="0">
                <a:solidFill>
                  <a:srgbClr val="1F3D36"/>
                </a:solidFill>
                <a:latin typeface="Calibri" pitchFamily="34" charset="0"/>
                <a:ea typeface="Calibri" pitchFamily="34" charset="-122"/>
                <a:cs typeface="Calibri" pitchFamily="34" charset="-120"/>
              </a:rPr>
              <a:t>Tests: test_preprocess.py covers round-trip equivalence (hermetic — no downloads).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C"/>
        </a:solidFill>
      </p:bgPr>
    </p:bg>
    <p:spTree>
      <p:nvGrpSpPr>
        <p:cNvPr id="1" name=""/>
        <p:cNvGrpSpPr/>
        <p:nvPr/>
      </p:nvGrpSpPr>
      <p:grpSpPr>
        <a:xfrm>
          <a:off x="0" y="0"/>
          <a:ext cx="0" cy="0"/>
          <a:chOff x="0" y="0"/>
          <a:chExt cx="0" cy="0"/>
        </a:xfrm>
      </p:grpSpPr>
      <p:sp>
        <p:nvSpPr>
          <p:cNvPr id="2" name="Shape 0"/>
          <p:cNvSpPr/>
          <p:nvPr/>
        </p:nvSpPr>
        <p:spPr>
          <a:xfrm>
            <a:off x="566928" y="411480"/>
            <a:ext cx="457200" cy="457200"/>
          </a:xfrm>
          <a:prstGeom prst="ellipse">
            <a:avLst/>
          </a:prstGeom>
          <a:solidFill>
            <a:srgbClr val="00C9A7"/>
          </a:solidFill>
          <a:ln/>
        </p:spPr>
      </p:sp>
      <p:sp>
        <p:nvSpPr>
          <p:cNvPr id="3" name="Text 1"/>
          <p:cNvSpPr/>
          <p:nvPr/>
        </p:nvSpPr>
        <p:spPr>
          <a:xfrm>
            <a:off x="566928" y="411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p:nvPr/>
        </p:nvSpPr>
        <p:spPr>
          <a:xfrm>
            <a:off x="1097280" y="457200"/>
            <a:ext cx="7315200" cy="411480"/>
          </a:xfrm>
          <a:prstGeom prst="rect">
            <a:avLst/>
          </a:prstGeom>
          <a:noFill/>
          <a:ln/>
        </p:spPr>
        <p:txBody>
          <a:bodyPr wrap="square" lIns="0" tIns="0" rIns="0" bIns="0" rtlCol="0" anchor="ctr"/>
          <a:lstStyle/>
          <a:p>
            <a:pPr indent="0" marL="0">
              <a:buNone/>
            </a:pPr>
            <a:r>
              <a:rPr lang="en-US" sz="1200" b="1" dirty="0">
                <a:solidFill>
                  <a:srgbClr val="5A5F7A"/>
                </a:solidFill>
                <a:latin typeface="Calibri" pitchFamily="34" charset="0"/>
                <a:ea typeface="Calibri" pitchFamily="34" charset="-122"/>
                <a:cs typeface="Calibri" pitchFamily="34" charset="-120"/>
              </a:rPr>
              <a:t>Inference</a:t>
            </a:r>
            <a:endParaRPr lang="en-US" sz="1200" dirty="0"/>
          </a:p>
        </p:txBody>
      </p:sp>
      <p:sp>
        <p:nvSpPr>
          <p:cNvPr id="5" name="Text 3"/>
          <p:cNvSpPr/>
          <p:nvPr/>
        </p:nvSpPr>
        <p:spPr>
          <a:xfrm>
            <a:off x="548640" y="914400"/>
            <a:ext cx="11064240" cy="640080"/>
          </a:xfrm>
          <a:prstGeom prst="rect">
            <a:avLst/>
          </a:prstGeom>
          <a:noFill/>
          <a:ln/>
        </p:spPr>
        <p:txBody>
          <a:bodyPr wrap="square" lIns="0" tIns="0" rIns="0" bIns="0" rtlCol="0" anchor="ctr"/>
          <a:lstStyle/>
          <a:p>
            <a:pPr indent="0" marL="0">
              <a:buNone/>
            </a:pPr>
            <a:r>
              <a:rPr lang="en-US" sz="2600" b="1" dirty="0">
                <a:solidFill>
                  <a:srgbClr val="1F2340"/>
                </a:solidFill>
                <a:latin typeface="Cambria" pitchFamily="34" charset="0"/>
                <a:ea typeface="Cambria" pitchFamily="34" charset="-122"/>
                <a:cs typeface="Cambria" pitchFamily="34" charset="-120"/>
              </a:rPr>
              <a:t>Stage 2 — Inference</a:t>
            </a:r>
            <a:endParaRPr lang="en-US" sz="2600" dirty="0"/>
          </a:p>
        </p:txBody>
      </p:sp>
      <p:sp>
        <p:nvSpPr>
          <p:cNvPr id="6" name="Text 4"/>
          <p:cNvSpPr/>
          <p:nvPr/>
        </p:nvSpPr>
        <p:spPr>
          <a:xfrm>
            <a:off x="566928" y="1508760"/>
            <a:ext cx="10972800" cy="365760"/>
          </a:xfrm>
          <a:prstGeom prst="rect">
            <a:avLst/>
          </a:prstGeom>
          <a:noFill/>
          <a:ln/>
        </p:spPr>
        <p:txBody>
          <a:bodyPr wrap="square" lIns="0" tIns="0" rIns="0" bIns="0" rtlCol="0" anchor="ctr"/>
          <a:lstStyle/>
          <a:p>
            <a:pPr indent="0" marL="0">
              <a:buNone/>
            </a:pPr>
            <a:r>
              <a:rPr lang="en-US" sz="1300" dirty="0">
                <a:solidFill>
                  <a:srgbClr val="5A5F7A"/>
                </a:solidFill>
                <a:latin typeface="Calibri" pitchFamily="34" charset="0"/>
                <a:ea typeface="Calibri" pitchFamily="34" charset="-122"/>
                <a:cs typeface="Calibri" pitchFamily="34" charset="-120"/>
              </a:rPr>
              <a:t>One forward pass per model — yields the class that conditions every class-conditioned map.</a:t>
            </a:r>
            <a:endParaRPr lang="en-US" sz="1300" dirty="0"/>
          </a:p>
        </p:txBody>
      </p:sp>
      <p:sp>
        <p:nvSpPr>
          <p:cNvPr id="7" name="Shape 5"/>
          <p:cNvSpPr/>
          <p:nvPr/>
        </p:nvSpPr>
        <p:spPr>
          <a:xfrm>
            <a:off x="640080" y="2103120"/>
            <a:ext cx="10972800" cy="1417320"/>
          </a:xfrm>
          <a:prstGeom prst="roundRect">
            <a:avLst>
              <a:gd name="adj" fmla="val 7742"/>
            </a:avLst>
          </a:prstGeom>
          <a:solidFill>
            <a:srgbClr val="FFFFFF"/>
          </a:solidFill>
          <a:ln w="12700">
            <a:solidFill>
              <a:srgbClr val="E3E4F0"/>
            </a:solidFill>
            <a:prstDash val="solid"/>
          </a:ln>
        </p:spPr>
      </p:sp>
      <p:sp>
        <p:nvSpPr>
          <p:cNvPr id="8" name="Shape 6"/>
          <p:cNvSpPr/>
          <p:nvPr/>
        </p:nvSpPr>
        <p:spPr>
          <a:xfrm>
            <a:off x="640080" y="2103120"/>
            <a:ext cx="137160" cy="1417320"/>
          </a:xfrm>
          <a:prstGeom prst="rect">
            <a:avLst/>
          </a:prstGeom>
          <a:solidFill>
            <a:srgbClr val="2E2A72"/>
          </a:solidFill>
          <a:ln/>
        </p:spPr>
      </p:sp>
      <p:sp>
        <p:nvSpPr>
          <p:cNvPr id="9" name="Text 7"/>
          <p:cNvSpPr/>
          <p:nvPr/>
        </p:nvSpPr>
        <p:spPr>
          <a:xfrm>
            <a:off x="914400" y="2212848"/>
            <a:ext cx="2743200" cy="411480"/>
          </a:xfrm>
          <a:prstGeom prst="rect">
            <a:avLst/>
          </a:prstGeom>
          <a:noFill/>
          <a:ln/>
        </p:spPr>
        <p:txBody>
          <a:bodyPr wrap="square" lIns="0" tIns="0" rIns="0" bIns="0" rtlCol="0" anchor="ctr"/>
          <a:lstStyle/>
          <a:p>
            <a:pPr indent="0" marL="0">
              <a:buNone/>
            </a:pPr>
            <a:r>
              <a:rPr lang="en-US" sz="2000" b="1" dirty="0">
                <a:solidFill>
                  <a:srgbClr val="2E2A72"/>
                </a:solidFill>
                <a:latin typeface="Cambria" pitchFamily="34" charset="0"/>
                <a:ea typeface="Cambria" pitchFamily="34" charset="-122"/>
                <a:cs typeface="Cambria" pitchFamily="34" charset="-120"/>
              </a:rPr>
              <a:t>ResNet-50</a:t>
            </a:r>
            <a:endParaRPr lang="en-US" sz="2000" dirty="0"/>
          </a:p>
        </p:txBody>
      </p:sp>
      <p:sp>
        <p:nvSpPr>
          <p:cNvPr id="10" name="Text 8"/>
          <p:cNvSpPr/>
          <p:nvPr/>
        </p:nvSpPr>
        <p:spPr>
          <a:xfrm>
            <a:off x="914400" y="2651760"/>
            <a:ext cx="2743200" cy="365760"/>
          </a:xfrm>
          <a:prstGeom prst="rect">
            <a:avLst/>
          </a:prstGeom>
          <a:noFill/>
          <a:ln/>
        </p:spPr>
        <p:txBody>
          <a:bodyPr wrap="square" lIns="0" tIns="0" rIns="0" bIns="0" rtlCol="0" anchor="ctr"/>
          <a:lstStyle/>
          <a:p>
            <a:pPr indent="0" marL="0">
              <a:buNone/>
            </a:pPr>
            <a:r>
              <a:rPr lang="en-US" sz="1250" b="1" dirty="0">
                <a:solidFill>
                  <a:srgbClr val="2E2A72"/>
                </a:solidFill>
                <a:latin typeface="Calibri" pitchFamily="34" charset="0"/>
                <a:ea typeface="Calibri" pitchFamily="34" charset="-122"/>
                <a:cs typeface="Calibri" pitchFamily="34" charset="-120"/>
              </a:rPr>
              <a:t>✅ M1 — wired</a:t>
            </a:r>
            <a:endParaRPr lang="en-US" sz="1250" dirty="0"/>
          </a:p>
        </p:txBody>
      </p:sp>
      <p:sp>
        <p:nvSpPr>
          <p:cNvPr id="11" name="Text 9"/>
          <p:cNvSpPr/>
          <p:nvPr/>
        </p:nvSpPr>
        <p:spPr>
          <a:xfrm>
            <a:off x="3840480" y="2286000"/>
            <a:ext cx="7955280" cy="411480"/>
          </a:xfrm>
          <a:prstGeom prst="rect">
            <a:avLst/>
          </a:prstGeom>
          <a:noFill/>
          <a:ln/>
        </p:spPr>
        <p:txBody>
          <a:bodyPr wrap="square" lIns="0" tIns="0" rIns="0" bIns="0" rtlCol="0" anchor="ctr"/>
          <a:lstStyle/>
          <a:p>
            <a:pPr indent="0" marL="0">
              <a:buNone/>
            </a:pPr>
            <a:r>
              <a:rPr lang="en-US" sz="1050" dirty="0">
                <a:solidFill>
                  <a:srgbClr val="1F2340"/>
                </a:solidFill>
                <a:latin typeface="Consolas" pitchFamily="34" charset="0"/>
                <a:ea typeface="Consolas" pitchFamily="34" charset="-122"/>
                <a:cs typeface="Consolas" pitchFamily="34" charset="-120"/>
              </a:rPr>
              <a:t>resnet50(weights=IMAGENET1K_V2)</a:t>
            </a:r>
            <a:endParaRPr lang="en-US" sz="1050" dirty="0"/>
          </a:p>
        </p:txBody>
      </p:sp>
      <p:sp>
        <p:nvSpPr>
          <p:cNvPr id="12" name="Text 10"/>
          <p:cNvSpPr/>
          <p:nvPr/>
        </p:nvSpPr>
        <p:spPr>
          <a:xfrm>
            <a:off x="3840480" y="2788920"/>
            <a:ext cx="7589520" cy="320040"/>
          </a:xfrm>
          <a:prstGeom prst="rect">
            <a:avLst/>
          </a:prstGeom>
          <a:noFill/>
          <a:ln/>
        </p:spPr>
        <p:txBody>
          <a:bodyPr wrap="square" lIns="0" tIns="0" rIns="0" bIns="0" rtlCol="0" anchor="ctr"/>
          <a:lstStyle/>
          <a:p>
            <a:pPr indent="0" marL="0">
              <a:buNone/>
            </a:pPr>
            <a:r>
              <a:rPr lang="en-US" sz="1200" dirty="0">
                <a:solidFill>
                  <a:srgbClr val="5A5F7A"/>
                </a:solidFill>
                <a:latin typeface="Calibri" pitchFamily="34" charset="0"/>
                <a:ea typeface="Calibri" pitchFamily="34" charset="-122"/>
                <a:cs typeface="Calibri" pitchFamily="34" charset="-120"/>
              </a:rPr>
              <a:t>Weights: ImageNet-1K V2 (76% top-1)</a:t>
            </a:r>
            <a:endParaRPr lang="en-US" sz="1200" dirty="0"/>
          </a:p>
        </p:txBody>
      </p:sp>
      <p:sp>
        <p:nvSpPr>
          <p:cNvPr id="13" name="Text 11"/>
          <p:cNvSpPr/>
          <p:nvPr/>
        </p:nvSpPr>
        <p:spPr>
          <a:xfrm>
            <a:off x="3840480" y="3108960"/>
            <a:ext cx="7589520" cy="320040"/>
          </a:xfrm>
          <a:prstGeom prst="rect">
            <a:avLst/>
          </a:prstGeom>
          <a:noFill/>
          <a:ln/>
        </p:spPr>
        <p:txBody>
          <a:bodyPr wrap="square" lIns="0" tIns="0" rIns="0" bIns="0" rtlCol="0" anchor="ctr"/>
          <a:lstStyle/>
          <a:p>
            <a:pPr indent="0" marL="0">
              <a:buNone/>
            </a:pPr>
            <a:r>
              <a:rPr lang="en-US" sz="1200" dirty="0">
                <a:solidFill>
                  <a:srgbClr val="5A5F7A"/>
                </a:solidFill>
                <a:latin typeface="Calibri" pitchFamily="34" charset="0"/>
                <a:ea typeface="Calibri" pitchFamily="34" charset="-122"/>
                <a:cs typeface="Calibri" pitchFamily="34" charset="-120"/>
              </a:rPr>
              <a:t>Role: CNN baseline</a:t>
            </a:r>
            <a:endParaRPr lang="en-US" sz="1200" dirty="0"/>
          </a:p>
        </p:txBody>
      </p:sp>
      <p:sp>
        <p:nvSpPr>
          <p:cNvPr id="14" name="Shape 12"/>
          <p:cNvSpPr/>
          <p:nvPr/>
        </p:nvSpPr>
        <p:spPr>
          <a:xfrm>
            <a:off x="640080" y="3657600"/>
            <a:ext cx="10972800" cy="1417320"/>
          </a:xfrm>
          <a:prstGeom prst="roundRect">
            <a:avLst>
              <a:gd name="adj" fmla="val 7742"/>
            </a:avLst>
          </a:prstGeom>
          <a:solidFill>
            <a:srgbClr val="FFFFFF"/>
          </a:solidFill>
          <a:ln w="12700">
            <a:solidFill>
              <a:srgbClr val="E3E4F0"/>
            </a:solidFill>
            <a:prstDash val="solid"/>
          </a:ln>
        </p:spPr>
      </p:sp>
      <p:sp>
        <p:nvSpPr>
          <p:cNvPr id="15" name="Shape 13"/>
          <p:cNvSpPr/>
          <p:nvPr/>
        </p:nvSpPr>
        <p:spPr>
          <a:xfrm>
            <a:off x="640080" y="3657600"/>
            <a:ext cx="137160" cy="1417320"/>
          </a:xfrm>
          <a:prstGeom prst="rect">
            <a:avLst/>
          </a:prstGeom>
          <a:solidFill>
            <a:srgbClr val="00C9A7"/>
          </a:solidFill>
          <a:ln/>
        </p:spPr>
      </p:sp>
      <p:sp>
        <p:nvSpPr>
          <p:cNvPr id="16" name="Text 14"/>
          <p:cNvSpPr/>
          <p:nvPr/>
        </p:nvSpPr>
        <p:spPr>
          <a:xfrm>
            <a:off x="914400" y="3767328"/>
            <a:ext cx="2743200" cy="411480"/>
          </a:xfrm>
          <a:prstGeom prst="rect">
            <a:avLst/>
          </a:prstGeom>
          <a:noFill/>
          <a:ln/>
        </p:spPr>
        <p:txBody>
          <a:bodyPr wrap="square" lIns="0" tIns="0" rIns="0" bIns="0" rtlCol="0" anchor="ctr"/>
          <a:lstStyle/>
          <a:p>
            <a:pPr indent="0" marL="0">
              <a:buNone/>
            </a:pPr>
            <a:r>
              <a:rPr lang="en-US" sz="2000" b="1" dirty="0">
                <a:solidFill>
                  <a:srgbClr val="2E2A72"/>
                </a:solidFill>
                <a:latin typeface="Cambria" pitchFamily="34" charset="0"/>
                <a:ea typeface="Cambria" pitchFamily="34" charset="-122"/>
                <a:cs typeface="Cambria" pitchFamily="34" charset="-120"/>
              </a:rPr>
              <a:t>ViT-B/16</a:t>
            </a:r>
            <a:endParaRPr lang="en-US" sz="2000" dirty="0"/>
          </a:p>
        </p:txBody>
      </p:sp>
      <p:sp>
        <p:nvSpPr>
          <p:cNvPr id="17" name="Text 15"/>
          <p:cNvSpPr/>
          <p:nvPr/>
        </p:nvSpPr>
        <p:spPr>
          <a:xfrm>
            <a:off x="914400" y="4206240"/>
            <a:ext cx="2743200" cy="365760"/>
          </a:xfrm>
          <a:prstGeom prst="rect">
            <a:avLst/>
          </a:prstGeom>
          <a:noFill/>
          <a:ln/>
        </p:spPr>
        <p:txBody>
          <a:bodyPr wrap="square" lIns="0" tIns="0" rIns="0" bIns="0" rtlCol="0" anchor="ctr"/>
          <a:lstStyle/>
          <a:p>
            <a:pPr indent="0" marL="0">
              <a:buNone/>
            </a:pPr>
            <a:r>
              <a:rPr lang="en-US" sz="1250" b="1" dirty="0">
                <a:solidFill>
                  <a:srgbClr val="00C9A7"/>
                </a:solidFill>
                <a:latin typeface="Calibri" pitchFamily="34" charset="0"/>
                <a:ea typeface="Calibri" pitchFamily="34" charset="-122"/>
                <a:cs typeface="Calibri" pitchFamily="34" charset="-120"/>
              </a:rPr>
              <a:t>⏳ M2 — planned</a:t>
            </a:r>
            <a:endParaRPr lang="en-US" sz="1250" dirty="0"/>
          </a:p>
        </p:txBody>
      </p:sp>
      <p:sp>
        <p:nvSpPr>
          <p:cNvPr id="18" name="Text 16"/>
          <p:cNvSpPr/>
          <p:nvPr/>
        </p:nvSpPr>
        <p:spPr>
          <a:xfrm>
            <a:off x="3840480" y="3840480"/>
            <a:ext cx="7955280" cy="411480"/>
          </a:xfrm>
          <a:prstGeom prst="rect">
            <a:avLst/>
          </a:prstGeom>
          <a:noFill/>
          <a:ln/>
        </p:spPr>
        <p:txBody>
          <a:bodyPr wrap="square" lIns="0" tIns="0" rIns="0" bIns="0" rtlCol="0" anchor="ctr"/>
          <a:lstStyle/>
          <a:p>
            <a:pPr indent="0" marL="0">
              <a:buNone/>
            </a:pPr>
            <a:r>
              <a:rPr lang="en-US" sz="1050" dirty="0">
                <a:solidFill>
                  <a:srgbClr val="1F2340"/>
                </a:solidFill>
                <a:latin typeface="Consolas" pitchFamily="34" charset="0"/>
                <a:ea typeface="Consolas" pitchFamily="34" charset="-122"/>
                <a:cs typeface="Consolas" pitchFamily="34" charset="-120"/>
              </a:rPr>
              <a:t>timm.create_model('vit_base_patch16_224', pretrained=True)</a:t>
            </a:r>
            <a:endParaRPr lang="en-US" sz="1050" dirty="0"/>
          </a:p>
        </p:txBody>
      </p:sp>
      <p:sp>
        <p:nvSpPr>
          <p:cNvPr id="19" name="Text 17"/>
          <p:cNvSpPr/>
          <p:nvPr/>
        </p:nvSpPr>
        <p:spPr>
          <a:xfrm>
            <a:off x="3840480" y="4343400"/>
            <a:ext cx="7589520" cy="320040"/>
          </a:xfrm>
          <a:prstGeom prst="rect">
            <a:avLst/>
          </a:prstGeom>
          <a:noFill/>
          <a:ln/>
        </p:spPr>
        <p:txBody>
          <a:bodyPr wrap="square" lIns="0" tIns="0" rIns="0" bIns="0" rtlCol="0" anchor="ctr"/>
          <a:lstStyle/>
          <a:p>
            <a:pPr indent="0" marL="0">
              <a:buNone/>
            </a:pPr>
            <a:r>
              <a:rPr lang="en-US" sz="1200" dirty="0">
                <a:solidFill>
                  <a:srgbClr val="5A5F7A"/>
                </a:solidFill>
                <a:latin typeface="Calibri" pitchFamily="34" charset="0"/>
                <a:ea typeface="Calibri" pitchFamily="34" charset="-122"/>
                <a:cs typeface="Calibri" pitchFamily="34" charset="-120"/>
              </a:rPr>
              <a:t>Weights: ImageNet-1K</a:t>
            </a:r>
            <a:endParaRPr lang="en-US" sz="1200" dirty="0"/>
          </a:p>
        </p:txBody>
      </p:sp>
      <p:sp>
        <p:nvSpPr>
          <p:cNvPr id="20" name="Text 18"/>
          <p:cNvSpPr/>
          <p:nvPr/>
        </p:nvSpPr>
        <p:spPr>
          <a:xfrm>
            <a:off x="3840480" y="4663440"/>
            <a:ext cx="7589520" cy="320040"/>
          </a:xfrm>
          <a:prstGeom prst="rect">
            <a:avLst/>
          </a:prstGeom>
          <a:noFill/>
          <a:ln/>
        </p:spPr>
        <p:txBody>
          <a:bodyPr wrap="square" lIns="0" tIns="0" rIns="0" bIns="0" rtlCol="0" anchor="ctr"/>
          <a:lstStyle/>
          <a:p>
            <a:pPr indent="0" marL="0">
              <a:buNone/>
            </a:pPr>
            <a:r>
              <a:rPr lang="en-US" sz="1200" dirty="0">
                <a:solidFill>
                  <a:srgbClr val="5A5F7A"/>
                </a:solidFill>
                <a:latin typeface="Calibri" pitchFamily="34" charset="0"/>
                <a:ea typeface="Calibri" pitchFamily="34" charset="-122"/>
                <a:cs typeface="Calibri" pitchFamily="34" charset="-120"/>
              </a:rPr>
              <a:t>Role: Transformer comparison</a:t>
            </a:r>
            <a:endParaRPr lang="en-US" sz="1200" dirty="0"/>
          </a:p>
        </p:txBody>
      </p:sp>
      <p:sp>
        <p:nvSpPr>
          <p:cNvPr id="21" name="Shape 19"/>
          <p:cNvSpPr/>
          <p:nvPr/>
        </p:nvSpPr>
        <p:spPr>
          <a:xfrm>
            <a:off x="640080" y="5349240"/>
            <a:ext cx="10972800" cy="868680"/>
          </a:xfrm>
          <a:prstGeom prst="roundRect">
            <a:avLst>
              <a:gd name="adj" fmla="val 12632"/>
            </a:avLst>
          </a:prstGeom>
          <a:solidFill>
            <a:srgbClr val="E6F7F4"/>
          </a:solidFill>
          <a:ln/>
        </p:spPr>
      </p:sp>
      <p:sp>
        <p:nvSpPr>
          <p:cNvPr id="22" name="Text 20"/>
          <p:cNvSpPr/>
          <p:nvPr/>
        </p:nvSpPr>
        <p:spPr>
          <a:xfrm>
            <a:off x="914400" y="5486400"/>
            <a:ext cx="10424160" cy="640080"/>
          </a:xfrm>
          <a:prstGeom prst="rect">
            <a:avLst/>
          </a:prstGeom>
          <a:noFill/>
          <a:ln/>
        </p:spPr>
        <p:txBody>
          <a:bodyPr wrap="square" lIns="0" tIns="0" rIns="0" bIns="0" rtlCol="0" anchor="ctr"/>
          <a:lstStyle/>
          <a:p>
            <a:pPr indent="0" marL="0">
              <a:buNone/>
            </a:pPr>
            <a:r>
              <a:rPr lang="en-US" sz="1250" dirty="0">
                <a:solidFill>
                  <a:srgbClr val="1F3D36"/>
                </a:solidFill>
                <a:latin typeface="Calibri" pitchFamily="34" charset="0"/>
                <a:ea typeface="Calibri" pitchFamily="34" charset="-122"/>
                <a:cs typeface="Calibri" pitchFamily="34" charset="-120"/>
              </a:rPr>
              <a:t>Output contract:  (label_str, class_idx)  →  becomes the conditioning target for every class-conditioned map downstream.  Labels come from weights.meta["categories"] — a dict on torchvision 0.28 (gotcha: never getattr(meta, "categories")).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C"/>
        </a:solidFill>
      </p:bgPr>
    </p:bg>
    <p:spTree>
      <p:nvGrpSpPr>
        <p:cNvPr id="1" name=""/>
        <p:cNvGrpSpPr/>
        <p:nvPr/>
      </p:nvGrpSpPr>
      <p:grpSpPr>
        <a:xfrm>
          <a:off x="0" y="0"/>
          <a:ext cx="0" cy="0"/>
          <a:chOff x="0" y="0"/>
          <a:chExt cx="0" cy="0"/>
        </a:xfrm>
      </p:grpSpPr>
      <p:sp>
        <p:nvSpPr>
          <p:cNvPr id="2" name="Shape 0"/>
          <p:cNvSpPr/>
          <p:nvPr/>
        </p:nvSpPr>
        <p:spPr>
          <a:xfrm>
            <a:off x="566928" y="411480"/>
            <a:ext cx="457200" cy="457200"/>
          </a:xfrm>
          <a:prstGeom prst="ellipse">
            <a:avLst/>
          </a:prstGeom>
          <a:solidFill>
            <a:srgbClr val="00C9A7"/>
          </a:solidFill>
          <a:ln/>
        </p:spPr>
      </p:sp>
      <p:sp>
        <p:nvSpPr>
          <p:cNvPr id="3" name="Text 1"/>
          <p:cNvSpPr/>
          <p:nvPr/>
        </p:nvSpPr>
        <p:spPr>
          <a:xfrm>
            <a:off x="566928" y="411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p:nvPr/>
        </p:nvSpPr>
        <p:spPr>
          <a:xfrm>
            <a:off x="1097280" y="457200"/>
            <a:ext cx="7315200" cy="411480"/>
          </a:xfrm>
          <a:prstGeom prst="rect">
            <a:avLst/>
          </a:prstGeom>
          <a:noFill/>
          <a:ln/>
        </p:spPr>
        <p:txBody>
          <a:bodyPr wrap="square" lIns="0" tIns="0" rIns="0" bIns="0" rtlCol="0" anchor="ctr"/>
          <a:lstStyle/>
          <a:p>
            <a:pPr indent="0" marL="0">
              <a:buNone/>
            </a:pPr>
            <a:r>
              <a:rPr lang="en-US" sz="1200" b="1" dirty="0">
                <a:solidFill>
                  <a:srgbClr val="5A5F7A"/>
                </a:solidFill>
                <a:latin typeface="Calibri" pitchFamily="34" charset="0"/>
                <a:ea typeface="Calibri" pitchFamily="34" charset="-122"/>
                <a:cs typeface="Calibri" pitchFamily="34" charset="-120"/>
              </a:rPr>
              <a:t>Dual-view extraction</a:t>
            </a:r>
            <a:endParaRPr lang="en-US" sz="1200" dirty="0"/>
          </a:p>
        </p:txBody>
      </p:sp>
      <p:sp>
        <p:nvSpPr>
          <p:cNvPr id="5" name="Text 3"/>
          <p:cNvSpPr/>
          <p:nvPr/>
        </p:nvSpPr>
        <p:spPr>
          <a:xfrm>
            <a:off x="548640" y="914400"/>
            <a:ext cx="11064240" cy="640080"/>
          </a:xfrm>
          <a:prstGeom prst="rect">
            <a:avLst/>
          </a:prstGeom>
          <a:noFill/>
          <a:ln/>
        </p:spPr>
        <p:txBody>
          <a:bodyPr wrap="square" lIns="0" tIns="0" rIns="0" bIns="0" rtlCol="0" anchor="ctr"/>
          <a:lstStyle/>
          <a:p>
            <a:pPr indent="0" marL="0">
              <a:buNone/>
            </a:pPr>
            <a:r>
              <a:rPr lang="en-US" sz="2600" b="1" dirty="0">
                <a:solidFill>
                  <a:srgbClr val="1F2340"/>
                </a:solidFill>
                <a:latin typeface="Cambria" pitchFamily="34" charset="0"/>
                <a:ea typeface="Cambria" pitchFamily="34" charset="-122"/>
                <a:cs typeface="Cambria" pitchFamily="34" charset="-120"/>
              </a:rPr>
              <a:t>Stage 3 — Dual-view extraction</a:t>
            </a:r>
            <a:endParaRPr lang="en-US" sz="2600" dirty="0"/>
          </a:p>
        </p:txBody>
      </p:sp>
      <p:sp>
        <p:nvSpPr>
          <p:cNvPr id="6" name="Text 4"/>
          <p:cNvSpPr/>
          <p:nvPr/>
        </p:nvSpPr>
        <p:spPr>
          <a:xfrm>
            <a:off x="566928" y="1508760"/>
            <a:ext cx="10972800" cy="365760"/>
          </a:xfrm>
          <a:prstGeom prst="rect">
            <a:avLst/>
          </a:prstGeom>
          <a:noFill/>
          <a:ln/>
        </p:spPr>
        <p:txBody>
          <a:bodyPr wrap="square" lIns="0" tIns="0" rIns="0" bIns="0" rtlCol="0" anchor="ctr"/>
          <a:lstStyle/>
          <a:p>
            <a:pPr indent="0" marL="0">
              <a:buNone/>
            </a:pPr>
            <a:r>
              <a:rPr lang="en-US" sz="1300" dirty="0">
                <a:solidFill>
                  <a:srgbClr val="5A5F7A"/>
                </a:solidFill>
                <a:latin typeface="Calibri" pitchFamily="34" charset="0"/>
                <a:ea typeface="Calibri" pitchFamily="34" charset="-122"/>
                <a:cs typeface="Calibri" pitchFamily="34" charset="-120"/>
              </a:rPr>
              <a:t>Four probe points × two views — every probe emits a native and a class-conditioned LayerMap.</a:t>
            </a:r>
            <a:endParaRPr lang="en-US" sz="1300" dirty="0"/>
          </a:p>
        </p:txBody>
      </p:sp>
      <p:sp>
        <p:nvSpPr>
          <p:cNvPr id="7" name="Shape 5"/>
          <p:cNvSpPr/>
          <p:nvPr/>
        </p:nvSpPr>
        <p:spPr>
          <a:xfrm>
            <a:off x="640080" y="2103120"/>
            <a:ext cx="2651760" cy="1371600"/>
          </a:xfrm>
          <a:prstGeom prst="roundRect">
            <a:avLst>
              <a:gd name="adj" fmla="val 6667"/>
            </a:avLst>
          </a:prstGeom>
          <a:solidFill>
            <a:srgbClr val="FFFFFF"/>
          </a:solidFill>
          <a:ln w="12700">
            <a:solidFill>
              <a:srgbClr val="E3E4F0"/>
            </a:solidFill>
            <a:prstDash val="solid"/>
          </a:ln>
        </p:spPr>
      </p:sp>
      <p:sp>
        <p:nvSpPr>
          <p:cNvPr id="8" name="Text 6"/>
          <p:cNvSpPr/>
          <p:nvPr/>
        </p:nvSpPr>
        <p:spPr>
          <a:xfrm>
            <a:off x="640080" y="2212848"/>
            <a:ext cx="2651760" cy="365760"/>
          </a:xfrm>
          <a:prstGeom prst="rect">
            <a:avLst/>
          </a:prstGeom>
          <a:noFill/>
          <a:ln/>
        </p:spPr>
        <p:txBody>
          <a:bodyPr wrap="square" lIns="0" tIns="0" rIns="0" bIns="0" rtlCol="0" anchor="ctr"/>
          <a:lstStyle/>
          <a:p>
            <a:pPr algn="ctr" indent="0" marL="0">
              <a:buNone/>
            </a:pPr>
            <a:r>
              <a:rPr lang="en-US" sz="1200" b="1" dirty="0">
                <a:solidFill>
                  <a:srgbClr val="2E2A72"/>
                </a:solidFill>
                <a:latin typeface="Consolas" pitchFamily="34" charset="0"/>
                <a:ea typeface="Consolas" pitchFamily="34" charset="-122"/>
                <a:cs typeface="Consolas" pitchFamily="34" charset="-120"/>
              </a:rPr>
              <a:t>layer1.2.conv3</a:t>
            </a:r>
            <a:endParaRPr lang="en-US" sz="1200" dirty="0"/>
          </a:p>
        </p:txBody>
      </p:sp>
      <p:sp>
        <p:nvSpPr>
          <p:cNvPr id="9" name="Text 7"/>
          <p:cNvSpPr/>
          <p:nvPr/>
        </p:nvSpPr>
        <p:spPr>
          <a:xfrm>
            <a:off x="640080" y="2578608"/>
            <a:ext cx="2651760" cy="320040"/>
          </a:xfrm>
          <a:prstGeom prst="rect">
            <a:avLst/>
          </a:prstGeom>
          <a:noFill/>
          <a:ln/>
        </p:spPr>
        <p:txBody>
          <a:bodyPr wrap="square" lIns="0" tIns="0" rIns="0" bIns="0" rtlCol="0" anchor="ctr"/>
          <a:lstStyle/>
          <a:p>
            <a:pPr algn="ctr" indent="0" marL="0">
              <a:buNone/>
            </a:pPr>
            <a:r>
              <a:rPr lang="en-US" sz="1300" b="1" dirty="0">
                <a:solidFill>
                  <a:srgbClr val="00C9A7"/>
                </a:solidFill>
                <a:latin typeface="Calibri" pitchFamily="34" charset="0"/>
                <a:ea typeface="Calibri" pitchFamily="34" charset="-122"/>
                <a:cs typeface="Calibri" pitchFamily="34" charset="-120"/>
              </a:rPr>
              <a:t>256 ch</a:t>
            </a:r>
            <a:endParaRPr lang="en-US" sz="1300" dirty="0"/>
          </a:p>
        </p:txBody>
      </p:sp>
      <p:sp>
        <p:nvSpPr>
          <p:cNvPr id="10" name="Text 8"/>
          <p:cNvSpPr/>
          <p:nvPr/>
        </p:nvSpPr>
        <p:spPr>
          <a:xfrm>
            <a:off x="640080" y="2898648"/>
            <a:ext cx="2651760" cy="457200"/>
          </a:xfrm>
          <a:prstGeom prst="rect">
            <a:avLst/>
          </a:prstGeom>
          <a:noFill/>
          <a:ln/>
        </p:spPr>
        <p:txBody>
          <a:bodyPr wrap="square" lIns="0" tIns="0" rIns="0" bIns="0" rtlCol="0" anchor="ctr"/>
          <a:lstStyle/>
          <a:p>
            <a:pPr algn="ctr" indent="0" marL="0">
              <a:buNone/>
            </a:pPr>
            <a:r>
              <a:rPr lang="en-US" sz="1100" dirty="0">
                <a:solidFill>
                  <a:srgbClr val="5A5F7A"/>
                </a:solidFill>
                <a:latin typeface="Calibri" pitchFamily="34" charset="0"/>
                <a:ea typeface="Calibri" pitchFamily="34" charset="-122"/>
                <a:cs typeface="Calibri" pitchFamily="34" charset="-120"/>
              </a:rPr>
              <a:t>edges / textures</a:t>
            </a:r>
            <a:endParaRPr lang="en-US" sz="1100" dirty="0"/>
          </a:p>
        </p:txBody>
      </p:sp>
      <p:sp>
        <p:nvSpPr>
          <p:cNvPr id="11" name="Shape 9"/>
          <p:cNvSpPr/>
          <p:nvPr/>
        </p:nvSpPr>
        <p:spPr>
          <a:xfrm>
            <a:off x="3429000" y="2103120"/>
            <a:ext cx="2651760" cy="1371600"/>
          </a:xfrm>
          <a:prstGeom prst="roundRect">
            <a:avLst>
              <a:gd name="adj" fmla="val 6667"/>
            </a:avLst>
          </a:prstGeom>
          <a:solidFill>
            <a:srgbClr val="FFFFFF"/>
          </a:solidFill>
          <a:ln w="12700">
            <a:solidFill>
              <a:srgbClr val="E3E4F0"/>
            </a:solidFill>
            <a:prstDash val="solid"/>
          </a:ln>
        </p:spPr>
      </p:sp>
      <p:sp>
        <p:nvSpPr>
          <p:cNvPr id="12" name="Text 10"/>
          <p:cNvSpPr/>
          <p:nvPr/>
        </p:nvSpPr>
        <p:spPr>
          <a:xfrm>
            <a:off x="3429000" y="2212848"/>
            <a:ext cx="2651760" cy="365760"/>
          </a:xfrm>
          <a:prstGeom prst="rect">
            <a:avLst/>
          </a:prstGeom>
          <a:noFill/>
          <a:ln/>
        </p:spPr>
        <p:txBody>
          <a:bodyPr wrap="square" lIns="0" tIns="0" rIns="0" bIns="0" rtlCol="0" anchor="ctr"/>
          <a:lstStyle/>
          <a:p>
            <a:pPr algn="ctr" indent="0" marL="0">
              <a:buNone/>
            </a:pPr>
            <a:r>
              <a:rPr lang="en-US" sz="1200" b="1" dirty="0">
                <a:solidFill>
                  <a:srgbClr val="2E2A72"/>
                </a:solidFill>
                <a:latin typeface="Consolas" pitchFamily="34" charset="0"/>
                <a:ea typeface="Consolas" pitchFamily="34" charset="-122"/>
                <a:cs typeface="Consolas" pitchFamily="34" charset="-120"/>
              </a:rPr>
              <a:t>layer2.3.conv3</a:t>
            </a:r>
            <a:endParaRPr lang="en-US" sz="1200" dirty="0"/>
          </a:p>
        </p:txBody>
      </p:sp>
      <p:sp>
        <p:nvSpPr>
          <p:cNvPr id="13" name="Text 11"/>
          <p:cNvSpPr/>
          <p:nvPr/>
        </p:nvSpPr>
        <p:spPr>
          <a:xfrm>
            <a:off x="3429000" y="2578608"/>
            <a:ext cx="2651760" cy="320040"/>
          </a:xfrm>
          <a:prstGeom prst="rect">
            <a:avLst/>
          </a:prstGeom>
          <a:noFill/>
          <a:ln/>
        </p:spPr>
        <p:txBody>
          <a:bodyPr wrap="square" lIns="0" tIns="0" rIns="0" bIns="0" rtlCol="0" anchor="ctr"/>
          <a:lstStyle/>
          <a:p>
            <a:pPr algn="ctr" indent="0" marL="0">
              <a:buNone/>
            </a:pPr>
            <a:r>
              <a:rPr lang="en-US" sz="1300" b="1" dirty="0">
                <a:solidFill>
                  <a:srgbClr val="00C9A7"/>
                </a:solidFill>
                <a:latin typeface="Calibri" pitchFamily="34" charset="0"/>
                <a:ea typeface="Calibri" pitchFamily="34" charset="-122"/>
                <a:cs typeface="Calibri" pitchFamily="34" charset="-120"/>
              </a:rPr>
              <a:t>512 ch</a:t>
            </a:r>
            <a:endParaRPr lang="en-US" sz="1300" dirty="0"/>
          </a:p>
        </p:txBody>
      </p:sp>
      <p:sp>
        <p:nvSpPr>
          <p:cNvPr id="14" name="Text 12"/>
          <p:cNvSpPr/>
          <p:nvPr/>
        </p:nvSpPr>
        <p:spPr>
          <a:xfrm>
            <a:off x="3429000" y="2898648"/>
            <a:ext cx="2651760" cy="457200"/>
          </a:xfrm>
          <a:prstGeom prst="rect">
            <a:avLst/>
          </a:prstGeom>
          <a:noFill/>
          <a:ln/>
        </p:spPr>
        <p:txBody>
          <a:bodyPr wrap="square" lIns="0" tIns="0" rIns="0" bIns="0" rtlCol="0" anchor="ctr"/>
          <a:lstStyle/>
          <a:p>
            <a:pPr algn="ctr" indent="0" marL="0">
              <a:buNone/>
            </a:pPr>
            <a:r>
              <a:rPr lang="en-US" sz="1100" dirty="0">
                <a:solidFill>
                  <a:srgbClr val="5A5F7A"/>
                </a:solidFill>
                <a:latin typeface="Calibri" pitchFamily="34" charset="0"/>
                <a:ea typeface="Calibri" pitchFamily="34" charset="-122"/>
                <a:cs typeface="Calibri" pitchFamily="34" charset="-120"/>
              </a:rPr>
              <a:t>patterns / parts</a:t>
            </a:r>
            <a:endParaRPr lang="en-US" sz="1100" dirty="0"/>
          </a:p>
        </p:txBody>
      </p:sp>
      <p:sp>
        <p:nvSpPr>
          <p:cNvPr id="15" name="Shape 13"/>
          <p:cNvSpPr/>
          <p:nvPr/>
        </p:nvSpPr>
        <p:spPr>
          <a:xfrm>
            <a:off x="6217920" y="2103120"/>
            <a:ext cx="2651760" cy="1371600"/>
          </a:xfrm>
          <a:prstGeom prst="roundRect">
            <a:avLst>
              <a:gd name="adj" fmla="val 6667"/>
            </a:avLst>
          </a:prstGeom>
          <a:solidFill>
            <a:srgbClr val="FFFFFF"/>
          </a:solidFill>
          <a:ln w="12700">
            <a:solidFill>
              <a:srgbClr val="E3E4F0"/>
            </a:solidFill>
            <a:prstDash val="solid"/>
          </a:ln>
        </p:spPr>
      </p:sp>
      <p:sp>
        <p:nvSpPr>
          <p:cNvPr id="16" name="Text 14"/>
          <p:cNvSpPr/>
          <p:nvPr/>
        </p:nvSpPr>
        <p:spPr>
          <a:xfrm>
            <a:off x="6217920" y="2212848"/>
            <a:ext cx="2651760" cy="365760"/>
          </a:xfrm>
          <a:prstGeom prst="rect">
            <a:avLst/>
          </a:prstGeom>
          <a:noFill/>
          <a:ln/>
        </p:spPr>
        <p:txBody>
          <a:bodyPr wrap="square" lIns="0" tIns="0" rIns="0" bIns="0" rtlCol="0" anchor="ctr"/>
          <a:lstStyle/>
          <a:p>
            <a:pPr algn="ctr" indent="0" marL="0">
              <a:buNone/>
            </a:pPr>
            <a:r>
              <a:rPr lang="en-US" sz="1200" b="1" dirty="0">
                <a:solidFill>
                  <a:srgbClr val="2E2A72"/>
                </a:solidFill>
                <a:latin typeface="Consolas" pitchFamily="34" charset="0"/>
                <a:ea typeface="Consolas" pitchFamily="34" charset="-122"/>
                <a:cs typeface="Consolas" pitchFamily="34" charset="-120"/>
              </a:rPr>
              <a:t>layer3.5.conv3</a:t>
            </a:r>
            <a:endParaRPr lang="en-US" sz="1200" dirty="0"/>
          </a:p>
        </p:txBody>
      </p:sp>
      <p:sp>
        <p:nvSpPr>
          <p:cNvPr id="17" name="Text 15"/>
          <p:cNvSpPr/>
          <p:nvPr/>
        </p:nvSpPr>
        <p:spPr>
          <a:xfrm>
            <a:off x="6217920" y="2578608"/>
            <a:ext cx="2651760" cy="320040"/>
          </a:xfrm>
          <a:prstGeom prst="rect">
            <a:avLst/>
          </a:prstGeom>
          <a:noFill/>
          <a:ln/>
        </p:spPr>
        <p:txBody>
          <a:bodyPr wrap="square" lIns="0" tIns="0" rIns="0" bIns="0" rtlCol="0" anchor="ctr"/>
          <a:lstStyle/>
          <a:p>
            <a:pPr algn="ctr" indent="0" marL="0">
              <a:buNone/>
            </a:pPr>
            <a:r>
              <a:rPr lang="en-US" sz="1300" b="1" dirty="0">
                <a:solidFill>
                  <a:srgbClr val="00C9A7"/>
                </a:solidFill>
                <a:latin typeface="Calibri" pitchFamily="34" charset="0"/>
                <a:ea typeface="Calibri" pitchFamily="34" charset="-122"/>
                <a:cs typeface="Calibri" pitchFamily="34" charset="-120"/>
              </a:rPr>
              <a:t>1024 ch</a:t>
            </a:r>
            <a:endParaRPr lang="en-US" sz="1300" dirty="0"/>
          </a:p>
        </p:txBody>
      </p:sp>
      <p:sp>
        <p:nvSpPr>
          <p:cNvPr id="18" name="Text 16"/>
          <p:cNvSpPr/>
          <p:nvPr/>
        </p:nvSpPr>
        <p:spPr>
          <a:xfrm>
            <a:off x="6217920" y="2898648"/>
            <a:ext cx="2651760" cy="457200"/>
          </a:xfrm>
          <a:prstGeom prst="rect">
            <a:avLst/>
          </a:prstGeom>
          <a:noFill/>
          <a:ln/>
        </p:spPr>
        <p:txBody>
          <a:bodyPr wrap="square" lIns="0" tIns="0" rIns="0" bIns="0" rtlCol="0" anchor="ctr"/>
          <a:lstStyle/>
          <a:p>
            <a:pPr algn="ctr" indent="0" marL="0">
              <a:buNone/>
            </a:pPr>
            <a:r>
              <a:rPr lang="en-US" sz="1100" dirty="0">
                <a:solidFill>
                  <a:srgbClr val="5A5F7A"/>
                </a:solidFill>
                <a:latin typeface="Calibri" pitchFamily="34" charset="0"/>
                <a:ea typeface="Calibri" pitchFamily="34" charset="-122"/>
                <a:cs typeface="Calibri" pitchFamily="34" charset="-120"/>
              </a:rPr>
              <a:t>object parts</a:t>
            </a:r>
            <a:endParaRPr lang="en-US" sz="1100" dirty="0"/>
          </a:p>
        </p:txBody>
      </p:sp>
      <p:sp>
        <p:nvSpPr>
          <p:cNvPr id="19" name="Shape 17"/>
          <p:cNvSpPr/>
          <p:nvPr/>
        </p:nvSpPr>
        <p:spPr>
          <a:xfrm>
            <a:off x="9006840" y="2103120"/>
            <a:ext cx="2651760" cy="1371600"/>
          </a:xfrm>
          <a:prstGeom prst="roundRect">
            <a:avLst>
              <a:gd name="adj" fmla="val 6667"/>
            </a:avLst>
          </a:prstGeom>
          <a:solidFill>
            <a:srgbClr val="FFFFFF"/>
          </a:solidFill>
          <a:ln w="12700">
            <a:solidFill>
              <a:srgbClr val="E3E4F0"/>
            </a:solidFill>
            <a:prstDash val="solid"/>
          </a:ln>
        </p:spPr>
      </p:sp>
      <p:sp>
        <p:nvSpPr>
          <p:cNvPr id="20" name="Text 18"/>
          <p:cNvSpPr/>
          <p:nvPr/>
        </p:nvSpPr>
        <p:spPr>
          <a:xfrm>
            <a:off x="9006840" y="2212848"/>
            <a:ext cx="2651760" cy="365760"/>
          </a:xfrm>
          <a:prstGeom prst="rect">
            <a:avLst/>
          </a:prstGeom>
          <a:noFill/>
          <a:ln/>
        </p:spPr>
        <p:txBody>
          <a:bodyPr wrap="square" lIns="0" tIns="0" rIns="0" bIns="0" rtlCol="0" anchor="ctr"/>
          <a:lstStyle/>
          <a:p>
            <a:pPr algn="ctr" indent="0" marL="0">
              <a:buNone/>
            </a:pPr>
            <a:r>
              <a:rPr lang="en-US" sz="1200" b="1" dirty="0">
                <a:solidFill>
                  <a:srgbClr val="2E2A72"/>
                </a:solidFill>
                <a:latin typeface="Consolas" pitchFamily="34" charset="0"/>
                <a:ea typeface="Consolas" pitchFamily="34" charset="-122"/>
                <a:cs typeface="Consolas" pitchFamily="34" charset="-120"/>
              </a:rPr>
              <a:t>layer4.2.conv3</a:t>
            </a:r>
            <a:endParaRPr lang="en-US" sz="1200" dirty="0"/>
          </a:p>
        </p:txBody>
      </p:sp>
      <p:sp>
        <p:nvSpPr>
          <p:cNvPr id="21" name="Text 19"/>
          <p:cNvSpPr/>
          <p:nvPr/>
        </p:nvSpPr>
        <p:spPr>
          <a:xfrm>
            <a:off x="9006840" y="2578608"/>
            <a:ext cx="2651760" cy="320040"/>
          </a:xfrm>
          <a:prstGeom prst="rect">
            <a:avLst/>
          </a:prstGeom>
          <a:noFill/>
          <a:ln/>
        </p:spPr>
        <p:txBody>
          <a:bodyPr wrap="square" lIns="0" tIns="0" rIns="0" bIns="0" rtlCol="0" anchor="ctr"/>
          <a:lstStyle/>
          <a:p>
            <a:pPr algn="ctr" indent="0" marL="0">
              <a:buNone/>
            </a:pPr>
            <a:r>
              <a:rPr lang="en-US" sz="1300" b="1" dirty="0">
                <a:solidFill>
                  <a:srgbClr val="00C9A7"/>
                </a:solidFill>
                <a:latin typeface="Calibri" pitchFamily="34" charset="0"/>
                <a:ea typeface="Calibri" pitchFamily="34" charset="-122"/>
                <a:cs typeface="Calibri" pitchFamily="34" charset="-120"/>
              </a:rPr>
              <a:t>2048 ch</a:t>
            </a:r>
            <a:endParaRPr lang="en-US" sz="1300" dirty="0"/>
          </a:p>
        </p:txBody>
      </p:sp>
      <p:sp>
        <p:nvSpPr>
          <p:cNvPr id="22" name="Text 20"/>
          <p:cNvSpPr/>
          <p:nvPr/>
        </p:nvSpPr>
        <p:spPr>
          <a:xfrm>
            <a:off x="9006840" y="2898648"/>
            <a:ext cx="2651760" cy="457200"/>
          </a:xfrm>
          <a:prstGeom prst="rect">
            <a:avLst/>
          </a:prstGeom>
          <a:noFill/>
          <a:ln/>
        </p:spPr>
        <p:txBody>
          <a:bodyPr wrap="square" lIns="0" tIns="0" rIns="0" bIns="0" rtlCol="0" anchor="ctr"/>
          <a:lstStyle/>
          <a:p>
            <a:pPr algn="ctr" indent="0" marL="0">
              <a:buNone/>
            </a:pPr>
            <a:r>
              <a:rPr lang="en-US" sz="1100" dirty="0">
                <a:solidFill>
                  <a:srgbClr val="5A5F7A"/>
                </a:solidFill>
                <a:latin typeface="Calibri" pitchFamily="34" charset="0"/>
                <a:ea typeface="Calibri" pitchFamily="34" charset="-122"/>
                <a:cs typeface="Calibri" pitchFamily="34" charset="-120"/>
              </a:rPr>
              <a:t>object semantics</a:t>
            </a:r>
            <a:endParaRPr lang="en-US" sz="1100" dirty="0"/>
          </a:p>
        </p:txBody>
      </p:sp>
      <p:sp>
        <p:nvSpPr>
          <p:cNvPr id="23" name="Shape 21"/>
          <p:cNvSpPr/>
          <p:nvPr/>
        </p:nvSpPr>
        <p:spPr>
          <a:xfrm>
            <a:off x="640080" y="3703320"/>
            <a:ext cx="5440680" cy="2011680"/>
          </a:xfrm>
          <a:prstGeom prst="roundRect">
            <a:avLst>
              <a:gd name="adj" fmla="val 5455"/>
            </a:avLst>
          </a:prstGeom>
          <a:solidFill>
            <a:srgbClr val="FFFFFF"/>
          </a:solidFill>
          <a:ln w="12700">
            <a:solidFill>
              <a:srgbClr val="E3E4F0"/>
            </a:solidFill>
            <a:prstDash val="solid"/>
          </a:ln>
        </p:spPr>
      </p:sp>
      <p:sp>
        <p:nvSpPr>
          <p:cNvPr id="24" name="Text 22"/>
          <p:cNvSpPr/>
          <p:nvPr/>
        </p:nvSpPr>
        <p:spPr>
          <a:xfrm>
            <a:off x="914400" y="3840480"/>
            <a:ext cx="4846320" cy="365760"/>
          </a:xfrm>
          <a:prstGeom prst="rect">
            <a:avLst/>
          </a:prstGeom>
          <a:noFill/>
          <a:ln/>
        </p:spPr>
        <p:txBody>
          <a:bodyPr wrap="square" lIns="0" tIns="0" rIns="0" bIns="0" rtlCol="0" anchor="ctr"/>
          <a:lstStyle/>
          <a:p>
            <a:pPr indent="0" marL="0">
              <a:buNone/>
            </a:pPr>
            <a:r>
              <a:rPr lang="en-US" sz="1600" b="1" dirty="0">
                <a:solidFill>
                  <a:srgbClr val="2E2A72"/>
                </a:solidFill>
                <a:latin typeface="Cambria" pitchFamily="34" charset="0"/>
                <a:ea typeface="Cambria" pitchFamily="34" charset="-122"/>
                <a:cs typeface="Cambria" pitchFamily="34" charset="-120"/>
              </a:rPr>
              <a:t>Native (mechanism)</a:t>
            </a:r>
            <a:endParaRPr lang="en-US" sz="1600" dirty="0"/>
          </a:p>
        </p:txBody>
      </p:sp>
      <p:sp>
        <p:nvSpPr>
          <p:cNvPr id="25" name="Text 23"/>
          <p:cNvSpPr/>
          <p:nvPr/>
        </p:nvSpPr>
        <p:spPr>
          <a:xfrm>
            <a:off x="914400" y="4251960"/>
            <a:ext cx="4937760" cy="1371600"/>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200" dirty="0">
                <a:solidFill>
                  <a:srgbClr val="1F2340"/>
                </a:solidFill>
                <a:latin typeface="Calibri" pitchFamily="34" charset="0"/>
                <a:ea typeface="Calibri" pitchFamily="34" charset="-122"/>
                <a:cs typeface="Calibri" pitchFamily="34" charset="-120"/>
              </a:rPr>
              <a:t>Forward hook on the layer → activations[B,C,H,W]</a:t>
            </a:r>
            <a:endParaRPr lang="en-US" sz="1200" dirty="0"/>
          </a:p>
          <a:p>
            <a:pPr marL="342900" indent="-342900">
              <a:lnSpc>
                <a:spcPts val="1400"/>
              </a:lnSpc>
              <a:spcAft>
                <a:spcPts val="300"/>
              </a:spcAft>
              <a:buSzPct val="100000"/>
              <a:buChar char="•"/>
            </a:pPr>
            <a:r>
              <a:rPr lang="en-US" sz="1200" dirty="0">
                <a:solidFill>
                  <a:srgbClr val="1F2340"/>
                </a:solidFill>
                <a:latin typeface="Calibri" pitchFamily="34" charset="0"/>
                <a:ea typeface="Calibri" pitchFamily="34" charset="-122"/>
                <a:cs typeface="Calibri" pitchFamily="34" charset="-120"/>
              </a:rPr>
              <a:t>mean over channels → bilinear upsample → normalize [0,1]</a:t>
            </a:r>
            <a:endParaRPr lang="en-US" sz="1200" dirty="0"/>
          </a:p>
          <a:p>
            <a:pPr marL="342900" indent="-342900">
              <a:lnSpc>
                <a:spcPts val="1400"/>
              </a:lnSpc>
              <a:spcAft>
                <a:spcPts val="300"/>
              </a:spcAft>
              <a:buSzPct val="100000"/>
              <a:buChar char="•"/>
            </a:pPr>
            <a:r>
              <a:rPr lang="en-US" sz="1200" dirty="0">
                <a:solidFill>
                  <a:srgbClr val="1F2340"/>
                </a:solidFill>
                <a:latin typeface="Calibri" pitchFamily="34" charset="0"/>
                <a:ea typeface="Calibri" pitchFamily="34" charset="-122"/>
                <a:cs typeface="Calibri" pitchFamily="34" charset="-120"/>
              </a:rPr>
              <a:t>Cost: one forward pass total (hooks capture all layers)</a:t>
            </a:r>
            <a:endParaRPr lang="en-US" sz="1200" dirty="0"/>
          </a:p>
          <a:p>
            <a:pPr marL="342900" indent="-342900">
              <a:lnSpc>
                <a:spcPts val="1400"/>
              </a:lnSpc>
              <a:buSzPct val="100000"/>
              <a:buChar char="•"/>
            </a:pPr>
            <a:r>
              <a:rPr lang="en-US" sz="1200" dirty="0">
                <a:solidFill>
                  <a:srgbClr val="1F2340"/>
                </a:solidFill>
                <a:latin typeface="Calibri" pitchFamily="34" charset="0"/>
                <a:ea typeface="Calibri" pitchFamily="34" charset="-122"/>
                <a:cs typeface="Calibri" pitchFamily="34" charset="-120"/>
              </a:rPr>
              <a:t>Class-agnostic — broad by nature</a:t>
            </a:r>
            <a:endParaRPr lang="en-US" sz="1200" dirty="0"/>
          </a:p>
        </p:txBody>
      </p:sp>
      <p:sp>
        <p:nvSpPr>
          <p:cNvPr id="26" name="Shape 24"/>
          <p:cNvSpPr/>
          <p:nvPr/>
        </p:nvSpPr>
        <p:spPr>
          <a:xfrm>
            <a:off x="6217920" y="3703320"/>
            <a:ext cx="5440680" cy="2011680"/>
          </a:xfrm>
          <a:prstGeom prst="roundRect">
            <a:avLst>
              <a:gd name="adj" fmla="val 5455"/>
            </a:avLst>
          </a:prstGeom>
          <a:solidFill>
            <a:srgbClr val="FFFFFF"/>
          </a:solidFill>
          <a:ln w="12700">
            <a:solidFill>
              <a:srgbClr val="E3E4F0"/>
            </a:solidFill>
            <a:prstDash val="solid"/>
          </a:ln>
        </p:spPr>
      </p:sp>
      <p:sp>
        <p:nvSpPr>
          <p:cNvPr id="27" name="Text 25"/>
          <p:cNvSpPr/>
          <p:nvPr/>
        </p:nvSpPr>
        <p:spPr>
          <a:xfrm>
            <a:off x="6492240" y="3840480"/>
            <a:ext cx="4846320" cy="365760"/>
          </a:xfrm>
          <a:prstGeom prst="rect">
            <a:avLst/>
          </a:prstGeom>
          <a:noFill/>
          <a:ln/>
        </p:spPr>
        <p:txBody>
          <a:bodyPr wrap="square" lIns="0" tIns="0" rIns="0" bIns="0" rtlCol="0" anchor="ctr"/>
          <a:lstStyle/>
          <a:p>
            <a:pPr indent="0" marL="0">
              <a:buNone/>
            </a:pPr>
            <a:r>
              <a:rPr lang="en-US" sz="1600" b="1" dirty="0">
                <a:solidFill>
                  <a:srgbClr val="2E2A72"/>
                </a:solidFill>
                <a:latin typeface="Cambria" pitchFamily="34" charset="0"/>
                <a:ea typeface="Cambria" pitchFamily="34" charset="-122"/>
                <a:cs typeface="Cambria" pitchFamily="34" charset="-120"/>
              </a:rPr>
              <a:t>Class-conditioned (evidence)</a:t>
            </a:r>
            <a:endParaRPr lang="en-US" sz="1600" dirty="0"/>
          </a:p>
        </p:txBody>
      </p:sp>
      <p:sp>
        <p:nvSpPr>
          <p:cNvPr id="28" name="Text 26"/>
          <p:cNvSpPr/>
          <p:nvPr/>
        </p:nvSpPr>
        <p:spPr>
          <a:xfrm>
            <a:off x="6492240" y="4251960"/>
            <a:ext cx="4937760" cy="1371600"/>
          </a:xfrm>
          <a:prstGeom prst="rect">
            <a:avLst/>
          </a:prstGeom>
          <a:noFill/>
          <a:ln/>
        </p:spPr>
        <p:txBody>
          <a:bodyPr wrap="square" lIns="0" tIns="0" rIns="0" bIns="0" rtlCol="0" anchor="ctr"/>
          <a:lstStyle/>
          <a:p>
            <a:pPr marL="342900" indent="-342900">
              <a:lnSpc>
                <a:spcPts val="1400"/>
              </a:lnSpc>
              <a:spcAft>
                <a:spcPts val="300"/>
              </a:spcAft>
              <a:buSzPct val="100000"/>
              <a:buChar char="•"/>
            </a:pPr>
            <a:r>
              <a:rPr lang="en-US" sz="1200" dirty="0">
                <a:solidFill>
                  <a:srgbClr val="1F2340"/>
                </a:solidFill>
                <a:latin typeface="Calibri" pitchFamily="34" charset="0"/>
                <a:ea typeface="Calibri" pitchFamily="34" charset="-122"/>
                <a:cs typeface="Calibri" pitchFamily="34" charset="-120"/>
              </a:rPr>
              <a:t>Captum LayerGradCam on the same conv, target = predicted class</a:t>
            </a:r>
            <a:endParaRPr lang="en-US" sz="1200" dirty="0"/>
          </a:p>
          <a:p>
            <a:pPr marL="342900" indent="-342900">
              <a:lnSpc>
                <a:spcPts val="1400"/>
              </a:lnSpc>
              <a:spcAft>
                <a:spcPts val="300"/>
              </a:spcAft>
              <a:buSzPct val="100000"/>
              <a:buChar char="•"/>
            </a:pPr>
            <a:r>
              <a:rPr lang="en-US" sz="1200" dirty="0">
                <a:solidFill>
                  <a:srgbClr val="1F2340"/>
                </a:solidFill>
                <a:latin typeface="Calibri" pitchFamily="34" charset="0"/>
                <a:ea typeface="Calibri" pitchFamily="34" charset="-122"/>
                <a:cs typeface="Calibri" pitchFamily="34" charset="-120"/>
              </a:rPr>
              <a:t>ReLU → bilinear upsample → normalize [0,1]</a:t>
            </a:r>
            <a:endParaRPr lang="en-US" sz="1200" dirty="0"/>
          </a:p>
          <a:p>
            <a:pPr marL="342900" indent="-342900">
              <a:lnSpc>
                <a:spcPts val="1400"/>
              </a:lnSpc>
              <a:spcAft>
                <a:spcPts val="300"/>
              </a:spcAft>
              <a:buSzPct val="100000"/>
              <a:buChar char="•"/>
            </a:pPr>
            <a:r>
              <a:rPr lang="en-US" sz="1200" dirty="0">
                <a:solidFill>
                  <a:srgbClr val="1F2340"/>
                </a:solidFill>
                <a:latin typeface="Calibri" pitchFamily="34" charset="0"/>
                <a:ea typeface="Calibri" pitchFamily="34" charset="-122"/>
                <a:cs typeface="Calibri" pitchFamily="34" charset="-120"/>
              </a:rPr>
              <a:t>Cost: one attribution per layer</a:t>
            </a:r>
            <a:endParaRPr lang="en-US" sz="1200" dirty="0"/>
          </a:p>
          <a:p>
            <a:pPr marL="342900" indent="-342900">
              <a:lnSpc>
                <a:spcPts val="1400"/>
              </a:lnSpc>
              <a:buSzPct val="100000"/>
              <a:buChar char="•"/>
            </a:pPr>
            <a:r>
              <a:rPr lang="en-US" sz="1200" dirty="0">
                <a:solidFill>
                  <a:srgbClr val="1F2340"/>
                </a:solidFill>
                <a:latin typeface="Calibri" pitchFamily="34" charset="0"/>
                <a:ea typeface="Calibri" pitchFamily="34" charset="-122"/>
                <a:cs typeface="Calibri" pitchFamily="34" charset="-120"/>
              </a:rPr>
              <a:t>Honest failure: all-zero map ⇒ 'no positive evidence at this layer'</a:t>
            </a:r>
            <a:endParaRPr lang="en-US" sz="1200" dirty="0"/>
          </a:p>
        </p:txBody>
      </p:sp>
      <p:sp>
        <p:nvSpPr>
          <p:cNvPr id="29" name="Shape 27"/>
          <p:cNvSpPr/>
          <p:nvPr/>
        </p:nvSpPr>
        <p:spPr>
          <a:xfrm>
            <a:off x="640080" y="5852160"/>
            <a:ext cx="10972800" cy="457200"/>
          </a:xfrm>
          <a:prstGeom prst="roundRect">
            <a:avLst>
              <a:gd name="adj" fmla="val 16000"/>
            </a:avLst>
          </a:prstGeom>
          <a:solidFill>
            <a:srgbClr val="E6F7F4"/>
          </a:solidFill>
          <a:ln/>
        </p:spPr>
      </p:sp>
      <p:sp>
        <p:nvSpPr>
          <p:cNvPr id="30" name="Text 28"/>
          <p:cNvSpPr/>
          <p:nvPr/>
        </p:nvSpPr>
        <p:spPr>
          <a:xfrm>
            <a:off x="822960" y="5897880"/>
            <a:ext cx="10607040" cy="365760"/>
          </a:xfrm>
          <a:prstGeom prst="rect">
            <a:avLst/>
          </a:prstGeom>
          <a:noFill/>
          <a:ln/>
        </p:spPr>
        <p:txBody>
          <a:bodyPr wrap="square" lIns="0" tIns="0" rIns="0" bIns="0" rtlCol="0" anchor="ctr"/>
          <a:lstStyle/>
          <a:p>
            <a:pPr indent="0" marL="0">
              <a:buNone/>
            </a:pPr>
            <a:r>
              <a:rPr lang="en-US" sz="1250" b="1" dirty="0">
                <a:solidFill>
                  <a:srgbClr val="006B59"/>
                </a:solidFill>
                <a:latin typeface="Calibri" pitchFamily="34" charset="0"/>
                <a:ea typeface="Calibri" pitchFamily="34" charset="-122"/>
                <a:cs typeface="Calibri" pitchFamily="34" charset="-120"/>
              </a:rPr>
              <a:t>Emits:  8 LayerMaps per image (4 blocks × 2 views)  —  the contract every downstream stage reads.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C"/>
        </a:solidFill>
      </p:bgPr>
    </p:bg>
    <p:spTree>
      <p:nvGrpSpPr>
        <p:cNvPr id="1" name=""/>
        <p:cNvGrpSpPr/>
        <p:nvPr/>
      </p:nvGrpSpPr>
      <p:grpSpPr>
        <a:xfrm>
          <a:off x="0" y="0"/>
          <a:ext cx="0" cy="0"/>
          <a:chOff x="0" y="0"/>
          <a:chExt cx="0" cy="0"/>
        </a:xfrm>
      </p:grpSpPr>
      <p:sp>
        <p:nvSpPr>
          <p:cNvPr id="2" name="Shape 0"/>
          <p:cNvSpPr/>
          <p:nvPr/>
        </p:nvSpPr>
        <p:spPr>
          <a:xfrm>
            <a:off x="566928" y="411480"/>
            <a:ext cx="457200" cy="457200"/>
          </a:xfrm>
          <a:prstGeom prst="ellipse">
            <a:avLst/>
          </a:prstGeom>
          <a:solidFill>
            <a:srgbClr val="00C9A7"/>
          </a:solidFill>
          <a:ln/>
        </p:spPr>
      </p:sp>
      <p:sp>
        <p:nvSpPr>
          <p:cNvPr id="3" name="Text 1"/>
          <p:cNvSpPr/>
          <p:nvPr/>
        </p:nvSpPr>
        <p:spPr>
          <a:xfrm>
            <a:off x="566928" y="411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ext 2"/>
          <p:cNvSpPr/>
          <p:nvPr/>
        </p:nvSpPr>
        <p:spPr>
          <a:xfrm>
            <a:off x="1097280" y="457200"/>
            <a:ext cx="7315200" cy="411480"/>
          </a:xfrm>
          <a:prstGeom prst="rect">
            <a:avLst/>
          </a:prstGeom>
          <a:noFill/>
          <a:ln/>
        </p:spPr>
        <p:txBody>
          <a:bodyPr wrap="square" lIns="0" tIns="0" rIns="0" bIns="0" rtlCol="0" anchor="ctr"/>
          <a:lstStyle/>
          <a:p>
            <a:pPr indent="0" marL="0">
              <a:buNone/>
            </a:pPr>
            <a:r>
              <a:rPr lang="en-US" sz="1200" b="1" dirty="0">
                <a:solidFill>
                  <a:srgbClr val="5A5F7A"/>
                </a:solidFill>
                <a:latin typeface="Calibri" pitchFamily="34" charset="0"/>
                <a:ea typeface="Calibri" pitchFamily="34" charset="-122"/>
                <a:cs typeface="Calibri" pitchFamily="34" charset="-120"/>
              </a:rPr>
              <a:t>Metrics</a:t>
            </a:r>
            <a:endParaRPr lang="en-US" sz="1200" dirty="0"/>
          </a:p>
        </p:txBody>
      </p:sp>
      <p:sp>
        <p:nvSpPr>
          <p:cNvPr id="5" name="Text 3"/>
          <p:cNvSpPr/>
          <p:nvPr/>
        </p:nvSpPr>
        <p:spPr>
          <a:xfrm>
            <a:off x="548640" y="914400"/>
            <a:ext cx="11064240" cy="640080"/>
          </a:xfrm>
          <a:prstGeom prst="rect">
            <a:avLst/>
          </a:prstGeom>
          <a:noFill/>
          <a:ln/>
        </p:spPr>
        <p:txBody>
          <a:bodyPr wrap="square" lIns="0" tIns="0" rIns="0" bIns="0" rtlCol="0" anchor="ctr"/>
          <a:lstStyle/>
          <a:p>
            <a:pPr indent="0" marL="0">
              <a:buNone/>
            </a:pPr>
            <a:r>
              <a:rPr lang="en-US" sz="2600" b="1" dirty="0">
                <a:solidFill>
                  <a:srgbClr val="1F2340"/>
                </a:solidFill>
                <a:latin typeface="Cambria" pitchFamily="34" charset="0"/>
                <a:ea typeface="Cambria" pitchFamily="34" charset="-122"/>
                <a:cs typeface="Cambria" pitchFamily="34" charset="-120"/>
              </a:rPr>
              <a:t>Stage 4 — Metrics</a:t>
            </a:r>
            <a:endParaRPr lang="en-US" sz="2600" dirty="0"/>
          </a:p>
        </p:txBody>
      </p:sp>
      <p:sp>
        <p:nvSpPr>
          <p:cNvPr id="6" name="Text 4"/>
          <p:cNvSpPr/>
          <p:nvPr/>
        </p:nvSpPr>
        <p:spPr>
          <a:xfrm>
            <a:off x="566928" y="1508760"/>
            <a:ext cx="10972800" cy="365760"/>
          </a:xfrm>
          <a:prstGeom prst="rect">
            <a:avLst/>
          </a:prstGeom>
          <a:noFill/>
          <a:ln/>
        </p:spPr>
        <p:txBody>
          <a:bodyPr wrap="square" lIns="0" tIns="0" rIns="0" bIns="0" rtlCol="0" anchor="ctr"/>
          <a:lstStyle/>
          <a:p>
            <a:pPr indent="0" marL="0">
              <a:buNone/>
            </a:pPr>
            <a:r>
              <a:rPr lang="en-US" sz="1300" dirty="0">
                <a:solidFill>
                  <a:srgbClr val="5A5F7A"/>
                </a:solidFill>
                <a:latin typeface="Calibri" pitchFamily="34" charset="0"/>
                <a:ea typeface="Calibri" pitchFamily="34" charset="-122"/>
                <a:cs typeface="Calibri" pitchFamily="34" charset="-120"/>
              </a:rPr>
              <a:t>Numbers, not vibes — measured against CUB-200 bboxes + part keypoints.</a:t>
            </a:r>
            <a:endParaRPr lang="en-US" sz="1300" dirty="0"/>
          </a:p>
        </p:txBody>
      </p:sp>
      <p:sp>
        <p:nvSpPr>
          <p:cNvPr id="7" name="Shape 5"/>
          <p:cNvSpPr/>
          <p:nvPr/>
        </p:nvSpPr>
        <p:spPr>
          <a:xfrm>
            <a:off x="640080" y="2103120"/>
            <a:ext cx="10972800" cy="868680"/>
          </a:xfrm>
          <a:prstGeom prst="roundRect">
            <a:avLst>
              <a:gd name="adj" fmla="val 10526"/>
            </a:avLst>
          </a:prstGeom>
          <a:solidFill>
            <a:srgbClr val="FFFFFF"/>
          </a:solidFill>
          <a:ln w="12700">
            <a:solidFill>
              <a:srgbClr val="E3E4F0"/>
            </a:solidFill>
            <a:prstDash val="solid"/>
          </a:ln>
        </p:spPr>
      </p:sp>
      <p:sp>
        <p:nvSpPr>
          <p:cNvPr id="8" name="Text 6"/>
          <p:cNvSpPr/>
          <p:nvPr/>
        </p:nvSpPr>
        <p:spPr>
          <a:xfrm>
            <a:off x="868680" y="2194560"/>
            <a:ext cx="2926080" cy="365760"/>
          </a:xfrm>
          <a:prstGeom prst="rect">
            <a:avLst/>
          </a:prstGeom>
          <a:noFill/>
          <a:ln/>
        </p:spPr>
        <p:txBody>
          <a:bodyPr wrap="square" lIns="0" tIns="0" rIns="0" bIns="0" rtlCol="0" anchor="ctr"/>
          <a:lstStyle/>
          <a:p>
            <a:pPr indent="0" marL="0">
              <a:buNone/>
            </a:pPr>
            <a:r>
              <a:rPr lang="en-US" sz="1400" b="1" dirty="0">
                <a:solidFill>
                  <a:srgbClr val="2E2A72"/>
                </a:solidFill>
                <a:latin typeface="Cambria" pitchFamily="34" charset="0"/>
                <a:ea typeface="Cambria" pitchFamily="34" charset="-122"/>
                <a:cs typeface="Cambria" pitchFamily="34" charset="-120"/>
              </a:rPr>
              <a:t>Object relevance share</a:t>
            </a:r>
            <a:endParaRPr lang="en-US" sz="1400" dirty="0"/>
          </a:p>
        </p:txBody>
      </p:sp>
      <p:sp>
        <p:nvSpPr>
          <p:cNvPr id="9" name="Text 7"/>
          <p:cNvSpPr/>
          <p:nvPr/>
        </p:nvSpPr>
        <p:spPr>
          <a:xfrm>
            <a:off x="3749040" y="2212848"/>
            <a:ext cx="5943600" cy="685800"/>
          </a:xfrm>
          <a:prstGeom prst="rect">
            <a:avLst/>
          </a:prstGeom>
          <a:noFill/>
          <a:ln/>
        </p:spPr>
        <p:txBody>
          <a:bodyPr wrap="square" lIns="0" tIns="0" rIns="0" bIns="0" rtlCol="0" anchor="ctr"/>
          <a:lstStyle/>
          <a:p>
            <a:pPr indent="0" marL="0">
              <a:buNone/>
            </a:pPr>
            <a:r>
              <a:rPr lang="en-US" sz="1000" dirty="0">
                <a:solidFill>
                  <a:srgbClr val="1F2340"/>
                </a:solidFill>
                <a:latin typeface="Consolas" pitchFamily="34" charset="0"/>
                <a:ea typeface="Consolas" pitchFamily="34" charset="-122"/>
                <a:cs typeface="Consolas" pitchFamily="34" charset="-120"/>
              </a:rPr>
              <a:t>fraction of attention mass inside the object's bbox</a:t>
            </a:r>
            <a:endParaRPr lang="en-US" sz="1000" dirty="0"/>
          </a:p>
        </p:txBody>
      </p:sp>
      <p:sp>
        <p:nvSpPr>
          <p:cNvPr id="10" name="Text 8"/>
          <p:cNvSpPr/>
          <p:nvPr/>
        </p:nvSpPr>
        <p:spPr>
          <a:xfrm>
            <a:off x="9738360" y="2194560"/>
            <a:ext cx="1828800" cy="685800"/>
          </a:xfrm>
          <a:prstGeom prst="rect">
            <a:avLst/>
          </a:prstGeom>
          <a:noFill/>
          <a:ln/>
        </p:spPr>
        <p:txBody>
          <a:bodyPr wrap="square" lIns="0" tIns="0" rIns="0" bIns="0" rtlCol="0" anchor="ctr"/>
          <a:lstStyle/>
          <a:p>
            <a:pPr indent="0" marL="0">
              <a:buNone/>
            </a:pPr>
            <a:r>
              <a:rPr lang="en-US" sz="1000" i="1" dirty="0">
                <a:solidFill>
                  <a:srgbClr val="5A5F7A"/>
                </a:solidFill>
                <a:latin typeface="Calibri" pitchFamily="34" charset="0"/>
                <a:ea typeface="Calibri" pitchFamily="34" charset="-122"/>
                <a:cs typeface="Calibri" pitchFamily="34" charset="-120"/>
              </a:rPr>
              <a:t>Did the model look at the object or somewhere else?</a:t>
            </a:r>
            <a:endParaRPr lang="en-US" sz="1000" dirty="0"/>
          </a:p>
        </p:txBody>
      </p:sp>
      <p:sp>
        <p:nvSpPr>
          <p:cNvPr id="11" name="Shape 9"/>
          <p:cNvSpPr/>
          <p:nvPr/>
        </p:nvSpPr>
        <p:spPr>
          <a:xfrm>
            <a:off x="640080" y="3063240"/>
            <a:ext cx="10972800" cy="868680"/>
          </a:xfrm>
          <a:prstGeom prst="roundRect">
            <a:avLst>
              <a:gd name="adj" fmla="val 10526"/>
            </a:avLst>
          </a:prstGeom>
          <a:solidFill>
            <a:srgbClr val="FFFFFF"/>
          </a:solidFill>
          <a:ln w="12700">
            <a:solidFill>
              <a:srgbClr val="E3E4F0"/>
            </a:solidFill>
            <a:prstDash val="solid"/>
          </a:ln>
        </p:spPr>
      </p:sp>
      <p:sp>
        <p:nvSpPr>
          <p:cNvPr id="12" name="Text 10"/>
          <p:cNvSpPr/>
          <p:nvPr/>
        </p:nvSpPr>
        <p:spPr>
          <a:xfrm>
            <a:off x="868680" y="3154680"/>
            <a:ext cx="2926080" cy="365760"/>
          </a:xfrm>
          <a:prstGeom prst="rect">
            <a:avLst/>
          </a:prstGeom>
          <a:noFill/>
          <a:ln/>
        </p:spPr>
        <p:txBody>
          <a:bodyPr wrap="square" lIns="0" tIns="0" rIns="0" bIns="0" rtlCol="0" anchor="ctr"/>
          <a:lstStyle/>
          <a:p>
            <a:pPr indent="0" marL="0">
              <a:buNone/>
            </a:pPr>
            <a:r>
              <a:rPr lang="en-US" sz="1400" b="1" dirty="0">
                <a:solidFill>
                  <a:srgbClr val="2E2A72"/>
                </a:solidFill>
                <a:latin typeface="Cambria" pitchFamily="34" charset="0"/>
                <a:ea typeface="Cambria" pitchFamily="34" charset="-122"/>
                <a:cs typeface="Cambria" pitchFamily="34" charset="-120"/>
              </a:rPr>
              <a:t>Part alignment</a:t>
            </a:r>
            <a:endParaRPr lang="en-US" sz="1400" dirty="0"/>
          </a:p>
        </p:txBody>
      </p:sp>
      <p:sp>
        <p:nvSpPr>
          <p:cNvPr id="13" name="Text 11"/>
          <p:cNvSpPr/>
          <p:nvPr/>
        </p:nvSpPr>
        <p:spPr>
          <a:xfrm>
            <a:off x="3749040" y="3172968"/>
            <a:ext cx="5943600" cy="685800"/>
          </a:xfrm>
          <a:prstGeom prst="rect">
            <a:avLst/>
          </a:prstGeom>
          <a:noFill/>
          <a:ln/>
        </p:spPr>
        <p:txBody>
          <a:bodyPr wrap="square" lIns="0" tIns="0" rIns="0" bIns="0" rtlCol="0" anchor="ctr"/>
          <a:lstStyle/>
          <a:p>
            <a:pPr indent="0" marL="0">
              <a:buNone/>
            </a:pPr>
            <a:r>
              <a:rPr lang="en-US" sz="1000" dirty="0">
                <a:solidFill>
                  <a:srgbClr val="1F2340"/>
                </a:solidFill>
                <a:latin typeface="Consolas" pitchFamily="34" charset="0"/>
                <a:ea typeface="Consolas" pitchFamily="34" charset="-122"/>
                <a:cs typeface="Consolas" pitchFamily="34" charset="-120"/>
              </a:rPr>
              <a:t>attention mass over annotated keypoints (beak, eye, wing)</a:t>
            </a:r>
            <a:endParaRPr lang="en-US" sz="1000" dirty="0"/>
          </a:p>
        </p:txBody>
      </p:sp>
      <p:sp>
        <p:nvSpPr>
          <p:cNvPr id="14" name="Text 12"/>
          <p:cNvSpPr/>
          <p:nvPr/>
        </p:nvSpPr>
        <p:spPr>
          <a:xfrm>
            <a:off x="9738360" y="3154680"/>
            <a:ext cx="1828800" cy="685800"/>
          </a:xfrm>
          <a:prstGeom prst="rect">
            <a:avLst/>
          </a:prstGeom>
          <a:noFill/>
          <a:ln/>
        </p:spPr>
        <p:txBody>
          <a:bodyPr wrap="square" lIns="0" tIns="0" rIns="0" bIns="0" rtlCol="0" anchor="ctr"/>
          <a:lstStyle/>
          <a:p>
            <a:pPr indent="0" marL="0">
              <a:buNone/>
            </a:pPr>
            <a:r>
              <a:rPr lang="en-US" sz="1000" i="1" dirty="0">
                <a:solidFill>
                  <a:srgbClr val="5A5F7A"/>
                </a:solidFill>
                <a:latin typeface="Calibri" pitchFamily="34" charset="0"/>
                <a:ea typeface="Calibri" pitchFamily="34" charset="-122"/>
                <a:cs typeface="Calibri" pitchFamily="34" charset="-120"/>
              </a:rPr>
              <a:t>Did it find the right part of the object?</a:t>
            </a:r>
            <a:endParaRPr lang="en-US" sz="1000" dirty="0"/>
          </a:p>
        </p:txBody>
      </p:sp>
      <p:sp>
        <p:nvSpPr>
          <p:cNvPr id="15" name="Shape 13"/>
          <p:cNvSpPr/>
          <p:nvPr/>
        </p:nvSpPr>
        <p:spPr>
          <a:xfrm>
            <a:off x="640080" y="4023360"/>
            <a:ext cx="10972800" cy="868680"/>
          </a:xfrm>
          <a:prstGeom prst="roundRect">
            <a:avLst>
              <a:gd name="adj" fmla="val 10526"/>
            </a:avLst>
          </a:prstGeom>
          <a:solidFill>
            <a:srgbClr val="FFFFFF"/>
          </a:solidFill>
          <a:ln w="12700">
            <a:solidFill>
              <a:srgbClr val="E3E4F0"/>
            </a:solidFill>
            <a:prstDash val="solid"/>
          </a:ln>
        </p:spPr>
      </p:sp>
      <p:sp>
        <p:nvSpPr>
          <p:cNvPr id="16" name="Text 14"/>
          <p:cNvSpPr/>
          <p:nvPr/>
        </p:nvSpPr>
        <p:spPr>
          <a:xfrm>
            <a:off x="868680" y="4114800"/>
            <a:ext cx="2926080" cy="365760"/>
          </a:xfrm>
          <a:prstGeom prst="rect">
            <a:avLst/>
          </a:prstGeom>
          <a:noFill/>
          <a:ln/>
        </p:spPr>
        <p:txBody>
          <a:bodyPr wrap="square" lIns="0" tIns="0" rIns="0" bIns="0" rtlCol="0" anchor="ctr"/>
          <a:lstStyle/>
          <a:p>
            <a:pPr indent="0" marL="0">
              <a:buNone/>
            </a:pPr>
            <a:r>
              <a:rPr lang="en-US" sz="1400" b="1" dirty="0">
                <a:solidFill>
                  <a:srgbClr val="2E2A72"/>
                </a:solidFill>
                <a:latin typeface="Cambria" pitchFamily="34" charset="0"/>
                <a:ea typeface="Cambria" pitchFamily="34" charset="-122"/>
                <a:cs typeface="Cambria" pitchFamily="34" charset="-120"/>
              </a:rPr>
              <a:t>Focus entropy</a:t>
            </a:r>
            <a:endParaRPr lang="en-US" sz="1400" dirty="0"/>
          </a:p>
        </p:txBody>
      </p:sp>
      <p:sp>
        <p:nvSpPr>
          <p:cNvPr id="17" name="Text 15"/>
          <p:cNvSpPr/>
          <p:nvPr/>
        </p:nvSpPr>
        <p:spPr>
          <a:xfrm>
            <a:off x="3749040" y="4133088"/>
            <a:ext cx="5943600" cy="685800"/>
          </a:xfrm>
          <a:prstGeom prst="rect">
            <a:avLst/>
          </a:prstGeom>
          <a:noFill/>
          <a:ln/>
        </p:spPr>
        <p:txBody>
          <a:bodyPr wrap="square" lIns="0" tIns="0" rIns="0" bIns="0" rtlCol="0" anchor="ctr"/>
          <a:lstStyle/>
          <a:p>
            <a:pPr indent="0" marL="0">
              <a:buNone/>
            </a:pPr>
            <a:r>
              <a:rPr lang="en-US" sz="1000" dirty="0">
                <a:solidFill>
                  <a:srgbClr val="1F2340"/>
                </a:solidFill>
                <a:latin typeface="Consolas" pitchFamily="34" charset="0"/>
                <a:ea typeface="Consolas" pitchFamily="34" charset="-122"/>
                <a:cs typeface="Consolas" pitchFamily="34" charset="-120"/>
              </a:rPr>
              <a:t>spread of the attention map</a:t>
            </a:r>
            <a:endParaRPr lang="en-US" sz="1000" dirty="0"/>
          </a:p>
        </p:txBody>
      </p:sp>
      <p:sp>
        <p:nvSpPr>
          <p:cNvPr id="18" name="Text 16"/>
          <p:cNvSpPr/>
          <p:nvPr/>
        </p:nvSpPr>
        <p:spPr>
          <a:xfrm>
            <a:off x="9738360" y="4114800"/>
            <a:ext cx="1828800" cy="685800"/>
          </a:xfrm>
          <a:prstGeom prst="rect">
            <a:avLst/>
          </a:prstGeom>
          <a:noFill/>
          <a:ln/>
        </p:spPr>
        <p:txBody>
          <a:bodyPr wrap="square" lIns="0" tIns="0" rIns="0" bIns="0" rtlCol="0" anchor="ctr"/>
          <a:lstStyle/>
          <a:p>
            <a:pPr indent="0" marL="0">
              <a:buNone/>
            </a:pPr>
            <a:r>
              <a:rPr lang="en-US" sz="1000" i="1" dirty="0">
                <a:solidFill>
                  <a:srgbClr val="5A5F7A"/>
                </a:solidFill>
                <a:latin typeface="Calibri" pitchFamily="34" charset="0"/>
                <a:ea typeface="Calibri" pitchFamily="34" charset="-122"/>
                <a:cs typeface="Calibri" pitchFamily="34" charset="-120"/>
              </a:rPr>
              <a:t>Broad background-y vs sharp object-y</a:t>
            </a:r>
            <a:endParaRPr lang="en-US" sz="1000" dirty="0"/>
          </a:p>
        </p:txBody>
      </p:sp>
      <p:sp>
        <p:nvSpPr>
          <p:cNvPr id="19" name="Shape 17"/>
          <p:cNvSpPr/>
          <p:nvPr/>
        </p:nvSpPr>
        <p:spPr>
          <a:xfrm>
            <a:off x="640080" y="4983480"/>
            <a:ext cx="10972800" cy="868680"/>
          </a:xfrm>
          <a:prstGeom prst="roundRect">
            <a:avLst>
              <a:gd name="adj" fmla="val 10526"/>
            </a:avLst>
          </a:prstGeom>
          <a:solidFill>
            <a:srgbClr val="FFFFFF"/>
          </a:solidFill>
          <a:ln w="12700">
            <a:solidFill>
              <a:srgbClr val="E3E4F0"/>
            </a:solidFill>
            <a:prstDash val="solid"/>
          </a:ln>
        </p:spPr>
      </p:sp>
      <p:sp>
        <p:nvSpPr>
          <p:cNvPr id="20" name="Text 18"/>
          <p:cNvSpPr/>
          <p:nvPr/>
        </p:nvSpPr>
        <p:spPr>
          <a:xfrm>
            <a:off x="868680" y="5074920"/>
            <a:ext cx="2926080" cy="365760"/>
          </a:xfrm>
          <a:prstGeom prst="rect">
            <a:avLst/>
          </a:prstGeom>
          <a:noFill/>
          <a:ln/>
        </p:spPr>
        <p:txBody>
          <a:bodyPr wrap="square" lIns="0" tIns="0" rIns="0" bIns="0" rtlCol="0" anchor="ctr"/>
          <a:lstStyle/>
          <a:p>
            <a:pPr indent="0" marL="0">
              <a:buNone/>
            </a:pPr>
            <a:r>
              <a:rPr lang="en-US" sz="1400" b="1" dirty="0">
                <a:solidFill>
                  <a:srgbClr val="2E2A72"/>
                </a:solidFill>
                <a:latin typeface="Cambria" pitchFamily="34" charset="0"/>
                <a:ea typeface="Cambria" pitchFamily="34" charset="-122"/>
                <a:cs typeface="Cambria" pitchFamily="34" charset="-120"/>
              </a:rPr>
              <a:t>Background / object sensitivity</a:t>
            </a:r>
            <a:endParaRPr lang="en-US" sz="1400" dirty="0"/>
          </a:p>
        </p:txBody>
      </p:sp>
      <p:sp>
        <p:nvSpPr>
          <p:cNvPr id="21" name="Text 19"/>
          <p:cNvSpPr/>
          <p:nvPr/>
        </p:nvSpPr>
        <p:spPr>
          <a:xfrm>
            <a:off x="3749040" y="5093208"/>
            <a:ext cx="5943600" cy="685800"/>
          </a:xfrm>
          <a:prstGeom prst="rect">
            <a:avLst/>
          </a:prstGeom>
          <a:noFill/>
          <a:ln/>
        </p:spPr>
        <p:txBody>
          <a:bodyPr wrap="square" lIns="0" tIns="0" rIns="0" bIns="0" rtlCol="0" anchor="ctr"/>
          <a:lstStyle/>
          <a:p>
            <a:pPr indent="0" marL="0">
              <a:buNone/>
            </a:pPr>
            <a:r>
              <a:rPr lang="en-US" sz="1000" dirty="0">
                <a:solidFill>
                  <a:srgbClr val="1F2340"/>
                </a:solidFill>
                <a:latin typeface="Consolas" pitchFamily="34" charset="0"/>
                <a:ea typeface="Consolas" pitchFamily="34" charset="-122"/>
                <a:cs typeface="Consolas" pitchFamily="34" charset="-120"/>
              </a:rPr>
              <a:t>prediction shift when the background is masked</a:t>
            </a:r>
            <a:endParaRPr lang="en-US" sz="1000" dirty="0"/>
          </a:p>
        </p:txBody>
      </p:sp>
      <p:sp>
        <p:nvSpPr>
          <p:cNvPr id="22" name="Text 20"/>
          <p:cNvSpPr/>
          <p:nvPr/>
        </p:nvSpPr>
        <p:spPr>
          <a:xfrm>
            <a:off x="9738360" y="5074920"/>
            <a:ext cx="1828800" cy="685800"/>
          </a:xfrm>
          <a:prstGeom prst="rect">
            <a:avLst/>
          </a:prstGeom>
          <a:noFill/>
          <a:ln/>
        </p:spPr>
        <p:txBody>
          <a:bodyPr wrap="square" lIns="0" tIns="0" rIns="0" bIns="0" rtlCol="0" anchor="ctr"/>
          <a:lstStyle/>
          <a:p>
            <a:pPr indent="0" marL="0">
              <a:buNone/>
            </a:pPr>
            <a:r>
              <a:rPr lang="en-US" sz="1000" i="1" dirty="0">
                <a:solidFill>
                  <a:srgbClr val="5A5F7A"/>
                </a:solidFill>
                <a:latin typeface="Calibri" pitchFamily="34" charset="0"/>
                <a:ea typeface="Calibri" pitchFamily="34" charset="-122"/>
                <a:cs typeface="Calibri" pitchFamily="34" charset="-120"/>
              </a:rPr>
              <a:t>How much does it lean on the background?</a:t>
            </a:r>
            <a:endParaRPr lang="en-US" sz="1000" dirty="0"/>
          </a:p>
        </p:txBody>
      </p:sp>
      <p:sp>
        <p:nvSpPr>
          <p:cNvPr id="23" name="Shape 21"/>
          <p:cNvSpPr/>
          <p:nvPr/>
        </p:nvSpPr>
        <p:spPr>
          <a:xfrm>
            <a:off x="640080" y="6035040"/>
            <a:ext cx="10972800" cy="502920"/>
          </a:xfrm>
          <a:prstGeom prst="roundRect">
            <a:avLst>
              <a:gd name="adj" fmla="val 14545"/>
            </a:avLst>
          </a:prstGeom>
          <a:solidFill>
            <a:srgbClr val="E6F7F4"/>
          </a:solidFill>
          <a:ln/>
        </p:spPr>
      </p:sp>
      <p:sp>
        <p:nvSpPr>
          <p:cNvPr id="24" name="Text 22"/>
          <p:cNvSpPr/>
          <p:nvPr/>
        </p:nvSpPr>
        <p:spPr>
          <a:xfrm>
            <a:off x="822960" y="6080760"/>
            <a:ext cx="10607040" cy="365760"/>
          </a:xfrm>
          <a:prstGeom prst="rect">
            <a:avLst/>
          </a:prstGeom>
          <a:noFill/>
          <a:ln/>
        </p:spPr>
        <p:txBody>
          <a:bodyPr wrap="square" lIns="0" tIns="0" rIns="0" bIns="0" rtlCol="0" anchor="ctr"/>
          <a:lstStyle/>
          <a:p>
            <a:pPr indent="0" marL="0">
              <a:buNone/>
            </a:pPr>
            <a:r>
              <a:rPr lang="en-US" sz="1250" b="1" dirty="0">
                <a:solidFill>
                  <a:srgbClr val="006B59"/>
                </a:solidFill>
                <a:latin typeface="Calibri" pitchFamily="34" charset="0"/>
                <a:ea typeface="Calibri" pitchFamily="34" charset="-122"/>
                <a:cs typeface="Calibri" pitchFamily="34" charset="-120"/>
              </a:rPr>
              <a:t>Why CUB-200?  Bounding boxes + part keypoints — metrics measurable against annotations, not eyeballs.  DECISIONS §4.</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C"/>
        </a:solidFill>
      </p:bgPr>
    </p:bg>
    <p:spTree>
      <p:nvGrpSpPr>
        <p:cNvPr id="1" name=""/>
        <p:cNvGrpSpPr/>
        <p:nvPr/>
      </p:nvGrpSpPr>
      <p:grpSpPr>
        <a:xfrm>
          <a:off x="0" y="0"/>
          <a:ext cx="0" cy="0"/>
          <a:chOff x="0" y="0"/>
          <a:chExt cx="0" cy="0"/>
        </a:xfrm>
      </p:grpSpPr>
      <p:sp>
        <p:nvSpPr>
          <p:cNvPr id="2" name="Shape 0"/>
          <p:cNvSpPr/>
          <p:nvPr/>
        </p:nvSpPr>
        <p:spPr>
          <a:xfrm>
            <a:off x="566928" y="411480"/>
            <a:ext cx="457200" cy="457200"/>
          </a:xfrm>
          <a:prstGeom prst="ellipse">
            <a:avLst/>
          </a:prstGeom>
          <a:solidFill>
            <a:srgbClr val="00C9A7"/>
          </a:solidFill>
          <a:ln/>
        </p:spPr>
      </p:sp>
      <p:sp>
        <p:nvSpPr>
          <p:cNvPr id="3" name="Text 1"/>
          <p:cNvSpPr/>
          <p:nvPr/>
        </p:nvSpPr>
        <p:spPr>
          <a:xfrm>
            <a:off x="566928" y="411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ext 2"/>
          <p:cNvSpPr/>
          <p:nvPr/>
        </p:nvSpPr>
        <p:spPr>
          <a:xfrm>
            <a:off x="1097280" y="457200"/>
            <a:ext cx="7315200" cy="411480"/>
          </a:xfrm>
          <a:prstGeom prst="rect">
            <a:avLst/>
          </a:prstGeom>
          <a:noFill/>
          <a:ln/>
        </p:spPr>
        <p:txBody>
          <a:bodyPr wrap="square" lIns="0" tIns="0" rIns="0" bIns="0" rtlCol="0" anchor="ctr"/>
          <a:lstStyle/>
          <a:p>
            <a:pPr indent="0" marL="0">
              <a:buNone/>
            </a:pPr>
            <a:r>
              <a:rPr lang="en-US" sz="1200" b="1" dirty="0">
                <a:solidFill>
                  <a:srgbClr val="5A5F7A"/>
                </a:solidFill>
                <a:latin typeface="Calibri" pitchFamily="34" charset="0"/>
                <a:ea typeface="Calibri" pitchFamily="34" charset="-122"/>
                <a:cs typeface="Calibri" pitchFamily="34" charset="-120"/>
              </a:rPr>
              <a:t>Intervention</a:t>
            </a:r>
            <a:endParaRPr lang="en-US" sz="1200" dirty="0"/>
          </a:p>
        </p:txBody>
      </p:sp>
      <p:sp>
        <p:nvSpPr>
          <p:cNvPr id="5" name="Text 3"/>
          <p:cNvSpPr/>
          <p:nvPr/>
        </p:nvSpPr>
        <p:spPr>
          <a:xfrm>
            <a:off x="548640" y="914400"/>
            <a:ext cx="11064240" cy="640080"/>
          </a:xfrm>
          <a:prstGeom prst="rect">
            <a:avLst/>
          </a:prstGeom>
          <a:noFill/>
          <a:ln/>
        </p:spPr>
        <p:txBody>
          <a:bodyPr wrap="square" lIns="0" tIns="0" rIns="0" bIns="0" rtlCol="0" anchor="ctr"/>
          <a:lstStyle/>
          <a:p>
            <a:pPr indent="0" marL="0">
              <a:buNone/>
            </a:pPr>
            <a:r>
              <a:rPr lang="en-US" sz="2600" b="1" dirty="0">
                <a:solidFill>
                  <a:srgbClr val="1F2340"/>
                </a:solidFill>
                <a:latin typeface="Cambria" pitchFamily="34" charset="0"/>
                <a:ea typeface="Cambria" pitchFamily="34" charset="-122"/>
                <a:cs typeface="Cambria" pitchFamily="34" charset="-120"/>
              </a:rPr>
              <a:t>Stage 5 — Intervention loop</a:t>
            </a:r>
            <a:endParaRPr lang="en-US" sz="2600" dirty="0"/>
          </a:p>
        </p:txBody>
      </p:sp>
      <p:sp>
        <p:nvSpPr>
          <p:cNvPr id="6" name="Text 4"/>
          <p:cNvSpPr/>
          <p:nvPr/>
        </p:nvSpPr>
        <p:spPr>
          <a:xfrm>
            <a:off x="566928" y="1508760"/>
            <a:ext cx="10972800" cy="365760"/>
          </a:xfrm>
          <a:prstGeom prst="rect">
            <a:avLst/>
          </a:prstGeom>
          <a:noFill/>
          <a:ln/>
        </p:spPr>
        <p:txBody>
          <a:bodyPr wrap="square" lIns="0" tIns="0" rIns="0" bIns="0" rtlCol="0" anchor="ctr"/>
          <a:lstStyle/>
          <a:p>
            <a:pPr indent="0" marL="0">
              <a:buNone/>
            </a:pPr>
            <a:r>
              <a:rPr lang="en-US" sz="1300" dirty="0">
                <a:solidFill>
                  <a:srgbClr val="5A5F7A"/>
                </a:solidFill>
                <a:latin typeface="Calibri" pitchFamily="34" charset="0"/>
                <a:ea typeface="Calibri" pitchFamily="34" charset="-122"/>
                <a:cs typeface="Calibri" pitchFamily="34" charset="-120"/>
              </a:rPr>
              <a:t>Mask a region → re-run → pred_before ≠ pred_after is causal proof, not correlation.</a:t>
            </a:r>
            <a:endParaRPr lang="en-US" sz="1300" dirty="0"/>
          </a:p>
        </p:txBody>
      </p:sp>
      <p:sp>
        <p:nvSpPr>
          <p:cNvPr id="7" name="Shape 5"/>
          <p:cNvSpPr/>
          <p:nvPr/>
        </p:nvSpPr>
        <p:spPr>
          <a:xfrm>
            <a:off x="640080" y="2103120"/>
            <a:ext cx="2606040" cy="1280160"/>
          </a:xfrm>
          <a:prstGeom prst="roundRect">
            <a:avLst>
              <a:gd name="adj" fmla="val 7143"/>
            </a:avLst>
          </a:prstGeom>
          <a:solidFill>
            <a:srgbClr val="00C9A7"/>
          </a:solidFill>
          <a:ln/>
        </p:spPr>
      </p:sp>
      <p:sp>
        <p:nvSpPr>
          <p:cNvPr id="8" name="Text 6"/>
          <p:cNvSpPr/>
          <p:nvPr/>
        </p:nvSpPr>
        <p:spPr>
          <a:xfrm>
            <a:off x="640080" y="228600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 clicks region</a:t>
            </a:r>
            <a:endParaRPr lang="en-US" sz="1400" dirty="0"/>
          </a:p>
        </p:txBody>
      </p:sp>
      <p:sp>
        <p:nvSpPr>
          <p:cNvPr id="9" name="Text 7"/>
          <p:cNvSpPr/>
          <p:nvPr/>
        </p:nvSpPr>
        <p:spPr>
          <a:xfrm>
            <a:off x="640080" y="2788920"/>
            <a:ext cx="2606040" cy="457200"/>
          </a:xfrm>
          <a:prstGeom prst="rect">
            <a:avLst/>
          </a:prstGeom>
          <a:noFill/>
          <a:ln/>
        </p:spPr>
        <p:txBody>
          <a:bodyPr wrap="square" lIns="0" tIns="0" rIns="0" bIns="0" rtlCol="0" anchor="ctr"/>
          <a:lstStyle/>
          <a:p>
            <a:pPr algn="ctr" indent="0" marL="0">
              <a:buNone/>
            </a:pPr>
            <a:r>
              <a:rPr lang="en-US" sz="1100" dirty="0">
                <a:solidFill>
                  <a:srgbClr val="EFF0FF"/>
                </a:solidFill>
                <a:latin typeface="Calibri" pitchFamily="34" charset="0"/>
                <a:ea typeface="Calibri" pitchFamily="34" charset="-122"/>
                <a:cs typeface="Calibri" pitchFamily="34" charset="-120"/>
              </a:rPr>
              <a:t>UI (Gradio)</a:t>
            </a:r>
            <a:endParaRPr lang="en-US" sz="1100" dirty="0"/>
          </a:p>
        </p:txBody>
      </p:sp>
      <p:sp>
        <p:nvSpPr>
          <p:cNvPr id="10" name="Text 8"/>
          <p:cNvSpPr/>
          <p:nvPr/>
        </p:nvSpPr>
        <p:spPr>
          <a:xfrm>
            <a:off x="3246120" y="2606040"/>
            <a:ext cx="320040"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547872" y="2103120"/>
            <a:ext cx="2606040" cy="1280160"/>
          </a:xfrm>
          <a:prstGeom prst="roundRect">
            <a:avLst>
              <a:gd name="adj" fmla="val 7143"/>
            </a:avLst>
          </a:prstGeom>
          <a:solidFill>
            <a:srgbClr val="2E2A72"/>
          </a:solidFill>
          <a:ln/>
        </p:spPr>
      </p:sp>
      <p:sp>
        <p:nvSpPr>
          <p:cNvPr id="12" name="Text 10"/>
          <p:cNvSpPr/>
          <p:nvPr/>
        </p:nvSpPr>
        <p:spPr>
          <a:xfrm>
            <a:off x="3547872" y="228600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Mask (x,y,w,h)</a:t>
            </a:r>
            <a:endParaRPr lang="en-US" sz="1400" dirty="0"/>
          </a:p>
        </p:txBody>
      </p:sp>
      <p:sp>
        <p:nvSpPr>
          <p:cNvPr id="13" name="Text 11"/>
          <p:cNvSpPr/>
          <p:nvPr/>
        </p:nvSpPr>
        <p:spPr>
          <a:xfrm>
            <a:off x="3547872" y="2788920"/>
            <a:ext cx="2606040" cy="457200"/>
          </a:xfrm>
          <a:prstGeom prst="rect">
            <a:avLst/>
          </a:prstGeom>
          <a:noFill/>
          <a:ln/>
        </p:spPr>
        <p:txBody>
          <a:bodyPr wrap="square" lIns="0" tIns="0" rIns="0" bIns="0" rtlCol="0" anchor="ctr"/>
          <a:lstStyle/>
          <a:p>
            <a:pPr algn="ctr" indent="0" marL="0">
              <a:buNone/>
            </a:pPr>
            <a:r>
              <a:rPr lang="en-US" sz="1100" dirty="0">
                <a:solidFill>
                  <a:srgbClr val="EFF0FF"/>
                </a:solidFill>
                <a:latin typeface="Calibri" pitchFamily="34" charset="0"/>
                <a:ea typeface="Calibri" pitchFamily="34" charset="-122"/>
                <a:cs typeface="Calibri" pitchFamily="34" charset="-120"/>
              </a:rPr>
              <a:t>InterventionResult</a:t>
            </a:r>
            <a:endParaRPr lang="en-US" sz="1100" dirty="0"/>
          </a:p>
        </p:txBody>
      </p:sp>
      <p:sp>
        <p:nvSpPr>
          <p:cNvPr id="14" name="Text 12"/>
          <p:cNvSpPr/>
          <p:nvPr/>
        </p:nvSpPr>
        <p:spPr>
          <a:xfrm>
            <a:off x="6153912" y="2606040"/>
            <a:ext cx="320040"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455664" y="2103120"/>
            <a:ext cx="2606040" cy="1280160"/>
          </a:xfrm>
          <a:prstGeom prst="roundRect">
            <a:avLst>
              <a:gd name="adj" fmla="val 7143"/>
            </a:avLst>
          </a:prstGeom>
          <a:solidFill>
            <a:srgbClr val="D9534F"/>
          </a:solidFill>
          <a:ln/>
        </p:spPr>
      </p:sp>
      <p:sp>
        <p:nvSpPr>
          <p:cNvPr id="16" name="Text 14"/>
          <p:cNvSpPr/>
          <p:nvPr/>
        </p:nvSpPr>
        <p:spPr>
          <a:xfrm>
            <a:off x="6455664" y="228600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Re-run forward</a:t>
            </a:r>
            <a:endParaRPr lang="en-US" sz="1400" dirty="0"/>
          </a:p>
        </p:txBody>
      </p:sp>
      <p:sp>
        <p:nvSpPr>
          <p:cNvPr id="17" name="Text 15"/>
          <p:cNvSpPr/>
          <p:nvPr/>
        </p:nvSpPr>
        <p:spPr>
          <a:xfrm>
            <a:off x="6455664" y="2788920"/>
            <a:ext cx="2606040" cy="457200"/>
          </a:xfrm>
          <a:prstGeom prst="rect">
            <a:avLst/>
          </a:prstGeom>
          <a:noFill/>
          <a:ln/>
        </p:spPr>
        <p:txBody>
          <a:bodyPr wrap="square" lIns="0" tIns="0" rIns="0" bIns="0" rtlCol="0" anchor="ctr"/>
          <a:lstStyle/>
          <a:p>
            <a:pPr algn="ctr" indent="0" marL="0">
              <a:buNone/>
            </a:pPr>
            <a:r>
              <a:rPr lang="en-US" sz="1100" dirty="0">
                <a:solidFill>
                  <a:srgbClr val="EFF0FF"/>
                </a:solidFill>
                <a:latin typeface="Calibri" pitchFamily="34" charset="0"/>
                <a:ea typeface="Calibri" pitchFamily="34" charset="-122"/>
                <a:cs typeface="Calibri" pitchFamily="34" charset="-120"/>
              </a:rPr>
              <a:t>model(x_masked)</a:t>
            </a:r>
            <a:endParaRPr lang="en-US" sz="1100" dirty="0"/>
          </a:p>
        </p:txBody>
      </p:sp>
      <p:sp>
        <p:nvSpPr>
          <p:cNvPr id="18" name="Text 16"/>
          <p:cNvSpPr/>
          <p:nvPr/>
        </p:nvSpPr>
        <p:spPr>
          <a:xfrm>
            <a:off x="9061704" y="2606040"/>
            <a:ext cx="320040"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363456" y="2103120"/>
            <a:ext cx="2606040" cy="1280160"/>
          </a:xfrm>
          <a:prstGeom prst="roundRect">
            <a:avLst>
              <a:gd name="adj" fmla="val 7143"/>
            </a:avLst>
          </a:prstGeom>
          <a:solidFill>
            <a:srgbClr val="006B59"/>
          </a:solidFill>
          <a:ln/>
        </p:spPr>
      </p:sp>
      <p:sp>
        <p:nvSpPr>
          <p:cNvPr id="20" name="Text 18"/>
          <p:cNvSpPr/>
          <p:nvPr/>
        </p:nvSpPr>
        <p:spPr>
          <a:xfrm>
            <a:off x="9363456" y="2286000"/>
            <a:ext cx="26060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Compare preds</a:t>
            </a:r>
            <a:endParaRPr lang="en-US" sz="1400" dirty="0"/>
          </a:p>
        </p:txBody>
      </p:sp>
      <p:sp>
        <p:nvSpPr>
          <p:cNvPr id="21" name="Text 19"/>
          <p:cNvSpPr/>
          <p:nvPr/>
        </p:nvSpPr>
        <p:spPr>
          <a:xfrm>
            <a:off x="9363456" y="2788920"/>
            <a:ext cx="2606040" cy="457200"/>
          </a:xfrm>
          <a:prstGeom prst="rect">
            <a:avLst/>
          </a:prstGeom>
          <a:noFill/>
          <a:ln/>
        </p:spPr>
        <p:txBody>
          <a:bodyPr wrap="square" lIns="0" tIns="0" rIns="0" bIns="0" rtlCol="0" anchor="ctr"/>
          <a:lstStyle/>
          <a:p>
            <a:pPr algn="ctr" indent="0" marL="0">
              <a:buNone/>
            </a:pPr>
            <a:r>
              <a:rPr lang="en-US" sz="1100" dirty="0">
                <a:solidFill>
                  <a:srgbClr val="EFF0FF"/>
                </a:solidFill>
                <a:latin typeface="Calibri" pitchFamily="34" charset="0"/>
                <a:ea typeface="Calibri" pitchFamily="34" charset="-122"/>
                <a:cs typeface="Calibri" pitchFamily="34" charset="-120"/>
              </a:rPr>
              <a:t>before vs after</a:t>
            </a:r>
            <a:endParaRPr lang="en-US" sz="1100" dirty="0"/>
          </a:p>
        </p:txBody>
      </p:sp>
      <p:sp>
        <p:nvSpPr>
          <p:cNvPr id="22" name="Shape 20"/>
          <p:cNvSpPr/>
          <p:nvPr/>
        </p:nvSpPr>
        <p:spPr>
          <a:xfrm>
            <a:off x="640080" y="3611880"/>
            <a:ext cx="10972800" cy="1965960"/>
          </a:xfrm>
          <a:prstGeom prst="roundRect">
            <a:avLst>
              <a:gd name="adj" fmla="val 5581"/>
            </a:avLst>
          </a:prstGeom>
          <a:solidFill>
            <a:srgbClr val="FFFFFF"/>
          </a:solidFill>
          <a:ln w="12700">
            <a:solidFill>
              <a:srgbClr val="E3E4F0"/>
            </a:solidFill>
            <a:prstDash val="solid"/>
          </a:ln>
        </p:spPr>
      </p:sp>
      <p:sp>
        <p:nvSpPr>
          <p:cNvPr id="23" name="Text 21"/>
          <p:cNvSpPr/>
          <p:nvPr/>
        </p:nvSpPr>
        <p:spPr>
          <a:xfrm>
            <a:off x="914400" y="3703320"/>
            <a:ext cx="10424160" cy="365760"/>
          </a:xfrm>
          <a:prstGeom prst="rect">
            <a:avLst/>
          </a:prstGeom>
          <a:noFill/>
          <a:ln/>
        </p:spPr>
        <p:txBody>
          <a:bodyPr wrap="square" lIns="0" tIns="0" rIns="0" bIns="0" rtlCol="0" anchor="ctr"/>
          <a:lstStyle/>
          <a:p>
            <a:pPr indent="0" marL="0">
              <a:buNone/>
            </a:pPr>
            <a:r>
              <a:rPr lang="en-US" sz="1600" b="1" dirty="0">
                <a:solidFill>
                  <a:srgbClr val="2E2A72"/>
                </a:solidFill>
                <a:latin typeface="Cambria" pitchFamily="34" charset="0"/>
                <a:ea typeface="Cambria" pitchFamily="34" charset="-122"/>
                <a:cs typeface="Cambria" pitchFamily="34" charset="-120"/>
              </a:rPr>
              <a:t>InterventionResult — the evidence packet</a:t>
            </a:r>
            <a:endParaRPr lang="en-US" sz="1600" dirty="0"/>
          </a:p>
        </p:txBody>
      </p:sp>
      <p:sp>
        <p:nvSpPr>
          <p:cNvPr id="24" name="Text 22"/>
          <p:cNvSpPr/>
          <p:nvPr/>
        </p:nvSpPr>
        <p:spPr>
          <a:xfrm>
            <a:off x="914400" y="4114800"/>
            <a:ext cx="10424160" cy="137160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050" dirty="0">
                <a:solidFill>
                  <a:srgbClr val="1F2340"/>
                </a:solidFill>
                <a:latin typeface="Consolas" pitchFamily="34" charset="0"/>
                <a:ea typeface="Consolas" pitchFamily="34" charset="-122"/>
                <a:cs typeface="Consolas" pitchFamily="34" charset="-120"/>
              </a:rPr>
              <a:t>region          (x, y, w, h) in input coordinates</a:t>
            </a:r>
            <a:endParaRPr lang="en-US" sz="1050" dirty="0"/>
          </a:p>
          <a:p>
            <a:pPr marL="342900" indent="-342900">
              <a:lnSpc>
                <a:spcPts val="1600"/>
              </a:lnSpc>
              <a:spcAft>
                <a:spcPts val="600"/>
              </a:spcAft>
              <a:buSzPct val="100000"/>
              <a:buChar char="•"/>
            </a:pPr>
            <a:r>
              <a:rPr lang="en-US" sz="1050" dirty="0">
                <a:solidFill>
                  <a:srgbClr val="1F2340"/>
                </a:solidFill>
                <a:latin typeface="Consolas" pitchFamily="34" charset="0"/>
                <a:ea typeface="Consolas" pitchFamily="34" charset="-122"/>
                <a:cs typeface="Consolas" pitchFamily="34" charset="-120"/>
              </a:rPr>
              <a:t>pred_before     e.g.  "Samoyed"</a:t>
            </a:r>
            <a:endParaRPr lang="en-US" sz="1050" dirty="0"/>
          </a:p>
          <a:p>
            <a:pPr marL="342900" indent="-342900">
              <a:lnSpc>
                <a:spcPts val="1600"/>
              </a:lnSpc>
              <a:spcAft>
                <a:spcPts val="600"/>
              </a:spcAft>
              <a:buSzPct val="100000"/>
              <a:buChar char="•"/>
            </a:pPr>
            <a:r>
              <a:rPr lang="en-US" sz="1050" dirty="0">
                <a:solidFill>
                  <a:srgbClr val="1F2340"/>
                </a:solidFill>
                <a:latin typeface="Consolas" pitchFamily="34" charset="0"/>
                <a:ea typeface="Consolas" pitchFamily="34" charset="-122"/>
                <a:cs typeface="Consolas" pitchFamily="34" charset="-120"/>
              </a:rPr>
              <a:t>pred_after      e.g.  "white wolf"</a:t>
            </a:r>
            <a:endParaRPr lang="en-US" sz="1050" dirty="0"/>
          </a:p>
          <a:p>
            <a:pPr marL="342900" indent="-342900">
              <a:lnSpc>
                <a:spcPts val="1600"/>
              </a:lnSpc>
              <a:spcAft>
                <a:spcPts val="600"/>
              </a:spcAft>
              <a:buSzPct val="100000"/>
              <a:buChar char="•"/>
            </a:pPr>
            <a:r>
              <a:rPr lang="en-US" sz="1050" dirty="0">
                <a:solidFill>
                  <a:srgbClr val="1F2340"/>
                </a:solidFill>
                <a:latin typeface="Consolas" pitchFamily="34" charset="0"/>
                <a:ea typeface="Consolas" pitchFamily="34" charset="-122"/>
                <a:cs typeface="Consolas" pitchFamily="34" charset="-120"/>
              </a:rPr>
              <a:t>logit_delta     e.g.  -4.21  (how much the prediction moved)</a:t>
            </a:r>
            <a:endParaRPr lang="en-US" sz="1050" dirty="0"/>
          </a:p>
          <a:p>
            <a:pPr marL="342900" indent="-342900">
              <a:lnSpc>
                <a:spcPts val="1600"/>
              </a:lnSpc>
              <a:buSzPct val="100000"/>
              <a:buChar char="•"/>
            </a:pPr>
            <a:r>
              <a:rPr lang="en-US" sz="1050" dirty="0">
                <a:solidFill>
                  <a:srgbClr val="1F2340"/>
                </a:solidFill>
                <a:latin typeface="Consolas" pitchFamily="34" charset="0"/>
                <a:ea typeface="Consolas" pitchFamily="34" charset="-122"/>
                <a:cs typeface="Consolas" pitchFamily="34" charset="-120"/>
              </a:rPr>
              <a:t>metadata        (mask type, baseline confidence, ...)</a:t>
            </a:r>
            <a:endParaRPr lang="en-US" sz="1050" dirty="0"/>
          </a:p>
        </p:txBody>
      </p:sp>
      <p:sp>
        <p:nvSpPr>
          <p:cNvPr id="25" name="Shape 23"/>
          <p:cNvSpPr/>
          <p:nvPr/>
        </p:nvSpPr>
        <p:spPr>
          <a:xfrm>
            <a:off x="640080" y="5577840"/>
            <a:ext cx="10972800" cy="640080"/>
          </a:xfrm>
          <a:prstGeom prst="roundRect">
            <a:avLst>
              <a:gd name="adj" fmla="val 11429"/>
            </a:avLst>
          </a:prstGeom>
          <a:solidFill>
            <a:srgbClr val="FFF6E6"/>
          </a:solidFill>
          <a:ln w="12700">
            <a:solidFill>
              <a:srgbClr val="E5C07B"/>
            </a:solidFill>
            <a:prstDash val="solid"/>
          </a:ln>
        </p:spPr>
      </p:sp>
      <p:sp>
        <p:nvSpPr>
          <p:cNvPr id="26" name="Text 24"/>
          <p:cNvSpPr/>
          <p:nvPr/>
        </p:nvSpPr>
        <p:spPr>
          <a:xfrm>
            <a:off x="822960" y="5669280"/>
            <a:ext cx="10607040" cy="457200"/>
          </a:xfrm>
          <a:prstGeom prst="rect">
            <a:avLst/>
          </a:prstGeom>
          <a:noFill/>
          <a:ln/>
        </p:spPr>
        <p:txBody>
          <a:bodyPr wrap="square" lIns="0" tIns="0" rIns="0" bIns="0" rtlCol="0" anchor="ctr"/>
          <a:lstStyle/>
          <a:p>
            <a:pPr indent="0" marL="0">
              <a:buNone/>
            </a:pPr>
            <a:r>
              <a:rPr lang="en-US" sz="1250" dirty="0">
                <a:solidFill>
                  <a:srgbClr val="6B4A12"/>
                </a:solidFill>
                <a:latin typeface="Calibri" pitchFamily="34" charset="0"/>
                <a:ea typeface="Calibri" pitchFamily="34" charset="-122"/>
                <a:cs typeface="Calibri" pitchFamily="34" charset="-120"/>
              </a:rPr>
              <a:t>M4 gate:  masking the head must flip bird predictions on CUB-200.  If it doesn't, the explanation was wrong — and the tool tells you so.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C"/>
        </a:solidFill>
      </p:bgPr>
    </p:bg>
    <p:spTree>
      <p:nvGrpSpPr>
        <p:cNvPr id="1" name=""/>
        <p:cNvGrpSpPr/>
        <p:nvPr/>
      </p:nvGrpSpPr>
      <p:grpSpPr>
        <a:xfrm>
          <a:off x="0" y="0"/>
          <a:ext cx="0" cy="0"/>
          <a:chOff x="0" y="0"/>
          <a:chExt cx="0" cy="0"/>
        </a:xfrm>
      </p:grpSpPr>
      <p:sp>
        <p:nvSpPr>
          <p:cNvPr id="2" name="Shape 0"/>
          <p:cNvSpPr/>
          <p:nvPr/>
        </p:nvSpPr>
        <p:spPr>
          <a:xfrm>
            <a:off x="566928" y="411480"/>
            <a:ext cx="457200" cy="457200"/>
          </a:xfrm>
          <a:prstGeom prst="ellipse">
            <a:avLst/>
          </a:prstGeom>
          <a:solidFill>
            <a:srgbClr val="00C9A7"/>
          </a:solidFill>
          <a:ln/>
        </p:spPr>
      </p:sp>
      <p:sp>
        <p:nvSpPr>
          <p:cNvPr id="3" name="Text 1"/>
          <p:cNvSpPr/>
          <p:nvPr/>
        </p:nvSpPr>
        <p:spPr>
          <a:xfrm>
            <a:off x="566928" y="411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 name="Text 2"/>
          <p:cNvSpPr/>
          <p:nvPr/>
        </p:nvSpPr>
        <p:spPr>
          <a:xfrm>
            <a:off x="1097280" y="457200"/>
            <a:ext cx="7315200" cy="411480"/>
          </a:xfrm>
          <a:prstGeom prst="rect">
            <a:avLst/>
          </a:prstGeom>
          <a:noFill/>
          <a:ln/>
        </p:spPr>
        <p:txBody>
          <a:bodyPr wrap="square" lIns="0" tIns="0" rIns="0" bIns="0" rtlCol="0" anchor="ctr"/>
          <a:lstStyle/>
          <a:p>
            <a:pPr indent="0" marL="0">
              <a:buNone/>
            </a:pPr>
            <a:r>
              <a:rPr lang="en-US" sz="1200" b="1" dirty="0">
                <a:solidFill>
                  <a:srgbClr val="5A5F7A"/>
                </a:solidFill>
                <a:latin typeface="Calibri" pitchFamily="34" charset="0"/>
                <a:ea typeface="Calibri" pitchFamily="34" charset="-122"/>
                <a:cs typeface="Calibri" pitchFamily="34" charset="-120"/>
              </a:rPr>
              <a:t>Screening</a:t>
            </a:r>
            <a:endParaRPr lang="en-US" sz="1200" dirty="0"/>
          </a:p>
        </p:txBody>
      </p:sp>
      <p:sp>
        <p:nvSpPr>
          <p:cNvPr id="5" name="Text 3"/>
          <p:cNvSpPr/>
          <p:nvPr/>
        </p:nvSpPr>
        <p:spPr>
          <a:xfrm>
            <a:off x="548640" y="914400"/>
            <a:ext cx="11064240" cy="640080"/>
          </a:xfrm>
          <a:prstGeom prst="rect">
            <a:avLst/>
          </a:prstGeom>
          <a:noFill/>
          <a:ln/>
        </p:spPr>
        <p:txBody>
          <a:bodyPr wrap="square" lIns="0" tIns="0" rIns="0" bIns="0" rtlCol="0" anchor="ctr"/>
          <a:lstStyle/>
          <a:p>
            <a:pPr indent="0" marL="0">
              <a:buNone/>
            </a:pPr>
            <a:r>
              <a:rPr lang="en-US" sz="2600" b="1" dirty="0">
                <a:solidFill>
                  <a:srgbClr val="1F2340"/>
                </a:solidFill>
                <a:latin typeface="Cambria" pitchFamily="34" charset="0"/>
                <a:ea typeface="Cambria" pitchFamily="34" charset="-122"/>
                <a:cs typeface="Cambria" pitchFamily="34" charset="-120"/>
              </a:rPr>
              <a:t>Stage 6 — Screening &amp; verdict</a:t>
            </a:r>
            <a:endParaRPr lang="en-US" sz="2600" dirty="0"/>
          </a:p>
        </p:txBody>
      </p:sp>
      <p:sp>
        <p:nvSpPr>
          <p:cNvPr id="6" name="Text 4"/>
          <p:cNvSpPr/>
          <p:nvPr/>
        </p:nvSpPr>
        <p:spPr>
          <a:xfrm>
            <a:off x="566928" y="1508760"/>
            <a:ext cx="10972800" cy="365760"/>
          </a:xfrm>
          <a:prstGeom prst="rect">
            <a:avLst/>
          </a:prstGeom>
          <a:noFill/>
          <a:ln/>
        </p:spPr>
        <p:txBody>
          <a:bodyPr wrap="square" lIns="0" tIns="0" rIns="0" bIns="0" rtlCol="0" anchor="ctr"/>
          <a:lstStyle/>
          <a:p>
            <a:pPr indent="0" marL="0">
              <a:buNone/>
            </a:pPr>
            <a:r>
              <a:rPr lang="en-US" sz="1300" dirty="0">
                <a:solidFill>
                  <a:srgbClr val="5A5F7A"/>
                </a:solidFill>
                <a:latin typeface="Calibri" pitchFamily="34" charset="0"/>
                <a:ea typeface="Calibri" pitchFamily="34" charset="-122"/>
                <a:cs typeface="Calibri" pitchFamily="34" charset="-120"/>
              </a:rPr>
              <a:t>Aggregate per-image metrics → class-level verdicts → evidence-backed report.</a:t>
            </a:r>
            <a:endParaRPr lang="en-US" sz="1300" dirty="0"/>
          </a:p>
        </p:txBody>
      </p:sp>
      <p:sp>
        <p:nvSpPr>
          <p:cNvPr id="7" name="Shape 5"/>
          <p:cNvSpPr/>
          <p:nvPr/>
        </p:nvSpPr>
        <p:spPr>
          <a:xfrm>
            <a:off x="640080" y="2103120"/>
            <a:ext cx="2606040" cy="1371600"/>
          </a:xfrm>
          <a:prstGeom prst="roundRect">
            <a:avLst>
              <a:gd name="adj" fmla="val 6667"/>
            </a:avLst>
          </a:prstGeom>
          <a:solidFill>
            <a:srgbClr val="FFFFFF"/>
          </a:solidFill>
          <a:ln w="12700">
            <a:solidFill>
              <a:srgbClr val="E3E4F0"/>
            </a:solidFill>
            <a:prstDash val="solid"/>
          </a:ln>
        </p:spPr>
      </p:sp>
      <p:sp>
        <p:nvSpPr>
          <p:cNvPr id="8" name="Text 6"/>
          <p:cNvSpPr/>
          <p:nvPr/>
        </p:nvSpPr>
        <p:spPr>
          <a:xfrm>
            <a:off x="640080" y="2240280"/>
            <a:ext cx="2606040" cy="457200"/>
          </a:xfrm>
          <a:prstGeom prst="rect">
            <a:avLst/>
          </a:prstGeom>
          <a:noFill/>
          <a:ln/>
        </p:spPr>
        <p:txBody>
          <a:bodyPr wrap="square" lIns="0" tIns="0" rIns="0" bIns="0" rtlCol="0" anchor="ctr"/>
          <a:lstStyle/>
          <a:p>
            <a:pPr algn="ctr" indent="0" marL="0">
              <a:buNone/>
            </a:pPr>
            <a:r>
              <a:rPr lang="en-US" sz="1400" b="1" dirty="0">
                <a:solidFill>
                  <a:srgbClr val="1F2340"/>
                </a:solidFill>
                <a:latin typeface="Cambria" pitchFamily="34" charset="0"/>
                <a:ea typeface="Cambria" pitchFamily="34" charset="-122"/>
                <a:cs typeface="Cambria" pitchFamily="34" charset="-120"/>
              </a:rPr>
              <a:t>Batch inspections</a:t>
            </a:r>
            <a:endParaRPr lang="en-US" sz="1400" dirty="0"/>
          </a:p>
        </p:txBody>
      </p:sp>
      <p:sp>
        <p:nvSpPr>
          <p:cNvPr id="9" name="Text 7"/>
          <p:cNvSpPr/>
          <p:nvPr/>
        </p:nvSpPr>
        <p:spPr>
          <a:xfrm>
            <a:off x="640080" y="2697480"/>
            <a:ext cx="2606040" cy="365760"/>
          </a:xfrm>
          <a:prstGeom prst="rect">
            <a:avLst/>
          </a:prstGeom>
          <a:noFill/>
          <a:ln/>
        </p:spPr>
        <p:txBody>
          <a:bodyPr wrap="square" lIns="0" tIns="0" rIns="0" bIns="0" rtlCol="0" anchor="ctr"/>
          <a:lstStyle/>
          <a:p>
            <a:pPr algn="ctr" indent="0" marL="0">
              <a:buNone/>
            </a:pPr>
            <a:r>
              <a:rPr lang="en-US" sz="1100" dirty="0">
                <a:solidFill>
                  <a:srgbClr val="1F2340"/>
                </a:solidFill>
                <a:latin typeface="Calibri" pitchFamily="34" charset="0"/>
                <a:ea typeface="Calibri" pitchFamily="34" charset="-122"/>
                <a:cs typeface="Calibri" pitchFamily="34" charset="-120"/>
              </a:rPr>
              <a:t>(model, image) × N</a:t>
            </a:r>
            <a:endParaRPr lang="en-US" sz="1100" dirty="0"/>
          </a:p>
        </p:txBody>
      </p:sp>
      <p:sp>
        <p:nvSpPr>
          <p:cNvPr id="10" name="Text 8"/>
          <p:cNvSpPr/>
          <p:nvPr/>
        </p:nvSpPr>
        <p:spPr>
          <a:xfrm>
            <a:off x="3246120" y="2606040"/>
            <a:ext cx="320040"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547872" y="2103120"/>
            <a:ext cx="2606040" cy="1371600"/>
          </a:xfrm>
          <a:prstGeom prst="roundRect">
            <a:avLst>
              <a:gd name="adj" fmla="val 6667"/>
            </a:avLst>
          </a:prstGeom>
          <a:solidFill>
            <a:srgbClr val="FFFFFF"/>
          </a:solidFill>
          <a:ln w="12700">
            <a:solidFill>
              <a:srgbClr val="E3E4F0"/>
            </a:solidFill>
            <a:prstDash val="solid"/>
          </a:ln>
        </p:spPr>
      </p:sp>
      <p:sp>
        <p:nvSpPr>
          <p:cNvPr id="12" name="Text 10"/>
          <p:cNvSpPr/>
          <p:nvPr/>
        </p:nvSpPr>
        <p:spPr>
          <a:xfrm>
            <a:off x="3547872" y="2240280"/>
            <a:ext cx="2606040" cy="457200"/>
          </a:xfrm>
          <a:prstGeom prst="rect">
            <a:avLst/>
          </a:prstGeom>
          <a:noFill/>
          <a:ln/>
        </p:spPr>
        <p:txBody>
          <a:bodyPr wrap="square" lIns="0" tIns="0" rIns="0" bIns="0" rtlCol="0" anchor="ctr"/>
          <a:lstStyle/>
          <a:p>
            <a:pPr algn="ctr" indent="0" marL="0">
              <a:buNone/>
            </a:pPr>
            <a:r>
              <a:rPr lang="en-US" sz="1400" b="1" dirty="0">
                <a:solidFill>
                  <a:srgbClr val="1F2340"/>
                </a:solidFill>
                <a:latin typeface="Cambria" pitchFamily="34" charset="0"/>
                <a:ea typeface="Cambria" pitchFamily="34" charset="-122"/>
                <a:cs typeface="Cambria" pitchFamily="34" charset="-120"/>
              </a:rPr>
              <a:t>Per-image metrics</a:t>
            </a:r>
            <a:endParaRPr lang="en-US" sz="1400" dirty="0"/>
          </a:p>
        </p:txBody>
      </p:sp>
      <p:sp>
        <p:nvSpPr>
          <p:cNvPr id="13" name="Text 11"/>
          <p:cNvSpPr/>
          <p:nvPr/>
        </p:nvSpPr>
        <p:spPr>
          <a:xfrm>
            <a:off x="3547872" y="2697480"/>
            <a:ext cx="2606040" cy="365760"/>
          </a:xfrm>
          <a:prstGeom prst="rect">
            <a:avLst/>
          </a:prstGeom>
          <a:noFill/>
          <a:ln/>
        </p:spPr>
        <p:txBody>
          <a:bodyPr wrap="square" lIns="0" tIns="0" rIns="0" bIns="0" rtlCol="0" anchor="ctr"/>
          <a:lstStyle/>
          <a:p>
            <a:pPr algn="ctr" indent="0" marL="0">
              <a:buNone/>
            </a:pPr>
            <a:r>
              <a:rPr lang="en-US" sz="1100" dirty="0">
                <a:solidFill>
                  <a:srgbClr val="1F2340"/>
                </a:solidFill>
                <a:latin typeface="Calibri" pitchFamily="34" charset="0"/>
                <a:ea typeface="Calibri" pitchFamily="34" charset="-122"/>
                <a:cs typeface="Calibri" pitchFamily="34" charset="-120"/>
              </a:rPr>
              <a:t>4 metrics × 8 maps</a:t>
            </a:r>
            <a:endParaRPr lang="en-US" sz="1100" dirty="0"/>
          </a:p>
        </p:txBody>
      </p:sp>
      <p:sp>
        <p:nvSpPr>
          <p:cNvPr id="14" name="Text 12"/>
          <p:cNvSpPr/>
          <p:nvPr/>
        </p:nvSpPr>
        <p:spPr>
          <a:xfrm>
            <a:off x="6153912" y="2606040"/>
            <a:ext cx="320040"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455664" y="2103120"/>
            <a:ext cx="2606040" cy="1371600"/>
          </a:xfrm>
          <a:prstGeom prst="roundRect">
            <a:avLst>
              <a:gd name="adj" fmla="val 6667"/>
            </a:avLst>
          </a:prstGeom>
          <a:solidFill>
            <a:srgbClr val="FFFFFF"/>
          </a:solidFill>
          <a:ln w="12700">
            <a:solidFill>
              <a:srgbClr val="E3E4F0"/>
            </a:solidFill>
            <a:prstDash val="solid"/>
          </a:ln>
        </p:spPr>
      </p:sp>
      <p:sp>
        <p:nvSpPr>
          <p:cNvPr id="16" name="Text 14"/>
          <p:cNvSpPr/>
          <p:nvPr/>
        </p:nvSpPr>
        <p:spPr>
          <a:xfrm>
            <a:off x="6455664" y="2240280"/>
            <a:ext cx="2606040" cy="457200"/>
          </a:xfrm>
          <a:prstGeom prst="rect">
            <a:avLst/>
          </a:prstGeom>
          <a:noFill/>
          <a:ln/>
        </p:spPr>
        <p:txBody>
          <a:bodyPr wrap="square" lIns="0" tIns="0" rIns="0" bIns="0" rtlCol="0" anchor="ctr"/>
          <a:lstStyle/>
          <a:p>
            <a:pPr algn="ctr" indent="0" marL="0">
              <a:buNone/>
            </a:pPr>
            <a:r>
              <a:rPr lang="en-US" sz="1400" b="1" dirty="0">
                <a:solidFill>
                  <a:srgbClr val="1F2340"/>
                </a:solidFill>
                <a:latin typeface="Cambria" pitchFamily="34" charset="0"/>
                <a:ea typeface="Cambria" pitchFamily="34" charset="-122"/>
                <a:cs typeface="Cambria" pitchFamily="34" charset="-120"/>
              </a:rPr>
              <a:t>Class-level aggregation</a:t>
            </a:r>
            <a:endParaRPr lang="en-US" sz="1400" dirty="0"/>
          </a:p>
        </p:txBody>
      </p:sp>
      <p:sp>
        <p:nvSpPr>
          <p:cNvPr id="17" name="Text 15"/>
          <p:cNvSpPr/>
          <p:nvPr/>
        </p:nvSpPr>
        <p:spPr>
          <a:xfrm>
            <a:off x="6455664" y="2697480"/>
            <a:ext cx="2606040" cy="365760"/>
          </a:xfrm>
          <a:prstGeom prst="rect">
            <a:avLst/>
          </a:prstGeom>
          <a:noFill/>
          <a:ln/>
        </p:spPr>
        <p:txBody>
          <a:bodyPr wrap="square" lIns="0" tIns="0" rIns="0" bIns="0" rtlCol="0" anchor="ctr"/>
          <a:lstStyle/>
          <a:p>
            <a:pPr algn="ctr" indent="0" marL="0">
              <a:buNone/>
            </a:pPr>
            <a:r>
              <a:rPr lang="en-US" sz="1100" dirty="0">
                <a:solidFill>
                  <a:srgbClr val="1F2340"/>
                </a:solidFill>
                <a:latin typeface="Calibri" pitchFamily="34" charset="0"/>
                <a:ea typeface="Calibri" pitchFamily="34" charset="-122"/>
                <a:cs typeface="Calibri" pitchFamily="34" charset="-120"/>
              </a:rPr>
              <a:t>group by class</a:t>
            </a:r>
            <a:endParaRPr lang="en-US" sz="1100" dirty="0"/>
          </a:p>
        </p:txBody>
      </p:sp>
      <p:sp>
        <p:nvSpPr>
          <p:cNvPr id="18" name="Text 16"/>
          <p:cNvSpPr/>
          <p:nvPr/>
        </p:nvSpPr>
        <p:spPr>
          <a:xfrm>
            <a:off x="9061704" y="2606040"/>
            <a:ext cx="320040" cy="457200"/>
          </a:xfrm>
          <a:prstGeom prst="rect">
            <a:avLst/>
          </a:prstGeom>
          <a:noFill/>
          <a:ln/>
        </p:spPr>
        <p:txBody>
          <a:bodyPr wrap="square" lIns="0" tIns="0" rIns="0" bIns="0" rtlCol="0" anchor="ctr"/>
          <a:lstStyle/>
          <a:p>
            <a:pPr algn="ctr" indent="0" marL="0">
              <a:buNone/>
            </a:pPr>
            <a:r>
              <a:rPr lang="en-US" sz="1800" b="1" dirty="0">
                <a:solidFill>
                  <a:srgbClr val="5A5F7A"/>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363456" y="2103120"/>
            <a:ext cx="2606040" cy="1371600"/>
          </a:xfrm>
          <a:prstGeom prst="roundRect">
            <a:avLst>
              <a:gd name="adj" fmla="val 6667"/>
            </a:avLst>
          </a:prstGeom>
          <a:solidFill>
            <a:srgbClr val="E6F7F4"/>
          </a:solidFill>
          <a:ln w="12700">
            <a:solidFill>
              <a:srgbClr val="E3E4F0"/>
            </a:solidFill>
            <a:prstDash val="solid"/>
          </a:ln>
        </p:spPr>
      </p:sp>
      <p:sp>
        <p:nvSpPr>
          <p:cNvPr id="20" name="Text 18"/>
          <p:cNvSpPr/>
          <p:nvPr/>
        </p:nvSpPr>
        <p:spPr>
          <a:xfrm>
            <a:off x="9363456" y="2240280"/>
            <a:ext cx="2606040" cy="457200"/>
          </a:xfrm>
          <a:prstGeom prst="rect">
            <a:avLst/>
          </a:prstGeom>
          <a:noFill/>
          <a:ln/>
        </p:spPr>
        <p:txBody>
          <a:bodyPr wrap="square" lIns="0" tIns="0" rIns="0" bIns="0" rtlCol="0" anchor="ctr"/>
          <a:lstStyle/>
          <a:p>
            <a:pPr algn="ctr" indent="0" marL="0">
              <a:buNone/>
            </a:pPr>
            <a:r>
              <a:rPr lang="en-US" sz="1400" b="1" dirty="0">
                <a:solidFill>
                  <a:srgbClr val="006B59"/>
                </a:solidFill>
                <a:latin typeface="Cambria" pitchFamily="34" charset="0"/>
                <a:ea typeface="Cambria" pitchFamily="34" charset="-122"/>
                <a:cs typeface="Cambria" pitchFamily="34" charset="-120"/>
              </a:rPr>
              <a:t>Verdicts + evidence links</a:t>
            </a:r>
            <a:endParaRPr lang="en-US" sz="1400" dirty="0"/>
          </a:p>
        </p:txBody>
      </p:sp>
      <p:sp>
        <p:nvSpPr>
          <p:cNvPr id="21" name="Text 19"/>
          <p:cNvSpPr/>
          <p:nvPr/>
        </p:nvSpPr>
        <p:spPr>
          <a:xfrm>
            <a:off x="9363456" y="2697480"/>
            <a:ext cx="2606040" cy="365760"/>
          </a:xfrm>
          <a:prstGeom prst="rect">
            <a:avLst/>
          </a:prstGeom>
          <a:noFill/>
          <a:ln/>
        </p:spPr>
        <p:txBody>
          <a:bodyPr wrap="square" lIns="0" tIns="0" rIns="0" bIns="0" rtlCol="0" anchor="ctr"/>
          <a:lstStyle/>
          <a:p>
            <a:pPr algn="ctr" indent="0" marL="0">
              <a:buNone/>
            </a:pPr>
            <a:r>
              <a:rPr lang="en-US" sz="1100" dirty="0">
                <a:solidFill>
                  <a:srgbClr val="006B59"/>
                </a:solidFill>
                <a:latin typeface="Calibri" pitchFamily="34" charset="0"/>
                <a:ea typeface="Calibri" pitchFamily="34" charset="-122"/>
                <a:cs typeface="Calibri" pitchFamily="34" charset="-120"/>
              </a:rPr>
              <a:t>bias flag · role profile · failure dx</a:t>
            </a:r>
            <a:endParaRPr lang="en-US" sz="1100" dirty="0"/>
          </a:p>
        </p:txBody>
      </p:sp>
      <p:sp>
        <p:nvSpPr>
          <p:cNvPr id="22" name="Shape 20"/>
          <p:cNvSpPr/>
          <p:nvPr/>
        </p:nvSpPr>
        <p:spPr>
          <a:xfrm>
            <a:off x="640080" y="3749040"/>
            <a:ext cx="10972800" cy="594360"/>
          </a:xfrm>
          <a:prstGeom prst="roundRect">
            <a:avLst>
              <a:gd name="adj" fmla="val 12308"/>
            </a:avLst>
          </a:prstGeom>
          <a:solidFill>
            <a:srgbClr val="FFFFFF"/>
          </a:solidFill>
          <a:ln w="12700">
            <a:solidFill>
              <a:srgbClr val="E3E4F0"/>
            </a:solidFill>
            <a:prstDash val="solid"/>
          </a:ln>
        </p:spPr>
      </p:sp>
      <p:sp>
        <p:nvSpPr>
          <p:cNvPr id="23" name="Shape 21"/>
          <p:cNvSpPr/>
          <p:nvPr/>
        </p:nvSpPr>
        <p:spPr>
          <a:xfrm>
            <a:off x="640080" y="3749040"/>
            <a:ext cx="137160" cy="594360"/>
          </a:xfrm>
          <a:prstGeom prst="rect">
            <a:avLst/>
          </a:prstGeom>
          <a:solidFill>
            <a:srgbClr val="D9534F"/>
          </a:solidFill>
          <a:ln/>
        </p:spPr>
      </p:sp>
      <p:sp>
        <p:nvSpPr>
          <p:cNvPr id="24" name="Text 22"/>
          <p:cNvSpPr/>
          <p:nvPr/>
        </p:nvSpPr>
        <p:spPr>
          <a:xfrm>
            <a:off x="914400" y="3840480"/>
            <a:ext cx="2743200" cy="411480"/>
          </a:xfrm>
          <a:prstGeom prst="rect">
            <a:avLst/>
          </a:prstGeom>
          <a:noFill/>
          <a:ln/>
        </p:spPr>
        <p:txBody>
          <a:bodyPr wrap="square" lIns="0" tIns="0" rIns="0" bIns="0" rtlCol="0" anchor="ctr"/>
          <a:lstStyle/>
          <a:p>
            <a:pPr indent="0" marL="0">
              <a:buNone/>
            </a:pPr>
            <a:r>
              <a:rPr lang="en-US" sz="1400" b="1" dirty="0">
                <a:solidFill>
                  <a:srgbClr val="D9534F"/>
                </a:solidFill>
                <a:latin typeface="Cambria" pitchFamily="34" charset="0"/>
                <a:ea typeface="Cambria" pitchFamily="34" charset="-122"/>
                <a:cs typeface="Cambria" pitchFamily="34" charset="-120"/>
              </a:rPr>
              <a:t>Class bias flag</a:t>
            </a:r>
            <a:endParaRPr lang="en-US" sz="1400" dirty="0"/>
          </a:p>
        </p:txBody>
      </p:sp>
      <p:sp>
        <p:nvSpPr>
          <p:cNvPr id="25" name="Text 23"/>
          <p:cNvSpPr/>
          <p:nvPr/>
        </p:nvSpPr>
        <p:spPr>
          <a:xfrm>
            <a:off x="3749040" y="3858768"/>
            <a:ext cx="7772400" cy="411480"/>
          </a:xfrm>
          <a:prstGeom prst="rect">
            <a:avLst/>
          </a:prstGeom>
          <a:noFill/>
          <a:ln/>
        </p:spPr>
        <p:txBody>
          <a:bodyPr wrap="square" lIns="0" tIns="0" rIns="0" bIns="0" rtlCol="0" anchor="ctr"/>
          <a:lstStyle/>
          <a:p>
            <a:pPr indent="0" marL="0">
              <a:buNone/>
            </a:pPr>
            <a:r>
              <a:rPr lang="en-US" sz="1250" dirty="0">
                <a:solidFill>
                  <a:srgbClr val="1F2340"/>
                </a:solidFill>
                <a:latin typeface="Calibri" pitchFamily="34" charset="0"/>
                <a:ea typeface="Calibri" pitchFamily="34" charset="-122"/>
                <a:cs typeface="Calibri" pitchFamily="34" charset="-120"/>
              </a:rPr>
              <a:t>'wolf' classified on snow, not wolf</a:t>
            </a:r>
            <a:endParaRPr lang="en-US" sz="1250" dirty="0"/>
          </a:p>
        </p:txBody>
      </p:sp>
      <p:sp>
        <p:nvSpPr>
          <p:cNvPr id="26" name="Shape 24"/>
          <p:cNvSpPr/>
          <p:nvPr/>
        </p:nvSpPr>
        <p:spPr>
          <a:xfrm>
            <a:off x="640080" y="4434840"/>
            <a:ext cx="10972800" cy="594360"/>
          </a:xfrm>
          <a:prstGeom prst="roundRect">
            <a:avLst>
              <a:gd name="adj" fmla="val 12308"/>
            </a:avLst>
          </a:prstGeom>
          <a:solidFill>
            <a:srgbClr val="FFFFFF"/>
          </a:solidFill>
          <a:ln w="12700">
            <a:solidFill>
              <a:srgbClr val="E3E4F0"/>
            </a:solidFill>
            <a:prstDash val="solid"/>
          </a:ln>
        </p:spPr>
      </p:sp>
      <p:sp>
        <p:nvSpPr>
          <p:cNvPr id="27" name="Shape 25"/>
          <p:cNvSpPr/>
          <p:nvPr/>
        </p:nvSpPr>
        <p:spPr>
          <a:xfrm>
            <a:off x="640080" y="4434840"/>
            <a:ext cx="137160" cy="594360"/>
          </a:xfrm>
          <a:prstGeom prst="rect">
            <a:avLst/>
          </a:prstGeom>
          <a:solidFill>
            <a:srgbClr val="2E2A72"/>
          </a:solidFill>
          <a:ln/>
        </p:spPr>
      </p:sp>
      <p:sp>
        <p:nvSpPr>
          <p:cNvPr id="28" name="Text 26"/>
          <p:cNvSpPr/>
          <p:nvPr/>
        </p:nvSpPr>
        <p:spPr>
          <a:xfrm>
            <a:off x="914400" y="4526280"/>
            <a:ext cx="2743200" cy="411480"/>
          </a:xfrm>
          <a:prstGeom prst="rect">
            <a:avLst/>
          </a:prstGeom>
          <a:noFill/>
          <a:ln/>
        </p:spPr>
        <p:txBody>
          <a:bodyPr wrap="square" lIns="0" tIns="0" rIns="0" bIns="0" rtlCol="0" anchor="ctr"/>
          <a:lstStyle/>
          <a:p>
            <a:pPr indent="0" marL="0">
              <a:buNone/>
            </a:pPr>
            <a:r>
              <a:rPr lang="en-US" sz="1400" b="1" dirty="0">
                <a:solidFill>
                  <a:srgbClr val="2E2A72"/>
                </a:solidFill>
                <a:latin typeface="Cambria" pitchFamily="34" charset="0"/>
                <a:ea typeface="Cambria" pitchFamily="34" charset="-122"/>
                <a:cs typeface="Cambria" pitchFamily="34" charset="-120"/>
              </a:rPr>
              <a:t>Layer-role profile</a:t>
            </a:r>
            <a:endParaRPr lang="en-US" sz="1400" dirty="0"/>
          </a:p>
        </p:txBody>
      </p:sp>
      <p:sp>
        <p:nvSpPr>
          <p:cNvPr id="29" name="Text 27"/>
          <p:cNvSpPr/>
          <p:nvPr/>
        </p:nvSpPr>
        <p:spPr>
          <a:xfrm>
            <a:off x="3749040" y="4544568"/>
            <a:ext cx="7772400" cy="411480"/>
          </a:xfrm>
          <a:prstGeom prst="rect">
            <a:avLst/>
          </a:prstGeom>
          <a:noFill/>
          <a:ln/>
        </p:spPr>
        <p:txBody>
          <a:bodyPr wrap="square" lIns="0" tIns="0" rIns="0" bIns="0" rtlCol="0" anchor="ctr"/>
          <a:lstStyle/>
          <a:p>
            <a:pPr indent="0" marL="0">
              <a:buNone/>
            </a:pPr>
            <a:r>
              <a:rPr lang="en-US" sz="1250" dirty="0">
                <a:solidFill>
                  <a:srgbClr val="1F2340"/>
                </a:solidFill>
                <a:latin typeface="Calibri" pitchFamily="34" charset="0"/>
                <a:ea typeface="Calibri" pitchFamily="34" charset="-122"/>
                <a:cs typeface="Calibri" pitchFamily="34" charset="-120"/>
              </a:rPr>
              <a:t>'layer 1 = edges, layer 4 = object'</a:t>
            </a:r>
            <a:endParaRPr lang="en-US" sz="1250" dirty="0"/>
          </a:p>
        </p:txBody>
      </p:sp>
      <p:sp>
        <p:nvSpPr>
          <p:cNvPr id="30" name="Shape 28"/>
          <p:cNvSpPr/>
          <p:nvPr/>
        </p:nvSpPr>
        <p:spPr>
          <a:xfrm>
            <a:off x="640080" y="5120640"/>
            <a:ext cx="10972800" cy="594360"/>
          </a:xfrm>
          <a:prstGeom prst="roundRect">
            <a:avLst>
              <a:gd name="adj" fmla="val 12308"/>
            </a:avLst>
          </a:prstGeom>
          <a:solidFill>
            <a:srgbClr val="FFFFFF"/>
          </a:solidFill>
          <a:ln w="12700">
            <a:solidFill>
              <a:srgbClr val="E3E4F0"/>
            </a:solidFill>
            <a:prstDash val="solid"/>
          </a:ln>
        </p:spPr>
      </p:sp>
      <p:sp>
        <p:nvSpPr>
          <p:cNvPr id="31" name="Shape 29"/>
          <p:cNvSpPr/>
          <p:nvPr/>
        </p:nvSpPr>
        <p:spPr>
          <a:xfrm>
            <a:off x="640080" y="5120640"/>
            <a:ext cx="137160" cy="594360"/>
          </a:xfrm>
          <a:prstGeom prst="rect">
            <a:avLst/>
          </a:prstGeom>
          <a:solidFill>
            <a:srgbClr val="00C9A7"/>
          </a:solidFill>
          <a:ln/>
        </p:spPr>
      </p:sp>
      <p:sp>
        <p:nvSpPr>
          <p:cNvPr id="32" name="Text 30"/>
          <p:cNvSpPr/>
          <p:nvPr/>
        </p:nvSpPr>
        <p:spPr>
          <a:xfrm>
            <a:off x="914400" y="5212080"/>
            <a:ext cx="2743200" cy="411480"/>
          </a:xfrm>
          <a:prstGeom prst="rect">
            <a:avLst/>
          </a:prstGeom>
          <a:noFill/>
          <a:ln/>
        </p:spPr>
        <p:txBody>
          <a:bodyPr wrap="square" lIns="0" tIns="0" rIns="0" bIns="0" rtlCol="0" anchor="ctr"/>
          <a:lstStyle/>
          <a:p>
            <a:pPr indent="0" marL="0">
              <a:buNone/>
            </a:pPr>
            <a:r>
              <a:rPr lang="en-US" sz="1400" b="1" dirty="0">
                <a:solidFill>
                  <a:srgbClr val="00C9A7"/>
                </a:solidFill>
                <a:latin typeface="Cambria" pitchFamily="34" charset="0"/>
                <a:ea typeface="Cambria" pitchFamily="34" charset="-122"/>
                <a:cs typeface="Cambria" pitchFamily="34" charset="-120"/>
              </a:rPr>
              <a:t>Failure diagnosis</a:t>
            </a:r>
            <a:endParaRPr lang="en-US" sz="1400" dirty="0"/>
          </a:p>
        </p:txBody>
      </p:sp>
      <p:sp>
        <p:nvSpPr>
          <p:cNvPr id="33" name="Text 31"/>
          <p:cNvSpPr/>
          <p:nvPr/>
        </p:nvSpPr>
        <p:spPr>
          <a:xfrm>
            <a:off x="3749040" y="5230368"/>
            <a:ext cx="7772400" cy="411480"/>
          </a:xfrm>
          <a:prstGeom prst="rect">
            <a:avLst/>
          </a:prstGeom>
          <a:noFill/>
          <a:ln/>
        </p:spPr>
        <p:txBody>
          <a:bodyPr wrap="square" lIns="0" tIns="0" rIns="0" bIns="0" rtlCol="0" anchor="ctr"/>
          <a:lstStyle/>
          <a:p>
            <a:pPr indent="0" marL="0">
              <a:buNone/>
            </a:pPr>
            <a:r>
              <a:rPr lang="en-US" sz="1250" dirty="0">
                <a:solidFill>
                  <a:srgbClr val="1F2340"/>
                </a:solidFill>
                <a:latin typeface="Calibri" pitchFamily="34" charset="0"/>
                <a:ea typeface="Calibri" pitchFamily="34" charset="-122"/>
                <a:cs typeface="Calibri" pitchFamily="34" charset="-120"/>
              </a:rPr>
              <a:t>'misclassified because attention hit the bg'</a:t>
            </a:r>
            <a:endParaRPr lang="en-US" sz="1250" dirty="0"/>
          </a:p>
        </p:txBody>
      </p:sp>
      <p:sp>
        <p:nvSpPr>
          <p:cNvPr id="34" name="Shape 32"/>
          <p:cNvSpPr/>
          <p:nvPr/>
        </p:nvSpPr>
        <p:spPr>
          <a:xfrm>
            <a:off x="640080" y="5897880"/>
            <a:ext cx="10972800" cy="502920"/>
          </a:xfrm>
          <a:prstGeom prst="roundRect">
            <a:avLst>
              <a:gd name="adj" fmla="val 14545"/>
            </a:avLst>
          </a:prstGeom>
          <a:solidFill>
            <a:srgbClr val="E6F7F4"/>
          </a:solidFill>
          <a:ln/>
        </p:spPr>
      </p:sp>
      <p:sp>
        <p:nvSpPr>
          <p:cNvPr id="35" name="Text 33"/>
          <p:cNvSpPr/>
          <p:nvPr/>
        </p:nvSpPr>
        <p:spPr>
          <a:xfrm>
            <a:off x="822960" y="5943600"/>
            <a:ext cx="10607040" cy="365760"/>
          </a:xfrm>
          <a:prstGeom prst="rect">
            <a:avLst/>
          </a:prstGeom>
          <a:noFill/>
          <a:ln/>
        </p:spPr>
        <p:txBody>
          <a:bodyPr wrap="square" lIns="0" tIns="0" rIns="0" bIns="0" rtlCol="0" anchor="ctr"/>
          <a:lstStyle/>
          <a:p>
            <a:pPr indent="0" marL="0">
              <a:buNone/>
            </a:pPr>
            <a:r>
              <a:rPr lang="en-US" sz="1250" b="1" dirty="0">
                <a:solidFill>
                  <a:srgbClr val="006B59"/>
                </a:solidFill>
                <a:latin typeface="Calibri" pitchFamily="34" charset="0"/>
                <a:ea typeface="Calibri" pitchFamily="34" charset="-122"/>
                <a:cs typeface="Calibri" pitchFamily="34" charset="-120"/>
              </a:rPr>
              <a:t>Verdicts always rest on class-conditioned evidence — the comparable, trustworthy view (DECISIONS §2).</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Milestones M1–M8</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Each milestone ends with a verification gate</a:t>
            </a:r>
            <a:endParaRPr lang="en-US" sz="1500" dirty="0"/>
          </a:p>
        </p:txBody>
      </p:sp>
      <p:sp>
        <p:nvSpPr>
          <p:cNvPr id="4" name="Shape 2"/>
          <p:cNvSpPr/>
          <p:nvPr/>
        </p:nvSpPr>
        <p:spPr>
          <a:xfrm>
            <a:off x="640080" y="1691640"/>
            <a:ext cx="10972800" cy="457200"/>
          </a:xfrm>
          <a:prstGeom prst="rect">
            <a:avLst/>
          </a:prstGeom>
          <a:solidFill>
            <a:srgbClr val="14142B"/>
          </a:solidFill>
          <a:ln/>
        </p:spPr>
      </p:sp>
      <p:sp>
        <p:nvSpPr>
          <p:cNvPr id="5" name="Text 3"/>
          <p:cNvSpPr/>
          <p:nvPr/>
        </p:nvSpPr>
        <p:spPr>
          <a:xfrm>
            <a:off x="822960" y="1737360"/>
            <a:ext cx="11887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Milestone</a:t>
            </a:r>
            <a:endParaRPr lang="en-US" sz="1200" dirty="0"/>
          </a:p>
        </p:txBody>
      </p:sp>
      <p:sp>
        <p:nvSpPr>
          <p:cNvPr id="6" name="Text 4"/>
          <p:cNvSpPr/>
          <p:nvPr/>
        </p:nvSpPr>
        <p:spPr>
          <a:xfrm>
            <a:off x="2103120" y="1737360"/>
            <a:ext cx="42062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Scope</a:t>
            </a:r>
            <a:endParaRPr lang="en-US" sz="1200" dirty="0"/>
          </a:p>
        </p:txBody>
      </p:sp>
      <p:sp>
        <p:nvSpPr>
          <p:cNvPr id="7" name="Text 5"/>
          <p:cNvSpPr/>
          <p:nvPr/>
        </p:nvSpPr>
        <p:spPr>
          <a:xfrm>
            <a:off x="6400800" y="1737360"/>
            <a:ext cx="12801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p>
        </p:txBody>
      </p:sp>
      <p:sp>
        <p:nvSpPr>
          <p:cNvPr id="8" name="Text 6"/>
          <p:cNvSpPr/>
          <p:nvPr/>
        </p:nvSpPr>
        <p:spPr>
          <a:xfrm>
            <a:off x="7772400" y="1737360"/>
            <a:ext cx="384048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Verification gate</a:t>
            </a:r>
            <a:endParaRPr lang="en-US" sz="1200" dirty="0"/>
          </a:p>
        </p:txBody>
      </p:sp>
      <p:sp>
        <p:nvSpPr>
          <p:cNvPr id="9" name="Shape 7"/>
          <p:cNvSpPr/>
          <p:nvPr/>
        </p:nvSpPr>
        <p:spPr>
          <a:xfrm>
            <a:off x="640080" y="2194560"/>
            <a:ext cx="10972800" cy="457200"/>
          </a:xfrm>
          <a:prstGeom prst="rect">
            <a:avLst/>
          </a:prstGeom>
          <a:solidFill>
            <a:srgbClr val="FFFFFF"/>
          </a:solidFill>
          <a:ln w="12700">
            <a:solidFill>
              <a:srgbClr val="E3E4F0"/>
            </a:solidFill>
            <a:prstDash val="solid"/>
          </a:ln>
        </p:spPr>
      </p:sp>
      <p:sp>
        <p:nvSpPr>
          <p:cNvPr id="10" name="Shape 8"/>
          <p:cNvSpPr/>
          <p:nvPr/>
        </p:nvSpPr>
        <p:spPr>
          <a:xfrm>
            <a:off x="640080" y="2194560"/>
            <a:ext cx="137160" cy="457200"/>
          </a:xfrm>
          <a:prstGeom prst="rect">
            <a:avLst/>
          </a:prstGeom>
          <a:solidFill>
            <a:srgbClr val="2E2A72"/>
          </a:solidFill>
          <a:ln/>
        </p:spPr>
      </p:sp>
      <p:sp>
        <p:nvSpPr>
          <p:cNvPr id="11" name="Text 9"/>
          <p:cNvSpPr/>
          <p:nvPr/>
        </p:nvSpPr>
        <p:spPr>
          <a:xfrm>
            <a:off x="822960" y="2240280"/>
            <a:ext cx="1188720" cy="365760"/>
          </a:xfrm>
          <a:prstGeom prst="rect">
            <a:avLst/>
          </a:prstGeom>
          <a:noFill/>
          <a:ln/>
        </p:spPr>
        <p:txBody>
          <a:bodyPr wrap="square" lIns="0" tIns="0" rIns="0" bIns="0" rtlCol="0" anchor="ctr"/>
          <a:lstStyle/>
          <a:p>
            <a:pPr indent="0" marL="0">
              <a:buNone/>
            </a:pPr>
            <a:r>
              <a:rPr lang="en-US" sz="1300" b="1" dirty="0">
                <a:solidFill>
                  <a:srgbClr val="2E2A72"/>
                </a:solidFill>
                <a:latin typeface="Calibri" pitchFamily="34" charset="0"/>
                <a:ea typeface="Calibri" pitchFamily="34" charset="-122"/>
                <a:cs typeface="Calibri" pitchFamily="34" charset="-120"/>
              </a:rPr>
              <a:t>M1</a:t>
            </a:r>
            <a:endParaRPr lang="en-US" sz="1300" dirty="0"/>
          </a:p>
        </p:txBody>
      </p:sp>
      <p:sp>
        <p:nvSpPr>
          <p:cNvPr id="12" name="Text 10"/>
          <p:cNvSpPr/>
          <p:nvPr/>
        </p:nvSpPr>
        <p:spPr>
          <a:xfrm>
            <a:off x="2103120" y="225856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Schema + ResNet-50 dual-view</a:t>
            </a:r>
            <a:endParaRPr lang="en-US" sz="1200" dirty="0"/>
          </a:p>
        </p:txBody>
      </p:sp>
      <p:sp>
        <p:nvSpPr>
          <p:cNvPr id="13" name="Text 11"/>
          <p:cNvSpPr/>
          <p:nvPr/>
        </p:nvSpPr>
        <p:spPr>
          <a:xfrm>
            <a:off x="6400800" y="2258568"/>
            <a:ext cx="1280160" cy="365760"/>
          </a:xfrm>
          <a:prstGeom prst="rect">
            <a:avLst/>
          </a:prstGeom>
          <a:noFill/>
          <a:ln/>
        </p:spPr>
        <p:txBody>
          <a:bodyPr wrap="square" lIns="0" tIns="0" rIns="0" bIns="0" rtlCol="0" anchor="ctr"/>
          <a:lstStyle/>
          <a:p>
            <a:pPr indent="0" marL="0">
              <a:buNone/>
            </a:pPr>
            <a:r>
              <a:rPr lang="en-US" sz="1200" b="1" dirty="0">
                <a:solidFill>
                  <a:srgbClr val="2E2A72"/>
                </a:solidFill>
                <a:latin typeface="Calibri" pitchFamily="34" charset="0"/>
                <a:ea typeface="Calibri" pitchFamily="34" charset="-122"/>
                <a:cs typeface="Calibri" pitchFamily="34" charset="-120"/>
              </a:rPr>
              <a:t>✅ done</a:t>
            </a:r>
            <a:endParaRPr lang="en-US" sz="1200" dirty="0"/>
          </a:p>
        </p:txBody>
      </p:sp>
      <p:sp>
        <p:nvSpPr>
          <p:cNvPr id="14" name="Text 12"/>
          <p:cNvSpPr/>
          <p:nvPr/>
        </p:nvSpPr>
        <p:spPr>
          <a:xfrm>
            <a:off x="7772400" y="225856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CUB image → 8 LayerMaps, sane maps</a:t>
            </a:r>
            <a:endParaRPr lang="en-US" sz="1150" dirty="0"/>
          </a:p>
        </p:txBody>
      </p:sp>
      <p:sp>
        <p:nvSpPr>
          <p:cNvPr id="15" name="Shape 13"/>
          <p:cNvSpPr/>
          <p:nvPr/>
        </p:nvSpPr>
        <p:spPr>
          <a:xfrm>
            <a:off x="640080" y="2697480"/>
            <a:ext cx="10972800" cy="457200"/>
          </a:xfrm>
          <a:prstGeom prst="rect">
            <a:avLst/>
          </a:prstGeom>
          <a:solidFill>
            <a:srgbClr val="F4F5FB"/>
          </a:solidFill>
          <a:ln w="12700">
            <a:solidFill>
              <a:srgbClr val="E3E4F0"/>
            </a:solidFill>
            <a:prstDash val="solid"/>
          </a:ln>
        </p:spPr>
      </p:sp>
      <p:sp>
        <p:nvSpPr>
          <p:cNvPr id="16" name="Shape 14"/>
          <p:cNvSpPr/>
          <p:nvPr/>
        </p:nvSpPr>
        <p:spPr>
          <a:xfrm>
            <a:off x="640080" y="2697480"/>
            <a:ext cx="137160" cy="457200"/>
          </a:xfrm>
          <a:prstGeom prst="rect">
            <a:avLst/>
          </a:prstGeom>
          <a:solidFill>
            <a:srgbClr val="00C9A7"/>
          </a:solidFill>
          <a:ln/>
        </p:spPr>
      </p:sp>
      <p:sp>
        <p:nvSpPr>
          <p:cNvPr id="17" name="Text 15"/>
          <p:cNvSpPr/>
          <p:nvPr/>
        </p:nvSpPr>
        <p:spPr>
          <a:xfrm>
            <a:off x="822960" y="274320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M2</a:t>
            </a:r>
            <a:endParaRPr lang="en-US" sz="1300" dirty="0"/>
          </a:p>
        </p:txBody>
      </p:sp>
      <p:sp>
        <p:nvSpPr>
          <p:cNvPr id="18" name="Text 16"/>
          <p:cNvSpPr/>
          <p:nvPr/>
        </p:nvSpPr>
        <p:spPr>
          <a:xfrm>
            <a:off x="2103120" y="276148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ViT-B/16 dual-view (rollout + class-cond)</a:t>
            </a:r>
            <a:endParaRPr lang="en-US" sz="1200" dirty="0"/>
          </a:p>
        </p:txBody>
      </p:sp>
      <p:sp>
        <p:nvSpPr>
          <p:cNvPr id="19" name="Text 17"/>
          <p:cNvSpPr/>
          <p:nvPr/>
        </p:nvSpPr>
        <p:spPr>
          <a:xfrm>
            <a:off x="6400800" y="276148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 next</a:t>
            </a:r>
            <a:endParaRPr lang="en-US" sz="1200" dirty="0"/>
          </a:p>
        </p:txBody>
      </p:sp>
      <p:sp>
        <p:nvSpPr>
          <p:cNvPr id="20" name="Text 18"/>
          <p:cNvSpPr/>
          <p:nvPr/>
        </p:nvSpPr>
        <p:spPr>
          <a:xfrm>
            <a:off x="7772400" y="276148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Same image → same schema, dual-view complete</a:t>
            </a:r>
            <a:endParaRPr lang="en-US" sz="1150" dirty="0"/>
          </a:p>
        </p:txBody>
      </p:sp>
      <p:sp>
        <p:nvSpPr>
          <p:cNvPr id="21" name="Shape 19"/>
          <p:cNvSpPr/>
          <p:nvPr/>
        </p:nvSpPr>
        <p:spPr>
          <a:xfrm>
            <a:off x="640080" y="3200400"/>
            <a:ext cx="10972800" cy="457200"/>
          </a:xfrm>
          <a:prstGeom prst="rect">
            <a:avLst/>
          </a:prstGeom>
          <a:solidFill>
            <a:srgbClr val="FFFFFF"/>
          </a:solidFill>
          <a:ln w="12700">
            <a:solidFill>
              <a:srgbClr val="E3E4F0"/>
            </a:solidFill>
            <a:prstDash val="solid"/>
          </a:ln>
        </p:spPr>
      </p:sp>
      <p:sp>
        <p:nvSpPr>
          <p:cNvPr id="22" name="Shape 20"/>
          <p:cNvSpPr/>
          <p:nvPr/>
        </p:nvSpPr>
        <p:spPr>
          <a:xfrm>
            <a:off x="640080" y="3200400"/>
            <a:ext cx="137160" cy="457200"/>
          </a:xfrm>
          <a:prstGeom prst="rect">
            <a:avLst/>
          </a:prstGeom>
          <a:solidFill>
            <a:srgbClr val="00C9A7"/>
          </a:solidFill>
          <a:ln/>
        </p:spPr>
      </p:sp>
      <p:sp>
        <p:nvSpPr>
          <p:cNvPr id="23" name="Text 21"/>
          <p:cNvSpPr/>
          <p:nvPr/>
        </p:nvSpPr>
        <p:spPr>
          <a:xfrm>
            <a:off x="822960" y="324612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M3</a:t>
            </a:r>
            <a:endParaRPr lang="en-US" sz="1300" dirty="0"/>
          </a:p>
        </p:txBody>
      </p:sp>
      <p:sp>
        <p:nvSpPr>
          <p:cNvPr id="24" name="Text 22"/>
          <p:cNvSpPr/>
          <p:nvPr/>
        </p:nvSpPr>
        <p:spPr>
          <a:xfrm>
            <a:off x="2103120" y="326440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Metrics (object rel · part align · entropy · sens)</a:t>
            </a:r>
            <a:endParaRPr lang="en-US" sz="1200" dirty="0"/>
          </a:p>
        </p:txBody>
      </p:sp>
      <p:sp>
        <p:nvSpPr>
          <p:cNvPr id="25" name="Text 23"/>
          <p:cNvSpPr/>
          <p:nvPr/>
        </p:nvSpPr>
        <p:spPr>
          <a:xfrm>
            <a:off x="6400800" y="326440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7772400" y="326440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Numbers sane on known cases</a:t>
            </a:r>
            <a:endParaRPr lang="en-US" sz="1150" dirty="0"/>
          </a:p>
        </p:txBody>
      </p:sp>
      <p:sp>
        <p:nvSpPr>
          <p:cNvPr id="27" name="Shape 25"/>
          <p:cNvSpPr/>
          <p:nvPr/>
        </p:nvSpPr>
        <p:spPr>
          <a:xfrm>
            <a:off x="640080" y="3703320"/>
            <a:ext cx="10972800" cy="457200"/>
          </a:xfrm>
          <a:prstGeom prst="rect">
            <a:avLst/>
          </a:prstGeom>
          <a:solidFill>
            <a:srgbClr val="F4F5FB"/>
          </a:solidFill>
          <a:ln w="12700">
            <a:solidFill>
              <a:srgbClr val="E3E4F0"/>
            </a:solidFill>
            <a:prstDash val="solid"/>
          </a:ln>
        </p:spPr>
      </p:sp>
      <p:sp>
        <p:nvSpPr>
          <p:cNvPr id="28" name="Shape 26"/>
          <p:cNvSpPr/>
          <p:nvPr/>
        </p:nvSpPr>
        <p:spPr>
          <a:xfrm>
            <a:off x="640080" y="3703320"/>
            <a:ext cx="137160" cy="457200"/>
          </a:xfrm>
          <a:prstGeom prst="rect">
            <a:avLst/>
          </a:prstGeom>
          <a:solidFill>
            <a:srgbClr val="00C9A7"/>
          </a:solidFill>
          <a:ln/>
        </p:spPr>
      </p:sp>
      <p:sp>
        <p:nvSpPr>
          <p:cNvPr id="29" name="Text 27"/>
          <p:cNvSpPr/>
          <p:nvPr/>
        </p:nvSpPr>
        <p:spPr>
          <a:xfrm>
            <a:off x="822960" y="374904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M4</a:t>
            </a:r>
            <a:endParaRPr lang="en-US" sz="1300" dirty="0"/>
          </a:p>
        </p:txBody>
      </p:sp>
      <p:sp>
        <p:nvSpPr>
          <p:cNvPr id="30" name="Text 28"/>
          <p:cNvSpPr/>
          <p:nvPr/>
        </p:nvSpPr>
        <p:spPr>
          <a:xfrm>
            <a:off x="2103120" y="376732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Intervention loop (mask → re-run)</a:t>
            </a:r>
            <a:endParaRPr lang="en-US" sz="1200" dirty="0"/>
          </a:p>
        </p:txBody>
      </p:sp>
      <p:sp>
        <p:nvSpPr>
          <p:cNvPr id="31" name="Text 29"/>
          <p:cNvSpPr/>
          <p:nvPr/>
        </p:nvSpPr>
        <p:spPr>
          <a:xfrm>
            <a:off x="6400800" y="376732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7772400" y="376732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Masking the head flips bird preds on CUB-200</a:t>
            </a:r>
            <a:endParaRPr lang="en-US" sz="1150" dirty="0"/>
          </a:p>
        </p:txBody>
      </p:sp>
      <p:sp>
        <p:nvSpPr>
          <p:cNvPr id="33" name="Shape 31"/>
          <p:cNvSpPr/>
          <p:nvPr/>
        </p:nvSpPr>
        <p:spPr>
          <a:xfrm>
            <a:off x="640080" y="4206240"/>
            <a:ext cx="10972800" cy="457200"/>
          </a:xfrm>
          <a:prstGeom prst="rect">
            <a:avLst/>
          </a:prstGeom>
          <a:solidFill>
            <a:srgbClr val="FFFFFF"/>
          </a:solidFill>
          <a:ln w="12700">
            <a:solidFill>
              <a:srgbClr val="E3E4F0"/>
            </a:solidFill>
            <a:prstDash val="solid"/>
          </a:ln>
        </p:spPr>
      </p:sp>
      <p:sp>
        <p:nvSpPr>
          <p:cNvPr id="34" name="Shape 32"/>
          <p:cNvSpPr/>
          <p:nvPr/>
        </p:nvSpPr>
        <p:spPr>
          <a:xfrm>
            <a:off x="640080" y="4206240"/>
            <a:ext cx="137160" cy="457200"/>
          </a:xfrm>
          <a:prstGeom prst="rect">
            <a:avLst/>
          </a:prstGeom>
          <a:solidFill>
            <a:srgbClr val="00C9A7"/>
          </a:solidFill>
          <a:ln/>
        </p:spPr>
      </p:sp>
      <p:sp>
        <p:nvSpPr>
          <p:cNvPr id="35" name="Text 33"/>
          <p:cNvSpPr/>
          <p:nvPr/>
        </p:nvSpPr>
        <p:spPr>
          <a:xfrm>
            <a:off x="822960" y="425196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M5</a:t>
            </a:r>
            <a:endParaRPr lang="en-US" sz="1300" dirty="0"/>
          </a:p>
        </p:txBody>
      </p:sp>
      <p:sp>
        <p:nvSpPr>
          <p:cNvPr id="36" name="Text 34"/>
          <p:cNvSpPr/>
          <p:nvPr/>
        </p:nvSpPr>
        <p:spPr>
          <a:xfrm>
            <a:off x="2103120" y="427024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Gradio UI (per-layer grid + click-to-mask)</a:t>
            </a:r>
            <a:endParaRPr lang="en-US" sz="1200" dirty="0"/>
          </a:p>
        </p:txBody>
      </p:sp>
      <p:sp>
        <p:nvSpPr>
          <p:cNvPr id="37" name="Text 35"/>
          <p:cNvSpPr/>
          <p:nvPr/>
        </p:nvSpPr>
        <p:spPr>
          <a:xfrm>
            <a:off x="6400800" y="427024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t>
            </a:r>
            <a:endParaRPr lang="en-US" sz="1200" dirty="0"/>
          </a:p>
        </p:txBody>
      </p:sp>
      <p:sp>
        <p:nvSpPr>
          <p:cNvPr id="38" name="Text 36"/>
          <p:cNvSpPr/>
          <p:nvPr/>
        </p:nvSpPr>
        <p:spPr>
          <a:xfrm>
            <a:off x="7772400" y="427024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End-to-end interactive session</a:t>
            </a:r>
            <a:endParaRPr lang="en-US" sz="1150" dirty="0"/>
          </a:p>
        </p:txBody>
      </p:sp>
      <p:sp>
        <p:nvSpPr>
          <p:cNvPr id="39" name="Shape 37"/>
          <p:cNvSpPr/>
          <p:nvPr/>
        </p:nvSpPr>
        <p:spPr>
          <a:xfrm>
            <a:off x="640080" y="4709160"/>
            <a:ext cx="10972800" cy="457200"/>
          </a:xfrm>
          <a:prstGeom prst="rect">
            <a:avLst/>
          </a:prstGeom>
          <a:solidFill>
            <a:srgbClr val="F4F5FB"/>
          </a:solidFill>
          <a:ln w="12700">
            <a:solidFill>
              <a:srgbClr val="E3E4F0"/>
            </a:solidFill>
            <a:prstDash val="solid"/>
          </a:ln>
        </p:spPr>
      </p:sp>
      <p:sp>
        <p:nvSpPr>
          <p:cNvPr id="40" name="Shape 38"/>
          <p:cNvSpPr/>
          <p:nvPr/>
        </p:nvSpPr>
        <p:spPr>
          <a:xfrm>
            <a:off x="640080" y="4709160"/>
            <a:ext cx="137160" cy="457200"/>
          </a:xfrm>
          <a:prstGeom prst="rect">
            <a:avLst/>
          </a:prstGeom>
          <a:solidFill>
            <a:srgbClr val="00C9A7"/>
          </a:solidFill>
          <a:ln/>
        </p:spPr>
      </p:sp>
      <p:sp>
        <p:nvSpPr>
          <p:cNvPr id="41" name="Text 39"/>
          <p:cNvSpPr/>
          <p:nvPr/>
        </p:nvSpPr>
        <p:spPr>
          <a:xfrm>
            <a:off x="822960" y="475488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M6</a:t>
            </a:r>
            <a:endParaRPr lang="en-US" sz="1300" dirty="0"/>
          </a:p>
        </p:txBody>
      </p:sp>
      <p:sp>
        <p:nvSpPr>
          <p:cNvPr id="42" name="Text 40"/>
          <p:cNvSpPr/>
          <p:nvPr/>
        </p:nvSpPr>
        <p:spPr>
          <a:xfrm>
            <a:off x="2103120" y="477316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Screening engine (aggregate → verdicts)</a:t>
            </a:r>
            <a:endParaRPr lang="en-US" sz="1200" dirty="0"/>
          </a:p>
        </p:txBody>
      </p:sp>
      <p:sp>
        <p:nvSpPr>
          <p:cNvPr id="43" name="Text 41"/>
          <p:cNvSpPr/>
          <p:nvPr/>
        </p:nvSpPr>
        <p:spPr>
          <a:xfrm>
            <a:off x="6400800" y="477316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t>
            </a:r>
            <a:endParaRPr lang="en-US" sz="1200" dirty="0"/>
          </a:p>
        </p:txBody>
      </p:sp>
      <p:sp>
        <p:nvSpPr>
          <p:cNvPr id="44" name="Text 42"/>
          <p:cNvSpPr/>
          <p:nvPr/>
        </p:nvSpPr>
        <p:spPr>
          <a:xfrm>
            <a:off x="7772400" y="477316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Flags fire on a known-biased model</a:t>
            </a:r>
            <a:endParaRPr lang="en-US" sz="1150" dirty="0"/>
          </a:p>
        </p:txBody>
      </p:sp>
      <p:sp>
        <p:nvSpPr>
          <p:cNvPr id="45" name="Shape 43"/>
          <p:cNvSpPr/>
          <p:nvPr/>
        </p:nvSpPr>
        <p:spPr>
          <a:xfrm>
            <a:off x="640080" y="5212080"/>
            <a:ext cx="10972800" cy="457200"/>
          </a:xfrm>
          <a:prstGeom prst="rect">
            <a:avLst/>
          </a:prstGeom>
          <a:solidFill>
            <a:srgbClr val="FFFFFF"/>
          </a:solidFill>
          <a:ln w="12700">
            <a:solidFill>
              <a:srgbClr val="E3E4F0"/>
            </a:solidFill>
            <a:prstDash val="solid"/>
          </a:ln>
        </p:spPr>
      </p:sp>
      <p:sp>
        <p:nvSpPr>
          <p:cNvPr id="46" name="Shape 44"/>
          <p:cNvSpPr/>
          <p:nvPr/>
        </p:nvSpPr>
        <p:spPr>
          <a:xfrm>
            <a:off x="640080" y="5212080"/>
            <a:ext cx="137160" cy="457200"/>
          </a:xfrm>
          <a:prstGeom prst="rect">
            <a:avLst/>
          </a:prstGeom>
          <a:solidFill>
            <a:srgbClr val="00C9A7"/>
          </a:solidFill>
          <a:ln/>
        </p:spPr>
      </p:sp>
      <p:sp>
        <p:nvSpPr>
          <p:cNvPr id="47" name="Text 45"/>
          <p:cNvSpPr/>
          <p:nvPr/>
        </p:nvSpPr>
        <p:spPr>
          <a:xfrm>
            <a:off x="822960" y="525780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M7</a:t>
            </a:r>
            <a:endParaRPr lang="en-US" sz="1300" dirty="0"/>
          </a:p>
        </p:txBody>
      </p:sp>
      <p:sp>
        <p:nvSpPr>
          <p:cNvPr id="48" name="Text 46"/>
          <p:cNvSpPr/>
          <p:nvPr/>
        </p:nvSpPr>
        <p:spPr>
          <a:xfrm>
            <a:off x="2103120" y="527608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Planted-bias (Waterbirds-style) on CUB-200</a:t>
            </a:r>
            <a:endParaRPr lang="en-US" sz="1200" dirty="0"/>
          </a:p>
        </p:txBody>
      </p:sp>
      <p:sp>
        <p:nvSpPr>
          <p:cNvPr id="49" name="Text 47"/>
          <p:cNvSpPr/>
          <p:nvPr/>
        </p:nvSpPr>
        <p:spPr>
          <a:xfrm>
            <a:off x="6400800" y="527608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t>
            </a:r>
            <a:endParaRPr lang="en-US" sz="1200" dirty="0"/>
          </a:p>
        </p:txBody>
      </p:sp>
      <p:sp>
        <p:nvSpPr>
          <p:cNvPr id="50" name="Text 48"/>
          <p:cNvSpPr/>
          <p:nvPr/>
        </p:nvSpPr>
        <p:spPr>
          <a:xfrm>
            <a:off x="7772400" y="527608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Screener catches the exact planted shortcut</a:t>
            </a:r>
            <a:endParaRPr lang="en-US" sz="1150" dirty="0"/>
          </a:p>
        </p:txBody>
      </p:sp>
      <p:sp>
        <p:nvSpPr>
          <p:cNvPr id="51" name="Shape 49"/>
          <p:cNvSpPr/>
          <p:nvPr/>
        </p:nvSpPr>
        <p:spPr>
          <a:xfrm>
            <a:off x="640080" y="5715000"/>
            <a:ext cx="10972800" cy="457200"/>
          </a:xfrm>
          <a:prstGeom prst="rect">
            <a:avLst/>
          </a:prstGeom>
          <a:solidFill>
            <a:srgbClr val="F4F5FB"/>
          </a:solidFill>
          <a:ln w="12700">
            <a:solidFill>
              <a:srgbClr val="E3E4F0"/>
            </a:solidFill>
            <a:prstDash val="solid"/>
          </a:ln>
        </p:spPr>
      </p:sp>
      <p:sp>
        <p:nvSpPr>
          <p:cNvPr id="52" name="Shape 50"/>
          <p:cNvSpPr/>
          <p:nvPr/>
        </p:nvSpPr>
        <p:spPr>
          <a:xfrm>
            <a:off x="640080" y="5715000"/>
            <a:ext cx="137160" cy="457200"/>
          </a:xfrm>
          <a:prstGeom prst="rect">
            <a:avLst/>
          </a:prstGeom>
          <a:solidFill>
            <a:srgbClr val="00C9A7"/>
          </a:solidFill>
          <a:ln/>
        </p:spPr>
      </p:sp>
      <p:sp>
        <p:nvSpPr>
          <p:cNvPr id="53" name="Text 51"/>
          <p:cNvSpPr/>
          <p:nvPr/>
        </p:nvSpPr>
        <p:spPr>
          <a:xfrm>
            <a:off x="822960" y="5760720"/>
            <a:ext cx="1188720" cy="36576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M8</a:t>
            </a:r>
            <a:endParaRPr lang="en-US" sz="1300" dirty="0"/>
          </a:p>
        </p:txBody>
      </p:sp>
      <p:sp>
        <p:nvSpPr>
          <p:cNvPr id="54" name="Text 52"/>
          <p:cNvSpPr/>
          <p:nvPr/>
        </p:nvSpPr>
        <p:spPr>
          <a:xfrm>
            <a:off x="2103120" y="5779008"/>
            <a:ext cx="4206240" cy="365760"/>
          </a:xfrm>
          <a:prstGeom prst="rect">
            <a:avLst/>
          </a:prstGeom>
          <a:noFill/>
          <a:ln/>
        </p:spPr>
        <p:txBody>
          <a:bodyPr wrap="square" lIns="0" tIns="0" rIns="0" bIns="0" rtlCol="0" anchor="ctr"/>
          <a:lstStyle/>
          <a:p>
            <a:pPr indent="0" marL="0">
              <a:buNone/>
            </a:pPr>
            <a:r>
              <a:rPr lang="en-US" sz="1200" dirty="0">
                <a:solidFill>
                  <a:srgbClr val="1F2340"/>
                </a:solidFill>
                <a:latin typeface="Calibri" pitchFamily="34" charset="0"/>
                <a:ea typeface="Calibri" pitchFamily="34" charset="-122"/>
                <a:cs typeface="Calibri" pitchFamily="34" charset="-120"/>
              </a:rPr>
              <a:t>ObjectNet natural-bias + wrap-up</a:t>
            </a:r>
            <a:endParaRPr lang="en-US" sz="1200" dirty="0"/>
          </a:p>
        </p:txBody>
      </p:sp>
      <p:sp>
        <p:nvSpPr>
          <p:cNvPr id="55" name="Text 53"/>
          <p:cNvSpPr/>
          <p:nvPr/>
        </p:nvSpPr>
        <p:spPr>
          <a:xfrm>
            <a:off x="6400800" y="5779008"/>
            <a:ext cx="1280160" cy="36576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t>
            </a:r>
            <a:endParaRPr lang="en-US" sz="1200" dirty="0"/>
          </a:p>
        </p:txBody>
      </p:sp>
      <p:sp>
        <p:nvSpPr>
          <p:cNvPr id="56" name="Text 54"/>
          <p:cNvSpPr/>
          <p:nvPr/>
        </p:nvSpPr>
        <p:spPr>
          <a:xfrm>
            <a:off x="7772400" y="5779008"/>
            <a:ext cx="3840480" cy="365760"/>
          </a:xfrm>
          <a:prstGeom prst="rect">
            <a:avLst/>
          </a:prstGeom>
          <a:noFill/>
          <a:ln/>
        </p:spPr>
        <p:txBody>
          <a:bodyPr wrap="square" lIns="0" tIns="0" rIns="0" bIns="0" rtlCol="0" anchor="ctr"/>
          <a:lstStyle/>
          <a:p>
            <a:pPr indent="0" marL="0">
              <a:buNone/>
            </a:pPr>
            <a:r>
              <a:rPr lang="en-US" sz="1150" dirty="0">
                <a:solidFill>
                  <a:srgbClr val="5A5F7A"/>
                </a:solidFill>
                <a:latin typeface="Calibri" pitchFamily="34" charset="0"/>
                <a:ea typeface="Calibri" pitchFamily="34" charset="-122"/>
                <a:cs typeface="Calibri" pitchFamily="34" charset="-120"/>
              </a:rPr>
              <a:t>Screener flags context reliance</a:t>
            </a:r>
            <a:endParaRPr lang="en-US" sz="1150" dirty="0"/>
          </a:p>
        </p:txBody>
      </p:sp>
      <p:sp>
        <p:nvSpPr>
          <p:cNvPr id="57" name="Shape 55"/>
          <p:cNvSpPr/>
          <p:nvPr/>
        </p:nvSpPr>
        <p:spPr>
          <a:xfrm>
            <a:off x="640080" y="6263640"/>
            <a:ext cx="10972800" cy="365760"/>
          </a:xfrm>
          <a:prstGeom prst="roundRect">
            <a:avLst>
              <a:gd name="adj" fmla="val 15000"/>
            </a:avLst>
          </a:prstGeom>
          <a:solidFill>
            <a:srgbClr val="E6F7F4"/>
          </a:solidFill>
          <a:ln/>
        </p:spPr>
      </p:sp>
      <p:sp>
        <p:nvSpPr>
          <p:cNvPr id="58" name="Text 56"/>
          <p:cNvSpPr/>
          <p:nvPr/>
        </p:nvSpPr>
        <p:spPr>
          <a:xfrm>
            <a:off x="822960" y="6263640"/>
            <a:ext cx="10607040" cy="365760"/>
          </a:xfrm>
          <a:prstGeom prst="rect">
            <a:avLst/>
          </a:prstGeom>
          <a:noFill/>
          <a:ln/>
        </p:spPr>
        <p:txBody>
          <a:bodyPr wrap="square" lIns="0" tIns="0" rIns="0" bIns="0" rtlCol="0" anchor="ctr"/>
          <a:lstStyle/>
          <a:p>
            <a:pPr indent="0" marL="0">
              <a:buNone/>
            </a:pPr>
            <a:r>
              <a:rPr lang="en-US" sz="1150" b="1" dirty="0">
                <a:solidFill>
                  <a:srgbClr val="006B59"/>
                </a:solidFill>
                <a:latin typeface="Calibri" pitchFamily="34" charset="0"/>
                <a:ea typeface="Calibri" pitchFamily="34" charset="-122"/>
                <a:cs typeface="Calibri" pitchFamily="34" charset="-120"/>
              </a:rPr>
              <a:t>M1 fully verified end-to-end (Samoyed, 8 maps, correct prediction, commit 96c50b6).  M2 is the next gate.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Validation — two killer experiments</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Proves the tool catches what we know + what's real</a:t>
            </a:r>
            <a:endParaRPr lang="en-US" sz="1500" dirty="0"/>
          </a:p>
        </p:txBody>
      </p:sp>
      <p:sp>
        <p:nvSpPr>
          <p:cNvPr id="4" name="Shape 2"/>
          <p:cNvSpPr/>
          <p:nvPr/>
        </p:nvSpPr>
        <p:spPr>
          <a:xfrm>
            <a:off x="640080" y="1691640"/>
            <a:ext cx="5486400" cy="4206240"/>
          </a:xfrm>
          <a:prstGeom prst="roundRect">
            <a:avLst>
              <a:gd name="adj" fmla="val 2609"/>
            </a:avLst>
          </a:prstGeom>
          <a:solidFill>
            <a:srgbClr val="FFFFFF"/>
          </a:solidFill>
          <a:ln w="12700">
            <a:solidFill>
              <a:srgbClr val="E3E4F0"/>
            </a:solidFill>
            <a:prstDash val="solid"/>
          </a:ln>
        </p:spPr>
      </p:sp>
      <p:sp>
        <p:nvSpPr>
          <p:cNvPr id="5" name="Shape 3"/>
          <p:cNvSpPr/>
          <p:nvPr/>
        </p:nvSpPr>
        <p:spPr>
          <a:xfrm>
            <a:off x="640080" y="1691640"/>
            <a:ext cx="5486400" cy="502920"/>
          </a:xfrm>
          <a:prstGeom prst="rect">
            <a:avLst/>
          </a:prstGeom>
          <a:solidFill>
            <a:srgbClr val="2E2A72"/>
          </a:solidFill>
          <a:ln/>
        </p:spPr>
      </p:sp>
      <p:sp>
        <p:nvSpPr>
          <p:cNvPr id="6" name="Text 4"/>
          <p:cNvSpPr/>
          <p:nvPr/>
        </p:nvSpPr>
        <p:spPr>
          <a:xfrm>
            <a:off x="822960" y="1737360"/>
            <a:ext cx="51206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M7  ·  Planted-bias (Waterbirds-style)</a:t>
            </a:r>
            <a:endParaRPr lang="en-US" sz="1400" dirty="0"/>
          </a:p>
        </p:txBody>
      </p:sp>
      <p:sp>
        <p:nvSpPr>
          <p:cNvPr id="7" name="Text 5"/>
          <p:cNvSpPr/>
          <p:nvPr/>
        </p:nvSpPr>
        <p:spPr>
          <a:xfrm>
            <a:off x="868680" y="2377440"/>
            <a:ext cx="5029200" cy="338328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250" dirty="0">
                <a:solidFill>
                  <a:srgbClr val="1F2340"/>
                </a:solidFill>
                <a:latin typeface="Calibri" pitchFamily="34" charset="0"/>
                <a:ea typeface="Calibri" pitchFamily="34" charset="-122"/>
                <a:cs typeface="Calibri" pitchFamily="34" charset="-120"/>
              </a:rPr>
              <a:t>Setup:  synthetic background/species correlation on CUB-200 → fine-tune ViT (+ResNet)</a:t>
            </a:r>
            <a:endParaRPr lang="en-US" sz="1250" dirty="0"/>
          </a:p>
          <a:p>
            <a:pPr marL="342900" indent="-342900">
              <a:lnSpc>
                <a:spcPts val="1400"/>
              </a:lnSpc>
              <a:spcAft>
                <a:spcPts val="800"/>
              </a:spcAft>
              <a:buSzPct val="100000"/>
              <a:buChar char="•"/>
            </a:pPr>
            <a:r>
              <a:rPr lang="en-US" sz="1250" dirty="0">
                <a:solidFill>
                  <a:srgbClr val="1F2340"/>
                </a:solidFill>
                <a:latin typeface="Calibri" pitchFamily="34" charset="0"/>
                <a:ea typeface="Calibri" pitchFamily="34" charset="-122"/>
                <a:cs typeface="Calibri" pitchFamily="34" charset="-120"/>
              </a:rPr>
              <a:t>What it tests:  does the screener catch a shortcut we deliberately planted?</a:t>
            </a:r>
            <a:endParaRPr lang="en-US" sz="1250" dirty="0"/>
          </a:p>
          <a:p>
            <a:pPr marL="342900" indent="-342900">
              <a:lnSpc>
                <a:spcPts val="1400"/>
              </a:lnSpc>
              <a:spcAft>
                <a:spcPts val="800"/>
              </a:spcAft>
              <a:buSzPct val="100000"/>
              <a:buChar char="•"/>
            </a:pPr>
            <a:r>
              <a:rPr lang="en-US" sz="1250" dirty="0">
                <a:solidFill>
                  <a:srgbClr val="1F2340"/>
                </a:solidFill>
                <a:latin typeface="Calibri" pitchFamily="34" charset="0"/>
                <a:ea typeface="Calibri" pitchFamily="34" charset="-122"/>
                <a:cs typeface="Calibri" pitchFamily="34" charset="-120"/>
              </a:rPr>
              <a:t>Pass criterion:  flag fires on the planted bias; bg/object sensitivity ≫ 1</a:t>
            </a:r>
            <a:endParaRPr lang="en-US" sz="1250" dirty="0"/>
          </a:p>
          <a:p>
            <a:pPr marL="342900" indent="-342900">
              <a:lnSpc>
                <a:spcPts val="1400"/>
              </a:lnSpc>
              <a:buSzPct val="100000"/>
              <a:buChar char="•"/>
            </a:pPr>
            <a:r>
              <a:rPr lang="en-US" sz="1250" dirty="0">
                <a:solidFill>
                  <a:srgbClr val="1F2340"/>
                </a:solidFill>
                <a:latin typeface="Calibri" pitchFamily="34" charset="0"/>
                <a:ea typeface="Calibri" pitchFamily="34" charset="-122"/>
                <a:cs typeface="Calibri" pitchFamily="34" charset="-120"/>
              </a:rPr>
              <a:t>Why it matters:  proves the tool catches what we KNOW is there</a:t>
            </a:r>
            <a:endParaRPr lang="en-US" sz="1250" dirty="0"/>
          </a:p>
        </p:txBody>
      </p:sp>
      <p:sp>
        <p:nvSpPr>
          <p:cNvPr id="8" name="Shape 6"/>
          <p:cNvSpPr/>
          <p:nvPr/>
        </p:nvSpPr>
        <p:spPr>
          <a:xfrm>
            <a:off x="6309360" y="1691640"/>
            <a:ext cx="5486400" cy="4206240"/>
          </a:xfrm>
          <a:prstGeom prst="roundRect">
            <a:avLst>
              <a:gd name="adj" fmla="val 2609"/>
            </a:avLst>
          </a:prstGeom>
          <a:solidFill>
            <a:srgbClr val="FFFFFF"/>
          </a:solidFill>
          <a:ln w="12700">
            <a:solidFill>
              <a:srgbClr val="E3E4F0"/>
            </a:solidFill>
            <a:prstDash val="solid"/>
          </a:ln>
        </p:spPr>
      </p:sp>
      <p:sp>
        <p:nvSpPr>
          <p:cNvPr id="9" name="Shape 7"/>
          <p:cNvSpPr/>
          <p:nvPr/>
        </p:nvSpPr>
        <p:spPr>
          <a:xfrm>
            <a:off x="6309360" y="1691640"/>
            <a:ext cx="5486400" cy="502920"/>
          </a:xfrm>
          <a:prstGeom prst="rect">
            <a:avLst/>
          </a:prstGeom>
          <a:solidFill>
            <a:srgbClr val="00C9A7"/>
          </a:solidFill>
          <a:ln/>
        </p:spPr>
      </p:sp>
      <p:sp>
        <p:nvSpPr>
          <p:cNvPr id="10" name="Text 8"/>
          <p:cNvSpPr/>
          <p:nvPr/>
        </p:nvSpPr>
        <p:spPr>
          <a:xfrm>
            <a:off x="6492240" y="1737360"/>
            <a:ext cx="51206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M8  ·  ObjectNet natural-bias</a:t>
            </a:r>
            <a:endParaRPr lang="en-US" sz="1400" dirty="0"/>
          </a:p>
        </p:txBody>
      </p:sp>
      <p:sp>
        <p:nvSpPr>
          <p:cNvPr id="11" name="Text 9"/>
          <p:cNvSpPr/>
          <p:nvPr/>
        </p:nvSpPr>
        <p:spPr>
          <a:xfrm>
            <a:off x="6537960" y="2377440"/>
            <a:ext cx="5029200" cy="338328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250" dirty="0">
                <a:solidFill>
                  <a:srgbClr val="1F2340"/>
                </a:solidFill>
                <a:latin typeface="Calibri" pitchFamily="34" charset="0"/>
                <a:ea typeface="Calibri" pitchFamily="34" charset="-122"/>
                <a:cs typeface="Calibri" pitchFamily="34" charset="-120"/>
              </a:rPr>
              <a:t>Setup:  standard pretrained ImageNet model on objects in bizarre contexts</a:t>
            </a:r>
            <a:endParaRPr lang="en-US" sz="1250" dirty="0"/>
          </a:p>
          <a:p>
            <a:pPr marL="342900" indent="-342900">
              <a:lnSpc>
                <a:spcPts val="1400"/>
              </a:lnSpc>
              <a:spcAft>
                <a:spcPts val="800"/>
              </a:spcAft>
              <a:buSzPct val="100000"/>
              <a:buChar char="•"/>
            </a:pPr>
            <a:r>
              <a:rPr lang="en-US" sz="1250" dirty="0">
                <a:solidFill>
                  <a:srgbClr val="1F2340"/>
                </a:solidFill>
                <a:latin typeface="Calibri" pitchFamily="34" charset="0"/>
                <a:ea typeface="Calibri" pitchFamily="34" charset="-122"/>
                <a:cs typeface="Calibri" pitchFamily="34" charset="-120"/>
              </a:rPr>
              <a:t>What it tests:  does the screener catch context reliance we did NOT plant?</a:t>
            </a:r>
            <a:endParaRPr lang="en-US" sz="1250" dirty="0"/>
          </a:p>
          <a:p>
            <a:pPr marL="342900" indent="-342900">
              <a:lnSpc>
                <a:spcPts val="1400"/>
              </a:lnSpc>
              <a:spcAft>
                <a:spcPts val="800"/>
              </a:spcAft>
              <a:buSzPct val="100000"/>
              <a:buChar char="•"/>
            </a:pPr>
            <a:r>
              <a:rPr lang="en-US" sz="1250" dirty="0">
                <a:solidFill>
                  <a:srgbClr val="1F2340"/>
                </a:solidFill>
                <a:latin typeface="Calibri" pitchFamily="34" charset="0"/>
                <a:ea typeface="Calibri" pitchFamily="34" charset="-122"/>
                <a:cs typeface="Calibri" pitchFamily="34" charset="-120"/>
              </a:rPr>
              <a:t>Pass criterion:  failure-diagnosis explains the misclassifications</a:t>
            </a:r>
            <a:endParaRPr lang="en-US" sz="1250" dirty="0"/>
          </a:p>
          <a:p>
            <a:pPr marL="342900" indent="-342900">
              <a:lnSpc>
                <a:spcPts val="1400"/>
              </a:lnSpc>
              <a:buSzPct val="100000"/>
              <a:buChar char="•"/>
            </a:pPr>
            <a:r>
              <a:rPr lang="en-US" sz="1250" dirty="0">
                <a:solidFill>
                  <a:srgbClr val="1F2340"/>
                </a:solidFill>
                <a:latin typeface="Calibri" pitchFamily="34" charset="0"/>
                <a:ea typeface="Calibri" pitchFamily="34" charset="-122"/>
                <a:cs typeface="Calibri" pitchFamily="34" charset="-120"/>
              </a:rPr>
              <a:t>Why it matters:  proves the tool catches what's REAL</a:t>
            </a:r>
            <a:endParaRPr lang="en-US" sz="1250" dirty="0"/>
          </a:p>
        </p:txBody>
      </p:sp>
      <p:sp>
        <p:nvSpPr>
          <p:cNvPr id="12" name="Shape 10"/>
          <p:cNvSpPr/>
          <p:nvPr/>
        </p:nvSpPr>
        <p:spPr>
          <a:xfrm>
            <a:off x="640080" y="5989320"/>
            <a:ext cx="10972800" cy="548640"/>
          </a:xfrm>
          <a:prstGeom prst="roundRect">
            <a:avLst>
              <a:gd name="adj" fmla="val 16667"/>
            </a:avLst>
          </a:prstGeom>
          <a:solidFill>
            <a:srgbClr val="E6F7F4"/>
          </a:solidFill>
          <a:ln/>
        </p:spPr>
      </p:sp>
      <p:sp>
        <p:nvSpPr>
          <p:cNvPr id="13" name="Text 11"/>
          <p:cNvSpPr/>
          <p:nvPr/>
        </p:nvSpPr>
        <p:spPr>
          <a:xfrm>
            <a:off x="822960" y="6035040"/>
            <a:ext cx="10607040" cy="457200"/>
          </a:xfrm>
          <a:prstGeom prst="rect">
            <a:avLst/>
          </a:prstGeom>
          <a:noFill/>
          <a:ln/>
        </p:spPr>
        <p:txBody>
          <a:bodyPr wrap="square" lIns="0" tIns="0" rIns="0" bIns="0" rtlCol="0" anchor="ctr"/>
          <a:lstStyle/>
          <a:p>
            <a:pPr indent="0" marL="0">
              <a:buNone/>
            </a:pPr>
            <a:r>
              <a:rPr lang="en-US" sz="1250" b="1" dirty="0">
                <a:solidFill>
                  <a:srgbClr val="006B59"/>
                </a:solidFill>
                <a:latin typeface="Calibri" pitchFamily="34" charset="0"/>
                <a:ea typeface="Calibri" pitchFamily="34" charset="-122"/>
                <a:cs typeface="Calibri" pitchFamily="34" charset="-120"/>
              </a:rPr>
              <a:t>Both required.  A screening tool is only science if its verdicts are provably true positives — known bugs caught AND real bugs caught.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C"/>
        </a:solidFill>
      </p:bgPr>
    </p:bg>
    <p:spTree>
      <p:nvGrpSpPr>
        <p:cNvPr id="1" name=""/>
        <p:cNvGrpSpPr/>
        <p:nvPr/>
      </p:nvGrpSpPr>
      <p:grpSpPr>
        <a:xfrm>
          <a:off x="0" y="0"/>
          <a:ext cx="0" cy="0"/>
          <a:chOff x="0" y="0"/>
          <a:chExt cx="0" cy="0"/>
        </a:xfrm>
      </p:grpSpPr>
      <p:sp>
        <p:nvSpPr>
          <p:cNvPr id="2" name="Text 0"/>
          <p:cNvSpPr/>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F2340"/>
                </a:solidFill>
                <a:latin typeface="Cambria" pitchFamily="34" charset="0"/>
                <a:ea typeface="Cambria" pitchFamily="34" charset="-122"/>
                <a:cs typeface="Cambria" pitchFamily="34" charset="-120"/>
              </a:rPr>
              <a:t>Novelty &amp; honest limits</a:t>
            </a:r>
            <a:endParaRPr lang="en-US" sz="3000" dirty="0"/>
          </a:p>
        </p:txBody>
      </p:sp>
      <p:sp>
        <p:nvSpPr>
          <p:cNvPr id="3" name="Text 1"/>
          <p:cNvSpPr/>
          <p:nvPr/>
        </p:nvSpPr>
        <p:spPr>
          <a:xfrm>
            <a:off x="566928" y="1078992"/>
            <a:ext cx="10972800" cy="411480"/>
          </a:xfrm>
          <a:prstGeom prst="rect">
            <a:avLst/>
          </a:prstGeom>
          <a:noFill/>
          <a:ln/>
        </p:spPr>
        <p:txBody>
          <a:bodyPr wrap="square" lIns="0" tIns="0" rIns="0" bIns="0" rtlCol="0" anchor="ctr"/>
          <a:lstStyle/>
          <a:p>
            <a:pPr indent="0" marL="0">
              <a:buNone/>
            </a:pPr>
            <a:r>
              <a:rPr lang="en-US" sz="1500" dirty="0">
                <a:solidFill>
                  <a:srgbClr val="5A5F7A"/>
                </a:solidFill>
                <a:latin typeface="Calibri" pitchFamily="34" charset="0"/>
                <a:ea typeface="Calibri" pitchFamily="34" charset="-122"/>
                <a:cs typeface="Calibri" pitchFamily="34" charset="-120"/>
              </a:rPr>
              <a:t>Engineering novelty beats another Grad-CAM variant</a:t>
            </a:r>
            <a:endParaRPr lang="en-US" sz="1500" dirty="0"/>
          </a:p>
        </p:txBody>
      </p:sp>
      <p:sp>
        <p:nvSpPr>
          <p:cNvPr id="4" name="Shape 2"/>
          <p:cNvSpPr/>
          <p:nvPr/>
        </p:nvSpPr>
        <p:spPr>
          <a:xfrm>
            <a:off x="640080" y="1691640"/>
            <a:ext cx="5440680" cy="4206240"/>
          </a:xfrm>
          <a:prstGeom prst="roundRect">
            <a:avLst>
              <a:gd name="adj" fmla="val 2609"/>
            </a:avLst>
          </a:prstGeom>
          <a:solidFill>
            <a:srgbClr val="FFFFFF"/>
          </a:solidFill>
          <a:ln w="12700">
            <a:solidFill>
              <a:srgbClr val="E3E4F0"/>
            </a:solidFill>
            <a:prstDash val="solid"/>
          </a:ln>
        </p:spPr>
      </p:sp>
      <p:sp>
        <p:nvSpPr>
          <p:cNvPr id="5" name="Text 3"/>
          <p:cNvSpPr/>
          <p:nvPr/>
        </p:nvSpPr>
        <p:spPr>
          <a:xfrm>
            <a:off x="914400" y="1828800"/>
            <a:ext cx="4846320" cy="457200"/>
          </a:xfrm>
          <a:prstGeom prst="rect">
            <a:avLst/>
          </a:prstGeom>
          <a:noFill/>
          <a:ln/>
        </p:spPr>
        <p:txBody>
          <a:bodyPr wrap="square" lIns="0" tIns="0" rIns="0" bIns="0" rtlCol="0" anchor="ctr"/>
          <a:lstStyle/>
          <a:p>
            <a:pPr indent="0" marL="0">
              <a:buNone/>
            </a:pPr>
            <a:r>
              <a:rPr lang="en-US" sz="1800" b="1" dirty="0">
                <a:solidFill>
                  <a:srgbClr val="2E2A72"/>
                </a:solidFill>
                <a:latin typeface="Cambria" pitchFamily="34" charset="0"/>
                <a:ea typeface="Cambria" pitchFamily="34" charset="-122"/>
                <a:cs typeface="Cambria" pitchFamily="34" charset="-120"/>
              </a:rPr>
              <a:t>What is genuinely new</a:t>
            </a:r>
            <a:endParaRPr lang="en-US" sz="1800" dirty="0"/>
          </a:p>
        </p:txBody>
      </p:sp>
      <p:sp>
        <p:nvSpPr>
          <p:cNvPr id="6" name="Text 4"/>
          <p:cNvSpPr/>
          <p:nvPr/>
        </p:nvSpPr>
        <p:spPr>
          <a:xfrm>
            <a:off x="914400" y="2377440"/>
            <a:ext cx="4937760" cy="33832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250" dirty="0">
                <a:solidFill>
                  <a:srgbClr val="1F2340"/>
                </a:solidFill>
                <a:latin typeface="Calibri" pitchFamily="34" charset="0"/>
                <a:ea typeface="Calibri" pitchFamily="34" charset="-122"/>
                <a:cs typeface="Calibri" pitchFamily="34" charset="-120"/>
              </a:rPr>
              <a:t>1. Unified dual-view abstraction — native + class-conditioned behind one schema, for both CNN and ViT. Apples-to-apples by construction.</a:t>
            </a:r>
            <a:endParaRPr lang="en-US" sz="1250" dirty="0"/>
          </a:p>
          <a:p>
            <a:pPr marL="342900" indent="-342900">
              <a:lnSpc>
                <a:spcPts val="1400"/>
              </a:lnSpc>
              <a:spcAft>
                <a:spcPts val="600"/>
              </a:spcAft>
              <a:buSzPct val="100000"/>
              <a:buChar char="•"/>
            </a:pPr>
            <a:r>
              <a:rPr lang="en-US" sz="1250" dirty="0">
                <a:solidFill>
                  <a:srgbClr val="1F2340"/>
                </a:solidFill>
                <a:latin typeface="Calibri" pitchFamily="34" charset="0"/>
                <a:ea typeface="Calibri" pitchFamily="34" charset="-122"/>
                <a:cs typeface="Calibri" pitchFamily="34" charset="-120"/>
              </a:rPr>
              <a:t>2. Automated screening verdicts — class-level bias flags, layer-role profiles, evidence-backed reports. No other tool ships this.</a:t>
            </a:r>
            <a:endParaRPr lang="en-US" sz="1250" dirty="0"/>
          </a:p>
          <a:p>
            <a:pPr marL="342900" indent="-342900">
              <a:lnSpc>
                <a:spcPts val="1400"/>
              </a:lnSpc>
              <a:spcAft>
                <a:spcPts val="600"/>
              </a:spcAft>
              <a:buSzPct val="100000"/>
              <a:buChar char="•"/>
            </a:pPr>
            <a:r>
              <a:rPr lang="en-US" sz="1250" dirty="0">
                <a:solidFill>
                  <a:srgbClr val="1F2340"/>
                </a:solidFill>
                <a:latin typeface="Calibri" pitchFamily="34" charset="0"/>
                <a:ea typeface="Calibri" pitchFamily="34" charset="-122"/>
                <a:cs typeface="Calibri" pitchFamily="34" charset="-120"/>
              </a:rPr>
              <a:t>3. Causal debugging loop — intervene → measure → verdict. Heatmaps are correlative; interventions are causal.</a:t>
            </a:r>
            <a:endParaRPr lang="en-US" sz="1250" dirty="0"/>
          </a:p>
          <a:p>
            <a:pPr marL="342900" indent="-342900">
              <a:lnSpc>
                <a:spcPts val="1400"/>
              </a:lnSpc>
              <a:buSzPct val="100000"/>
              <a:buChar char="•"/>
            </a:pPr>
            <a:r>
              <a:rPr lang="en-US" sz="1250" dirty="0">
                <a:solidFill>
                  <a:srgbClr val="1F2340"/>
                </a:solidFill>
                <a:latin typeface="Calibri" pitchFamily="34" charset="0"/>
                <a:ea typeface="Calibri" pitchFamily="34" charset="-122"/>
                <a:cs typeface="Calibri" pitchFamily="34" charset="-120"/>
              </a:rPr>
              <a:t>Combination (1+2) is the novelty anchor — neither alone is rare; together they are.</a:t>
            </a:r>
            <a:endParaRPr lang="en-US" sz="1250" dirty="0"/>
          </a:p>
        </p:txBody>
      </p:sp>
      <p:sp>
        <p:nvSpPr>
          <p:cNvPr id="7" name="Shape 5"/>
          <p:cNvSpPr/>
          <p:nvPr/>
        </p:nvSpPr>
        <p:spPr>
          <a:xfrm>
            <a:off x="6217920" y="1691640"/>
            <a:ext cx="5440680" cy="4206240"/>
          </a:xfrm>
          <a:prstGeom prst="roundRect">
            <a:avLst>
              <a:gd name="adj" fmla="val 2609"/>
            </a:avLst>
          </a:prstGeom>
          <a:solidFill>
            <a:srgbClr val="FFFFFF"/>
          </a:solidFill>
          <a:ln w="12700">
            <a:solidFill>
              <a:srgbClr val="E3E4F0"/>
            </a:solidFill>
            <a:prstDash val="solid"/>
          </a:ln>
        </p:spPr>
      </p:sp>
      <p:sp>
        <p:nvSpPr>
          <p:cNvPr id="8" name="Text 6"/>
          <p:cNvSpPr/>
          <p:nvPr/>
        </p:nvSpPr>
        <p:spPr>
          <a:xfrm>
            <a:off x="6492240" y="1828800"/>
            <a:ext cx="4846320" cy="457200"/>
          </a:xfrm>
          <a:prstGeom prst="rect">
            <a:avLst/>
          </a:prstGeom>
          <a:noFill/>
          <a:ln/>
        </p:spPr>
        <p:txBody>
          <a:bodyPr wrap="square" lIns="0" tIns="0" rIns="0" bIns="0" rtlCol="0" anchor="ctr"/>
          <a:lstStyle/>
          <a:p>
            <a:pPr indent="0" marL="0">
              <a:buNone/>
            </a:pPr>
            <a:r>
              <a:rPr lang="en-US" sz="1800" b="1" dirty="0">
                <a:solidFill>
                  <a:srgbClr val="2E2A72"/>
                </a:solidFill>
                <a:latin typeface="Cambria" pitchFamily="34" charset="0"/>
                <a:ea typeface="Cambria" pitchFamily="34" charset="-122"/>
                <a:cs typeface="Cambria" pitchFamily="34" charset="-120"/>
              </a:rPr>
              <a:t>What's not new (and that's fine)</a:t>
            </a:r>
            <a:endParaRPr lang="en-US" sz="1800" dirty="0"/>
          </a:p>
        </p:txBody>
      </p:sp>
      <p:sp>
        <p:nvSpPr>
          <p:cNvPr id="9" name="Text 7"/>
          <p:cNvSpPr/>
          <p:nvPr/>
        </p:nvSpPr>
        <p:spPr>
          <a:xfrm>
            <a:off x="6492240" y="2377440"/>
            <a:ext cx="4937760" cy="33832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250" dirty="0">
                <a:solidFill>
                  <a:srgbClr val="1F2340"/>
                </a:solidFill>
                <a:latin typeface="Calibri" pitchFamily="34" charset="0"/>
                <a:ea typeface="Calibri" pitchFamily="34" charset="-122"/>
                <a:cs typeface="Calibri" pitchFamily="34" charset="-120"/>
              </a:rPr>
              <a:t>Tool, not method — we don't invent a new attribution algorithm. The XAI method space is saturated (Grad-CAM + 50 variants, attention rollout, LRP…).</a:t>
            </a:r>
            <a:endParaRPr lang="en-US" sz="1250" dirty="0"/>
          </a:p>
          <a:p>
            <a:pPr marL="342900" indent="-342900">
              <a:lnSpc>
                <a:spcPts val="1400"/>
              </a:lnSpc>
              <a:spcAft>
                <a:spcPts val="600"/>
              </a:spcAft>
              <a:buSzPct val="100000"/>
              <a:buChar char="•"/>
            </a:pPr>
            <a:r>
              <a:rPr lang="en-US" sz="1250" dirty="0">
                <a:solidFill>
                  <a:srgbClr val="1F2340"/>
                </a:solidFill>
                <a:latin typeface="Calibri" pitchFamily="34" charset="0"/>
                <a:ea typeface="Calibri" pitchFamily="34" charset="-122"/>
                <a:cs typeface="Calibri" pitchFamily="34" charset="-120"/>
              </a:rPr>
              <a:t>Engineering novelty (a genuinely useful tool) beats another Grad-CAM variant — this is how SHAP and Captum earned their place.</a:t>
            </a:r>
            <a:endParaRPr lang="en-US" sz="1250" dirty="0"/>
          </a:p>
          <a:p>
            <a:pPr marL="342900" indent="-342900">
              <a:lnSpc>
                <a:spcPts val="1400"/>
              </a:lnSpc>
              <a:spcAft>
                <a:spcPts val="600"/>
              </a:spcAft>
              <a:buSzPct val="100000"/>
              <a:buChar char="•"/>
            </a:pPr>
            <a:r>
              <a:rPr lang="en-US" sz="1250" dirty="0">
                <a:solidFill>
                  <a:srgbClr val="1F2340"/>
                </a:solidFill>
                <a:latin typeface="Calibri" pitchFamily="34" charset="0"/>
                <a:ea typeface="Calibri" pitchFamily="34" charset="-122"/>
                <a:cs typeface="Calibri" pitchFamily="34" charset="-120"/>
              </a:rPr>
              <a:t>Honest failure: Grad-CAM can yield all-zero maps (observed at layer2.3 on the Samoyed). Reported, not faked — DECISIONS §9.</a:t>
            </a:r>
            <a:endParaRPr lang="en-US" sz="1250" dirty="0"/>
          </a:p>
          <a:p>
            <a:pPr marL="342900" indent="-342900">
              <a:lnSpc>
                <a:spcPts val="1400"/>
              </a:lnSpc>
              <a:buSzPct val="100000"/>
              <a:buChar char="•"/>
            </a:pPr>
            <a:r>
              <a:rPr lang="en-US" sz="1250" dirty="0">
                <a:solidFill>
                  <a:srgbClr val="1F2340"/>
                </a:solidFill>
                <a:latin typeface="Calibri" pitchFamily="34" charset="0"/>
                <a:ea typeface="Calibri" pitchFamily="34" charset="-122"/>
                <a:cs typeface="Calibri" pitchFamily="34" charset="-120"/>
              </a:rPr>
              <a:t>GPU/scale runs are code-ready (device-agnostic) but not yet exercised at scale. M2+ moves to rented GPU / Jenga.</a:t>
            </a:r>
            <a:endParaRPr lang="en-US" sz="1250" dirty="0"/>
          </a:p>
        </p:txBody>
      </p:sp>
      <p:sp>
        <p:nvSpPr>
          <p:cNvPr id="10" name="Shape 8"/>
          <p:cNvSpPr/>
          <p:nvPr/>
        </p:nvSpPr>
        <p:spPr>
          <a:xfrm>
            <a:off x="640080" y="5989320"/>
            <a:ext cx="10972800" cy="548640"/>
          </a:xfrm>
          <a:prstGeom prst="roundRect">
            <a:avLst>
              <a:gd name="adj" fmla="val 16667"/>
            </a:avLst>
          </a:prstGeom>
          <a:solidFill>
            <a:srgbClr val="FFF6E6"/>
          </a:solidFill>
          <a:ln w="12700">
            <a:solidFill>
              <a:srgbClr val="E5C07B"/>
            </a:solidFill>
            <a:prstDash val="solid"/>
          </a:ln>
        </p:spPr>
      </p:sp>
      <p:sp>
        <p:nvSpPr>
          <p:cNvPr id="11" name="Text 9"/>
          <p:cNvSpPr/>
          <p:nvPr/>
        </p:nvSpPr>
        <p:spPr>
          <a:xfrm>
            <a:off x="822960" y="6035040"/>
            <a:ext cx="10607040" cy="457200"/>
          </a:xfrm>
          <a:prstGeom prst="rect">
            <a:avLst/>
          </a:prstGeom>
          <a:noFill/>
          <a:ln/>
        </p:spPr>
        <p:txBody>
          <a:bodyPr wrap="square" lIns="0" tIns="0" rIns="0" bIns="0" rtlCol="0" anchor="ctr"/>
          <a:lstStyle/>
          <a:p>
            <a:pPr indent="0" marL="0">
              <a:buNone/>
            </a:pPr>
            <a:r>
              <a:rPr lang="en-US" sz="1250" dirty="0">
                <a:solidFill>
                  <a:srgbClr val="6B4A12"/>
                </a:solidFill>
                <a:latin typeface="Calibri" pitchFamily="34" charset="0"/>
                <a:ea typeface="Calibri" pitchFamily="34" charset="-122"/>
                <a:cs typeface="Calibri" pitchFamily="34" charset="-120"/>
              </a:rPr>
              <a:t>Honest open items (logged, not hidden):  zero-map degeneracy guard · ViT class-conditioning method pick (M2) · GPU-scale validation.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2B"/>
        </a:solidFill>
      </p:bgPr>
    </p:bg>
    <p:spTree>
      <p:nvGrpSpPr>
        <p:cNvPr id="1" name=""/>
        <p:cNvGrpSpPr/>
        <p:nvPr/>
      </p:nvGrpSpPr>
      <p:grpSpPr>
        <a:xfrm>
          <a:off x="0" y="0"/>
          <a:ext cx="0" cy="0"/>
          <a:chOff x="0" y="0"/>
          <a:chExt cx="0" cy="0"/>
        </a:xfrm>
      </p:grpSpPr>
      <p:sp>
        <p:nvSpPr>
          <p:cNvPr id="2" name="Shape 0"/>
          <p:cNvSpPr/>
          <p:nvPr/>
        </p:nvSpPr>
        <p:spPr>
          <a:xfrm>
            <a:off x="9692640" y="4206240"/>
            <a:ext cx="2011680" cy="2011680"/>
          </a:xfrm>
          <a:prstGeom prst="ellipse">
            <a:avLst/>
          </a:prstGeom>
          <a:solidFill>
            <a:srgbClr val="2E2A72"/>
          </a:solidFill>
          <a:ln w="38100">
            <a:solidFill>
              <a:srgbClr val="7CE0E3"/>
            </a:solidFill>
            <a:prstDash val="solid"/>
          </a:ln>
        </p:spPr>
      </p:sp>
      <p:sp>
        <p:nvSpPr>
          <p:cNvPr id="3" name="Shape 1"/>
          <p:cNvSpPr/>
          <p:nvPr/>
        </p:nvSpPr>
        <p:spPr>
          <a:xfrm>
            <a:off x="10561320" y="4937760"/>
            <a:ext cx="457200" cy="457200"/>
          </a:xfrm>
          <a:prstGeom prst="ellipse">
            <a:avLst/>
          </a:prstGeom>
          <a:solidFill>
            <a:srgbClr val="00C9A7"/>
          </a:solidFill>
          <a:ln/>
        </p:spPr>
      </p:sp>
      <p:sp>
        <p:nvSpPr>
          <p:cNvPr id="4" name="Text 2"/>
          <p:cNvSpPr/>
          <p:nvPr/>
        </p:nvSpPr>
        <p:spPr>
          <a:xfrm>
            <a:off x="822960" y="219456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841248" y="3200400"/>
            <a:ext cx="10515600" cy="548640"/>
          </a:xfrm>
          <a:prstGeom prst="rect">
            <a:avLst/>
          </a:prstGeom>
          <a:noFill/>
          <a:ln/>
        </p:spPr>
        <p:txBody>
          <a:bodyPr wrap="square" lIns="0" tIns="0" rIns="0" bIns="0" rtlCol="0" anchor="ctr"/>
          <a:lstStyle/>
          <a:p>
            <a:pPr indent="0" marL="0">
              <a:buNone/>
            </a:pPr>
            <a:r>
              <a:rPr lang="en-US" sz="2000" dirty="0">
                <a:solidFill>
                  <a:srgbClr val="7CE0E3"/>
                </a:solidFill>
                <a:latin typeface="Calibri" pitchFamily="34" charset="0"/>
                <a:ea typeface="Calibri" pitchFamily="34" charset="-122"/>
                <a:cs typeface="Calibri" pitchFamily="34" charset="-120"/>
              </a:rPr>
              <a:t>Questions &amp; discussion</a:t>
            </a:r>
            <a:endParaRPr lang="en-US" sz="2000" dirty="0"/>
          </a:p>
        </p:txBody>
      </p:sp>
      <p:sp>
        <p:nvSpPr>
          <p:cNvPr id="6" name="Text 4"/>
          <p:cNvSpPr/>
          <p:nvPr/>
        </p:nvSpPr>
        <p:spPr>
          <a:xfrm>
            <a:off x="841248" y="3931920"/>
            <a:ext cx="10515600" cy="457200"/>
          </a:xfrm>
          <a:prstGeom prst="rect">
            <a:avLst/>
          </a:prstGeom>
          <a:noFill/>
          <a:ln/>
        </p:spPr>
        <p:txBody>
          <a:bodyPr wrap="square" lIns="0" tIns="0" rIns="0" bIns="0" rtlCol="0" anchor="ctr"/>
          <a:lstStyle/>
          <a:p>
            <a:pPr indent="0" marL="0">
              <a:buNone/>
            </a:pPr>
            <a:r>
              <a:rPr lang="en-US" sz="1400" dirty="0">
                <a:solidFill>
                  <a:srgbClr val="B9BCE0"/>
                </a:solidFill>
                <a:latin typeface="Calibri" pitchFamily="34" charset="0"/>
                <a:ea typeface="Calibri" pitchFamily="34" charset="-122"/>
                <a:cs typeface="Calibri" pitchFamily="34" charset="-120"/>
              </a:rPr>
              <a:t>Next gate — M2: ViT extractor.  Same schema, dual-view, faithfulness check.</a:t>
            </a:r>
            <a:endParaRPr lang="en-US" sz="1400" dirty="0"/>
          </a:p>
        </p:txBody>
      </p:sp>
      <p:sp>
        <p:nvSpPr>
          <p:cNvPr id="7" name="Text 5"/>
          <p:cNvSpPr/>
          <p:nvPr/>
        </p:nvSpPr>
        <p:spPr>
          <a:xfrm>
            <a:off x="841248" y="6035040"/>
            <a:ext cx="10515600" cy="365760"/>
          </a:xfrm>
          <a:prstGeom prst="rect">
            <a:avLst/>
          </a:prstGeom>
          <a:noFill/>
          <a:ln/>
        </p:spPr>
        <p:txBody>
          <a:bodyPr wrap="square" lIns="0" tIns="0" rIns="0" bIns="0" rtlCol="0" anchor="ctr"/>
          <a:lstStyle/>
          <a:p>
            <a:pPr indent="0" marL="0">
              <a:buNone/>
            </a:pPr>
            <a:r>
              <a:rPr lang="en-US" sz="1300" dirty="0">
                <a:solidFill>
                  <a:srgbClr val="B9BCE0"/>
                </a:solidFill>
                <a:latin typeface="Calibri" pitchFamily="34" charset="0"/>
                <a:ea typeface="Calibri" pitchFamily="34" charset="-122"/>
                <a:cs typeface="Calibri" pitchFamily="34" charset="-120"/>
              </a:rPr>
              <a:t>AttentionLens — The Whole Pipeline  ·  Review 1  ·  Jaswanth Krishna Padarthi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AttentionLens — The Whole Pipeline</dc:title>
  <dc:subject>Review 1 — M1 delivered, M2–M8 roadmap</dc:subject>
  <dc:creator>Jaswanth Krishna Padarthi</dc:creator>
  <cp:lastModifiedBy>Jaswanth Krishna Padarthi</cp:lastModifiedBy>
  <cp:revision>1</cp:revision>
  <dcterms:created xsi:type="dcterms:W3CDTF">2026-08-21T04:07:21Z</dcterms:created>
  <dcterms:modified xsi:type="dcterms:W3CDTF">2026-08-21T04:07:21Z</dcterms:modified>
</cp:coreProperties>
</file>